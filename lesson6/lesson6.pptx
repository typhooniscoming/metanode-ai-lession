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40680"/>
            <a:ext cx="12191695" cy="54864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50408"/>
            <a:ext cx="12191695" cy="22860"/>
          </a:xfrm>
          <a:prstGeom prst="rect">
            <a:avLst/>
          </a:prstGeom>
          <a:solidFill>
            <a:srgbClr val="DC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86868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DCCFB8"/>
                </a:solidFill>
                <a:latin typeface="Calibri"/>
                <a:ea typeface="Microsoft YaHei"/>
              </a:rPr>
              <a:t>LESSON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1060704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6400" b="1" i="0">
                <a:solidFill>
                  <a:srgbClr val="FCF8F3"/>
                </a:solidFill>
                <a:latin typeface="Calibri"/>
                <a:ea typeface="Microsoft YaHei"/>
              </a:rPr>
              <a:t>Harness 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106070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600" b="1" i="0">
                <a:solidFill>
                  <a:srgbClr val="FCF8F3"/>
                </a:solidFill>
                <a:latin typeface="Calibri"/>
                <a:ea typeface="Microsoft YaHei"/>
              </a:rPr>
              <a:t>Superpowers 风格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474720"/>
            <a:ext cx="106070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C9963F"/>
                </a:solidFill>
                <a:latin typeface="Calibri"/>
                <a:ea typeface="Microsoft YaHei"/>
              </a:rPr>
              <a:t>Plan 是 AI 的外脑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160520"/>
            <a:ext cx="106070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DCCFB8"/>
                </a:solidFill>
                <a:latin typeface="Calibri"/>
                <a:ea typeface="Microsoft YaHei"/>
              </a:rPr>
              <a:t>把任务进度从上下文搬到文件里，让 /clear 也能续航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754880"/>
            <a:ext cx="1188720" cy="384048"/>
          </a:xfrm>
          <a:prstGeom prst="roundRect">
            <a:avLst>
              <a:gd name="adj" fmla="val 4000"/>
            </a:avLst>
          </a:prstGeom>
          <a:solidFill>
            <a:srgbClr val="4A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796028"/>
            <a:ext cx="11887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FCF8F3"/>
                </a:solidFill>
                <a:latin typeface="Calibri"/>
                <a:ea typeface="Microsoft YaHei"/>
              </a:rPr>
              <a:t>25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52160"/>
            <a:ext cx="106070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DCCFB8"/>
                </a:solidFill>
                <a:latin typeface="Calibri"/>
                <a:ea typeface="Microsoft YaHei"/>
              </a:rPr>
              <a:t>AI 驱动的软件开发提效实战课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6263640"/>
            <a:ext cx="2697480" cy="365760"/>
          </a:xfrm>
          <a:prstGeom prst="roundRect">
            <a:avLst>
              <a:gd name="adj" fmla="val 4000"/>
            </a:avLst>
          </a:prstGeom>
          <a:solidFill>
            <a:srgbClr val="4A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304788"/>
            <a:ext cx="269748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 i="0">
                <a:solidFill>
                  <a:srgbClr val="FCF8F3"/>
                </a:solidFill>
                <a:latin typeface="Consolas"/>
                <a:ea typeface="Consolas"/>
              </a:rPr>
              <a:t>writing-plans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0168" y="6263640"/>
            <a:ext cx="2697480" cy="365760"/>
          </a:xfrm>
          <a:prstGeom prst="roundRect">
            <a:avLst>
              <a:gd name="adj" fmla="val 4000"/>
            </a:avLst>
          </a:prstGeom>
          <a:solidFill>
            <a:srgbClr val="4A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6304788"/>
            <a:ext cx="269748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 i="0">
                <a:solidFill>
                  <a:srgbClr val="FCF8F3"/>
                </a:solidFill>
                <a:latin typeface="Consolas"/>
                <a:ea typeface="Consolas"/>
              </a:rPr>
              <a:t>executing-plans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0528" y="6263640"/>
            <a:ext cx="2697480" cy="365760"/>
          </a:xfrm>
          <a:prstGeom prst="roundRect">
            <a:avLst>
              <a:gd name="adj" fmla="val 4000"/>
            </a:avLst>
          </a:prstGeom>
          <a:solidFill>
            <a:srgbClr val="4A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6304788"/>
            <a:ext cx="269748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 i="0">
                <a:solidFill>
                  <a:srgbClr val="FCF8F3"/>
                </a:solidFill>
                <a:latin typeface="Consolas"/>
                <a:ea typeface="Consolas"/>
              </a:rPr>
              <a:t>HANDOFF.md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A26769"/>
                </a:solidFill>
                <a:latin typeface="Calibri"/>
                <a:ea typeface="Microsoft YaHei"/>
              </a:rPr>
              <a:t>AGENDA · 议程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4A1F30"/>
                </a:solidFill>
                <a:latin typeface="Calibri"/>
                <a:ea typeface="Microsoft YaHei"/>
              </a:rPr>
              <a:t>本节四个主题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457200" cy="4114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109728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200" b="1" i="0">
                <a:solidFill>
                  <a:srgbClr val="6D2E46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83080" y="1947672"/>
            <a:ext cx="22860" cy="56692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828800"/>
            <a:ext cx="96012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A2226"/>
                </a:solidFill>
                <a:latin typeface="Calibri"/>
                <a:ea typeface="Microsoft YaHei"/>
              </a:rPr>
              <a:t>Harness 是什么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313432"/>
            <a:ext cx="9601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6A555A"/>
                </a:solidFill>
                <a:latin typeface="Calibri"/>
                <a:ea typeface="Microsoft YaHei"/>
              </a:rPr>
              <a:t>AI 为什么会“变笨”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109728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200" b="1" i="0">
                <a:solidFill>
                  <a:srgbClr val="6D2E46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2907792"/>
            <a:ext cx="22860" cy="56692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2788920"/>
            <a:ext cx="96012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A2226"/>
                </a:solidFill>
                <a:latin typeface="Calibri"/>
                <a:ea typeface="Microsoft YaHei"/>
              </a:rPr>
              <a:t>四要素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273552"/>
            <a:ext cx="9601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6A555A"/>
                </a:solidFill>
                <a:latin typeface="Calibri"/>
                <a:ea typeface="Microsoft YaHei"/>
              </a:rPr>
              <a:t>init / execute / checkpoint / handoff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03320"/>
            <a:ext cx="109728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200" b="1" i="0">
                <a:solidFill>
                  <a:srgbClr val="6D2E46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83080" y="3867911"/>
            <a:ext cx="22860" cy="56692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3749039"/>
            <a:ext cx="96012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A2226"/>
                </a:solidFill>
                <a:latin typeface="Calibri"/>
                <a:ea typeface="Microsoft YaHei"/>
              </a:rPr>
              <a:t>14 个 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233672"/>
            <a:ext cx="9601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6A555A"/>
                </a:solidFill>
                <a:latin typeface="Calibri"/>
                <a:ea typeface="Microsoft YaHei"/>
              </a:rPr>
              <a:t>Superpowers 全景速览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663440"/>
            <a:ext cx="109728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200" b="1" i="0">
                <a:solidFill>
                  <a:srgbClr val="6D2E46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4828032"/>
            <a:ext cx="22860" cy="56692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4709160"/>
            <a:ext cx="96012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2A2226"/>
                </a:solidFill>
                <a:latin typeface="Calibri"/>
                <a:ea typeface="Microsoft YaHei"/>
              </a:rPr>
              <a:t>演示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193792"/>
            <a:ext cx="9601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6A555A"/>
                </a:solidFill>
                <a:latin typeface="Calibri"/>
                <a:ea typeface="Microsoft YaHei"/>
              </a:rPr>
              <a:t>multi-period-backtest · 跨 /clear 续航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6355080"/>
            <a:ext cx="11484864" cy="10972"/>
          </a:xfrm>
          <a:prstGeom prst="rect">
            <a:avLst/>
          </a:prstGeom>
          <a:solidFill>
            <a:srgbClr val="DC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Lesson 06  ·  Harness 设计 — Superpowers 风格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46520"/>
            <a:ext cx="63367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502920"/>
            <a:ext cx="502920" cy="54864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26769"/>
                </a:solidFill>
                <a:latin typeface="Calibri"/>
                <a:ea typeface="Microsoft YaHei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607040" cy="3108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0" b="1" i="0">
                <a:solidFill>
                  <a:srgbClr val="6D2E46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4160520"/>
            <a:ext cx="1097280" cy="4114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343400"/>
            <a:ext cx="106070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400" b="1" i="0">
                <a:solidFill>
                  <a:srgbClr val="FCF8F3"/>
                </a:solidFill>
                <a:latin typeface="Calibri"/>
                <a:ea typeface="Microsoft YaHei"/>
              </a:rPr>
              <a:t>Harness 是什么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257800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 i="0">
                <a:solidFill>
                  <a:srgbClr val="DCCFB8"/>
                </a:solidFill>
                <a:latin typeface="Calibri"/>
                <a:ea typeface="Microsoft YaHei"/>
              </a:rPr>
              <a:t>AI 为什么会“变笨”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DCCFB8"/>
                </a:solidFill>
                <a:latin typeface="Calibri"/>
                <a:ea typeface="Microsoft YaHei"/>
              </a:rPr>
              <a:t>Lesson 06  ·  Harness 设计 — Superpowers 风格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46520"/>
            <a:ext cx="63367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DCCFB8"/>
                </a:solidFill>
                <a:latin typeface="Calibri"/>
                <a:ea typeface="Microsoft YaHe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A26769"/>
                </a:solidFill>
                <a:latin typeface="Calibri"/>
                <a:ea typeface="Microsoft YaHei"/>
              </a:rPr>
              <a:t>§ 一 · Harness 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4A1F30"/>
                </a:solidFill>
                <a:latin typeface="Calibri"/>
                <a:ea typeface="Microsoft YaHei"/>
              </a:rPr>
              <a:t>vibe 会话 vs harness 会话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457200" cy="4114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11109960" cy="502920"/>
          </a:xfrm>
          <a:prstGeom prst="rect">
            <a:avLst/>
          </a:prstGeom>
          <a:solidFill>
            <a:srgbClr val="4A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993391"/>
            <a:ext cx="3520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CF8F3"/>
                </a:solidFill>
                <a:latin typeface="Calibri"/>
                <a:ea typeface="Microsoft YaHei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59" y="1993391"/>
            <a:ext cx="3383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CF8F3"/>
                </a:solidFill>
                <a:latin typeface="Calibri"/>
                <a:ea typeface="Microsoft YaHei"/>
              </a:rPr>
              <a:t>vibe 会话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993391"/>
            <a:ext cx="4160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CF8F3"/>
                </a:solidFill>
                <a:latin typeface="Calibri"/>
                <a:ea typeface="Microsoft YaHei"/>
              </a:rPr>
              <a:t>harness 会话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77439"/>
            <a:ext cx="11109960" cy="804672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578608"/>
            <a:ext cx="3520440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2A2226"/>
                </a:solidFill>
                <a:latin typeface="Calibri"/>
                <a:ea typeface="Microsoft YaHei"/>
              </a:rPr>
              <a:t>进度记在哪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2578608"/>
            <a:ext cx="3383280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6A555A"/>
                </a:solidFill>
                <a:latin typeface="Calibri"/>
                <a:ea typeface="Microsoft YaHei"/>
              </a:rPr>
              <a:t>AI 的上下文里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578608"/>
            <a:ext cx="4160520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6D2E46"/>
                </a:solidFill>
                <a:latin typeface="Calibri"/>
                <a:ea typeface="Microsoft YaHei"/>
              </a:rPr>
              <a:t>plan 文件里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82111"/>
            <a:ext cx="11109960" cy="804672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383279"/>
            <a:ext cx="3520440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2A2226"/>
                </a:solidFill>
                <a:latin typeface="Calibri"/>
                <a:ea typeface="Microsoft YaHei"/>
              </a:rPr>
              <a:t>/clear 后会发生什么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3383279"/>
            <a:ext cx="3383280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6A555A"/>
                </a:solidFill>
                <a:latin typeface="Calibri"/>
                <a:ea typeface="Microsoft YaHei"/>
              </a:rPr>
              <a:t>一切重来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383279"/>
            <a:ext cx="4160520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6D2E46"/>
                </a:solidFill>
                <a:latin typeface="Calibri"/>
                <a:ea typeface="Microsoft YaHei"/>
              </a:rPr>
              <a:t>读 plan 接着干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986783"/>
            <a:ext cx="11109960" cy="804672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4187951"/>
            <a:ext cx="3520440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2A2226"/>
                </a:solidFill>
                <a:latin typeface="Calibri"/>
                <a:ea typeface="Microsoft YaHei"/>
              </a:rPr>
              <a:t>任务上限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4187951"/>
            <a:ext cx="3383280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6A555A"/>
                </a:solidFill>
                <a:latin typeface="Calibri"/>
                <a:ea typeface="Microsoft YaHei"/>
              </a:rPr>
              <a:t>一个上下文窗口（≈ 200k tokens）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187951"/>
            <a:ext cx="4160520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6D2E46"/>
                </a:solidFill>
                <a:latin typeface="Calibri"/>
                <a:ea typeface="Microsoft YaHei"/>
              </a:rPr>
              <a:t>无上限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791456"/>
            <a:ext cx="11109960" cy="804672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4992624"/>
            <a:ext cx="3520440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2A2226"/>
                </a:solidFill>
                <a:latin typeface="Calibri"/>
                <a:ea typeface="Microsoft YaHei"/>
              </a:rPr>
              <a:t>跨会话 / 跨人协作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4992624"/>
            <a:ext cx="3383280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6A555A"/>
                </a:solidFill>
                <a:latin typeface="Calibri"/>
                <a:ea typeface="Microsoft YaHei"/>
              </a:rPr>
              <a:t>不行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992624"/>
            <a:ext cx="4160520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6D2E46"/>
                </a:solidFill>
                <a:latin typeface="Calibri"/>
                <a:ea typeface="Microsoft YaHei"/>
              </a:rPr>
              <a:t>把 plan 路径给下一个人就行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870447"/>
            <a:ext cx="11201400" cy="731520"/>
          </a:xfrm>
          <a:prstGeom prst="roundRect">
            <a:avLst>
              <a:gd name="adj" fmla="val 10000"/>
            </a:avLst>
          </a:prstGeom>
          <a:solidFill>
            <a:srgbClr val="4A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035039"/>
            <a:ext cx="11201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 i="0">
                <a:solidFill>
                  <a:srgbClr val="FCF8F3"/>
                </a:solidFill>
                <a:latin typeface="Calibri"/>
                <a:ea typeface="Microsoft YaHei"/>
              </a:rPr>
              <a:t>harness 把任务从 AI 的“记忆”里拿出来，放进可审计、可移交、可断点续跑的文件。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6355080"/>
            <a:ext cx="11484864" cy="10972"/>
          </a:xfrm>
          <a:prstGeom prst="rect">
            <a:avLst/>
          </a:prstGeom>
          <a:solidFill>
            <a:srgbClr val="DC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Lesson 06  ·  Harness 设计 — Superpowers 风格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46520"/>
            <a:ext cx="63367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A26769"/>
                </a:solidFill>
                <a:latin typeface="Calibri"/>
                <a:ea typeface="Microsoft YaHei"/>
              </a:rPr>
              <a:t>§ 一 · Harness 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4A1F30"/>
                </a:solidFill>
                <a:latin typeface="Calibri"/>
                <a:ea typeface="Microsoft YaHei"/>
              </a:rPr>
              <a:t>一句话核心认知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457200" cy="4114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11201400" cy="2148840"/>
          </a:xfrm>
          <a:prstGeom prst="roundRect">
            <a:avLst>
              <a:gd name="adj" fmla="val 6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11201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4000" b="1" i="0">
                <a:solidFill>
                  <a:srgbClr val="FCF8F3"/>
                </a:solidFill>
                <a:latin typeface="Calibri"/>
                <a:ea typeface="Microsoft YaHei"/>
              </a:rPr>
              <a:t>把 state 从上下文里搬到文件里。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112014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 i="1">
                <a:solidFill>
                  <a:srgbClr val="DCCFB8"/>
                </a:solidFill>
                <a:latin typeface="Calibri"/>
                <a:ea typeface="Microsoft YaHei"/>
              </a:rPr>
              <a:t>Move state out of the model’s memory, into markdown.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60520"/>
            <a:ext cx="3611879" cy="169164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4160520"/>
            <a:ext cx="3611879" cy="91440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315467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4A1F30"/>
                </a:solidFill>
                <a:latin typeface="Calibri"/>
                <a:ea typeface="Microsoft YaHei"/>
              </a:rPr>
              <a:t>上下文 = 短期记忆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73752"/>
            <a:ext cx="3154679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A555A"/>
                </a:solidFill>
                <a:latin typeface="Calibri"/>
                <a:ea typeface="Microsoft YaHei"/>
              </a:rPr>
              <a:t>AI 的所有 state 活在窗口里——满了或 /clear 就丢。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4160520"/>
            <a:ext cx="3611879" cy="169164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4160520"/>
            <a:ext cx="3611879" cy="91440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4389120"/>
            <a:ext cx="315467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4A1F30"/>
                </a:solidFill>
                <a:latin typeface="Calibri"/>
                <a:ea typeface="Microsoft YaHei"/>
              </a:rPr>
              <a:t>Plan 文件 = 长期记忆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4873752"/>
            <a:ext cx="3154679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A555A"/>
                </a:solidFill>
                <a:latin typeface="Calibri"/>
                <a:ea typeface="Microsoft YaHei"/>
              </a:rPr>
              <a:t>磁盘上的 markdown，永远不丢；任何会话都能读它。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4160520"/>
            <a:ext cx="3611879" cy="169164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4160520"/>
            <a:ext cx="3611879" cy="91440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389120"/>
            <a:ext cx="315467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4A1F30"/>
                </a:solidFill>
                <a:latin typeface="Calibri"/>
                <a:ea typeface="Microsoft YaHei"/>
              </a:rPr>
              <a:t>会话变工作台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873752"/>
            <a:ext cx="3154679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A555A"/>
                </a:solidFill>
                <a:latin typeface="Calibri"/>
                <a:ea typeface="Microsoft YaHei"/>
              </a:rPr>
              <a:t>可以随便清——只要进度都先写到 plan 里。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6355080"/>
            <a:ext cx="11484864" cy="10972"/>
          </a:xfrm>
          <a:prstGeom prst="rect">
            <a:avLst/>
          </a:prstGeom>
          <a:solidFill>
            <a:srgbClr val="DC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Lesson 06  ·  Harness 设计 — Superpowers 风格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6446520"/>
            <a:ext cx="63367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502920"/>
            <a:ext cx="502920" cy="54864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26769"/>
                </a:solidFill>
                <a:latin typeface="Calibri"/>
                <a:ea typeface="Microsoft YaHei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607040" cy="3108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0" b="1" i="0">
                <a:solidFill>
                  <a:srgbClr val="6D2E46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4160520"/>
            <a:ext cx="1097280" cy="4114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343400"/>
            <a:ext cx="106070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400" b="1" i="0">
                <a:solidFill>
                  <a:srgbClr val="FCF8F3"/>
                </a:solidFill>
                <a:latin typeface="Calibri"/>
                <a:ea typeface="Microsoft YaHei"/>
              </a:rPr>
              <a:t>Harness 的四要素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257800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 i="0">
                <a:solidFill>
                  <a:srgbClr val="DCCFB8"/>
                </a:solidFill>
                <a:latin typeface="Calibri"/>
                <a:ea typeface="Microsoft YaHei"/>
              </a:rPr>
              <a:t>init / execute / checkpoint / handoff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DCCFB8"/>
                </a:solidFill>
                <a:latin typeface="Calibri"/>
                <a:ea typeface="Microsoft YaHei"/>
              </a:rPr>
              <a:t>Lesson 06  ·  Harness 设计 — Superpowers 风格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46520"/>
            <a:ext cx="63367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DCCFB8"/>
                </a:solidFill>
                <a:latin typeface="Calibri"/>
                <a:ea typeface="Microsoft YaHe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A26769"/>
                </a:solidFill>
                <a:latin typeface="Calibri"/>
                <a:ea typeface="Microsoft YaHei"/>
              </a:rPr>
              <a:t>§ 二 · Harness 的四要素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4A1F30"/>
                </a:solidFill>
                <a:latin typeface="Calibri"/>
                <a:ea typeface="Microsoft YaHei"/>
              </a:rPr>
              <a:t>init / execute / checkpoint / handoff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457200" cy="4114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10744200" cy="411480"/>
          </a:xfrm>
          <a:prstGeom prst="rect">
            <a:avLst/>
          </a:prstGeom>
          <a:solidFill>
            <a:srgbClr val="4A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10512"/>
            <a:ext cx="1691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CF8F3"/>
                </a:solidFill>
                <a:latin typeface="Calibri"/>
                <a:ea typeface="Microsoft YaHei"/>
              </a:rPr>
              <a:t>要素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810512"/>
            <a:ext cx="4389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CF8F3"/>
                </a:solidFill>
                <a:latin typeface="Calibri"/>
                <a:ea typeface="Microsoft YaHei"/>
              </a:rPr>
              <a:t>干什么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59" y="1810512"/>
            <a:ext cx="4617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CF8F3"/>
                </a:solidFill>
                <a:latin typeface="Calibri"/>
                <a:ea typeface="Microsoft YaHei"/>
              </a:rPr>
              <a:t>文件落点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10744200" cy="713232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13432"/>
            <a:ext cx="16916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6D2E46"/>
                </a:solidFill>
                <a:latin typeface="Consolas"/>
                <a:ea typeface="Consolas"/>
              </a:rPr>
              <a:t>init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331720"/>
            <a:ext cx="4297680" cy="7132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A2226"/>
                </a:solidFill>
                <a:latin typeface="Calibri"/>
                <a:ea typeface="Microsoft YaHei"/>
              </a:rPr>
              <a:t>把任务拆成可独立验证的 step，写成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2331720"/>
            <a:ext cx="4526280" cy="7132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4A1F30"/>
                </a:solidFill>
                <a:latin typeface="Consolas"/>
                <a:ea typeface="Consolas"/>
              </a:rPr>
              <a:t>plans/&lt;task-name&gt;.md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62072"/>
            <a:ext cx="10744200" cy="713232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26664"/>
            <a:ext cx="16916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6D2E46"/>
                </a:solidFill>
                <a:latin typeface="Consolas"/>
                <a:ea typeface="Consolas"/>
              </a:rPr>
              <a:t>execute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044952"/>
            <a:ext cx="4297680" cy="7132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A2226"/>
                </a:solidFill>
                <a:latin typeface="Calibri"/>
                <a:ea typeface="Microsoft YaHei"/>
              </a:rPr>
              <a:t>按 plan 一步步跑，每跑出一笔就回填到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3044952"/>
            <a:ext cx="4526280" cy="7132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4A1F30"/>
                </a:solidFill>
                <a:latin typeface="Consolas"/>
                <a:ea typeface="Consolas"/>
              </a:rPr>
              <a:t>修改 plans/&lt;task-name&gt;.md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75304"/>
            <a:ext cx="10744200" cy="713232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16916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6D2E46"/>
                </a:solidFill>
                <a:latin typeface="Consolas"/>
                <a:ea typeface="Consolas"/>
              </a:rPr>
              <a:t>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758184"/>
            <a:ext cx="4297680" cy="7132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A2226"/>
                </a:solidFill>
                <a:latin typeface="Calibri"/>
                <a:ea typeface="Microsoft YaHei"/>
              </a:rPr>
              <a:t>跑一段后写交接快照（中间结果 + 下一步指针）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59" y="3758184"/>
            <a:ext cx="4526280" cy="7132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4A1F30"/>
                </a:solidFill>
                <a:latin typeface="Consolas"/>
                <a:ea typeface="Consolas"/>
              </a:rPr>
              <a:t>plans/HANDOFF.md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288536"/>
            <a:ext cx="10744200" cy="713232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453127"/>
            <a:ext cx="16916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6D2E46"/>
                </a:solidFill>
                <a:latin typeface="Consolas"/>
                <a:ea typeface="Consolas"/>
              </a:rPr>
              <a:t>handoff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471416"/>
            <a:ext cx="4297680" cy="7132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A2226"/>
                </a:solidFill>
                <a:latin typeface="Calibri"/>
                <a:ea typeface="Microsoft YaHei"/>
              </a:rPr>
              <a:t>给下一个 session/人/agent 一段整段可粘的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4471416"/>
            <a:ext cx="4526280" cy="7132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4A1F30"/>
                </a:solidFill>
                <a:latin typeface="Consolas"/>
                <a:ea typeface="Consolas"/>
              </a:rPr>
              <a:t>写在 HANDOFF.md 顶部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166360"/>
            <a:ext cx="11201400" cy="594360"/>
          </a:xfrm>
          <a:prstGeom prst="roundRect">
            <a:avLst>
              <a:gd name="adj" fmla="val 10000"/>
            </a:avLst>
          </a:prstGeom>
          <a:solidFill>
            <a:srgbClr val="4A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285232"/>
            <a:ext cx="11201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 i="0">
                <a:solidFill>
                  <a:srgbClr val="FCF8F3"/>
                </a:solidFill>
                <a:latin typeface="Calibri"/>
                <a:ea typeface="Microsoft YaHei"/>
              </a:rPr>
              <a:t>四个动作合起来 = 一份 harness，缺一个就漏一个环节。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6355080"/>
            <a:ext cx="11484864" cy="10972"/>
          </a:xfrm>
          <a:prstGeom prst="rect">
            <a:avLst/>
          </a:prstGeom>
          <a:solidFill>
            <a:srgbClr val="DC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Lesson 06  ·  Harness 设计 — Superpowers 风格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46520"/>
            <a:ext cx="63367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A26769"/>
                </a:solidFill>
                <a:latin typeface="Calibri"/>
                <a:ea typeface="Microsoft YaHei"/>
              </a:rPr>
              <a:t>§ 二 · Harness 的四要素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4A1F30"/>
                </a:solidFill>
                <a:latin typeface="Calibri"/>
                <a:ea typeface="Microsoft YaHei"/>
              </a:rPr>
              <a:t>三件套：plan / HANDOFF /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457200" cy="4114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3611879" cy="2926080"/>
          </a:xfrm>
          <a:prstGeom prst="roundRect">
            <a:avLst>
              <a:gd name="adj" fmla="val 6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3611879" cy="128016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75688"/>
            <a:ext cx="315467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A555A"/>
                </a:solidFill>
                <a:latin typeface="Consolas"/>
                <a:ea typeface="Consolas"/>
              </a:rPr>
              <a:t>plans/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315467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4A1F30"/>
                </a:solidFill>
                <a:latin typeface="Consolas"/>
                <a:ea typeface="Consolas"/>
              </a:rPr>
              <a:t>&lt;task&gt;.md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15467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6D2E46"/>
                </a:solidFill>
                <a:latin typeface="Calibri"/>
                <a:ea typeface="Microsoft YaHei"/>
              </a:rPr>
              <a:t>过程记录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10712"/>
            <a:ext cx="3154679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226"/>
                </a:solidFill>
                <a:latin typeface="Calibri"/>
                <a:ea typeface="Microsoft YaHei"/>
              </a:rPr>
              <a:t>Goal · Architecture · Scenarios · Tasks · Resume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3087" y="3017520"/>
            <a:ext cx="1828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 i="0">
                <a:solidFill>
                  <a:srgbClr val="A26769"/>
                </a:solidFill>
                <a:latin typeface="Calibri"/>
                <a:ea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783080"/>
            <a:ext cx="3611879" cy="2926080"/>
          </a:xfrm>
          <a:prstGeom prst="roundRect">
            <a:avLst>
              <a:gd name="adj" fmla="val 6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783080"/>
            <a:ext cx="3611879" cy="128016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2075688"/>
            <a:ext cx="315467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A555A"/>
                </a:solidFill>
                <a:latin typeface="Consolas"/>
                <a:ea typeface="Consolas"/>
              </a:rPr>
              <a:t>plans/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2377440"/>
            <a:ext cx="315467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4A1F30"/>
                </a:solidFill>
                <a:latin typeface="Consolas"/>
                <a:ea typeface="Consolas"/>
              </a:rPr>
              <a:t>HANDOFF.md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2926080"/>
            <a:ext cx="315467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6D2E46"/>
                </a:solidFill>
                <a:latin typeface="Calibri"/>
                <a:ea typeface="Microsoft YaHei"/>
              </a:rPr>
              <a:t>会话交接快照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3410712"/>
            <a:ext cx="3154679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226"/>
                </a:solidFill>
                <a:latin typeface="Calibri"/>
                <a:ea typeface="Microsoft YaHei"/>
              </a:rPr>
              <a:t>Status · 关键数字 · 一段整段可粘的 Next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7" y="3017520"/>
            <a:ext cx="1828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 i="0">
                <a:solidFill>
                  <a:srgbClr val="A26769"/>
                </a:solidFill>
                <a:latin typeface="Calibri"/>
                <a:ea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783080"/>
            <a:ext cx="3611879" cy="2926080"/>
          </a:xfrm>
          <a:prstGeom prst="roundRect">
            <a:avLst>
              <a:gd name="adj" fmla="val 6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783080"/>
            <a:ext cx="3611879" cy="128016"/>
          </a:xfrm>
          <a:prstGeom prst="rect">
            <a:avLst/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075688"/>
            <a:ext cx="315467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A555A"/>
                </a:solidFill>
                <a:latin typeface="Consolas"/>
                <a:ea typeface="Consolas"/>
              </a:rPr>
              <a:t>reports/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377440"/>
            <a:ext cx="3154679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4A1F30"/>
                </a:solidFill>
                <a:latin typeface="Consolas"/>
                <a:ea typeface="Consolas"/>
              </a:rPr>
              <a:t>&lt;task&gt;.md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926080"/>
            <a:ext cx="315467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6D2E46"/>
                </a:solidFill>
                <a:latin typeface="Calibri"/>
                <a:ea typeface="Microsoft YaHei"/>
              </a:rPr>
              <a:t>最终聚合结论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410712"/>
            <a:ext cx="3154679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226"/>
                </a:solidFill>
                <a:latin typeface="Calibri"/>
                <a:ea typeface="Microsoft YaHei"/>
              </a:rPr>
              <a:t>结果表 · Executive Summary · 3 句定性分析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074920"/>
            <a:ext cx="11201400" cy="1005840"/>
          </a:xfrm>
          <a:prstGeom prst="roundRect">
            <a:avLst>
              <a:gd name="adj" fmla="val 10000"/>
            </a:avLst>
          </a:prstGeom>
          <a:solidFill>
            <a:srgbClr val="4A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212080"/>
            <a:ext cx="11201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 i="0">
                <a:solidFill>
                  <a:srgbClr val="FCF8F3"/>
                </a:solidFill>
                <a:latin typeface="Calibri"/>
                <a:ea typeface="Microsoft YaHei"/>
              </a:rPr>
              <a:t>Harness 不是工具，是约定。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641848"/>
            <a:ext cx="11201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 i="1">
                <a:solidFill>
                  <a:srgbClr val="DCCFB8"/>
                </a:solidFill>
                <a:latin typeface="Calibri"/>
                <a:ea typeface="Microsoft YaHei"/>
              </a:rPr>
              <a:t>三个目录保持同步，新会话第一件事永远是“读 plan、找第一个 [ ]”。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6355080"/>
            <a:ext cx="11484864" cy="10972"/>
          </a:xfrm>
          <a:prstGeom prst="rect">
            <a:avLst/>
          </a:prstGeom>
          <a:solidFill>
            <a:srgbClr val="DC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Lesson 06  ·  Harness 设计 — Superpowers 风格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46520"/>
            <a:ext cx="63367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502920"/>
            <a:ext cx="502920" cy="54864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26769"/>
                </a:solidFill>
                <a:latin typeface="Calibri"/>
                <a:ea typeface="Microsoft YaHei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607040" cy="3108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0" b="1" i="0">
                <a:solidFill>
                  <a:srgbClr val="6D2E46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4160520"/>
            <a:ext cx="1097280" cy="4114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343400"/>
            <a:ext cx="106070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400" b="1" i="0">
                <a:solidFill>
                  <a:srgbClr val="FCF8F3"/>
                </a:solidFill>
                <a:latin typeface="Calibri"/>
                <a:ea typeface="Microsoft YaHei"/>
              </a:rPr>
              <a:t>14 个 skill 速览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257800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 i="0">
                <a:solidFill>
                  <a:srgbClr val="DCCFB8"/>
                </a:solidFill>
                <a:latin typeface="Calibri"/>
                <a:ea typeface="Microsoft YaHei"/>
              </a:rPr>
              <a:t>Superpowers 怎么把约定打包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DCCFB8"/>
                </a:solidFill>
                <a:latin typeface="Calibri"/>
                <a:ea typeface="Microsoft YaHei"/>
              </a:rPr>
              <a:t>Lesson 06  ·  Harness 设计 — Superpowers 风格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46520"/>
            <a:ext cx="63367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DCCFB8"/>
                </a:solidFill>
                <a:latin typeface="Calibri"/>
                <a:ea typeface="Microsoft YaHe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A26769"/>
                </a:solidFill>
                <a:latin typeface="Calibri"/>
                <a:ea typeface="Microsoft YaHei"/>
              </a:rPr>
              <a:t>§ 三 · 14 个 skill  · 3.1 计划与执行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4A1F30"/>
                </a:solidFill>
                <a:latin typeface="Calibri"/>
                <a:ea typeface="Microsoft YaHei"/>
              </a:rPr>
              <a:t>Harness 三件套 — 本课的核心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457200" cy="4114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11201400" cy="141732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09728" cy="141732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4572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4A1F30"/>
                </a:solidFill>
                <a:latin typeface="Consolas"/>
                <a:ea typeface="Consolas"/>
              </a:rPr>
              <a:t>superpowers:writing-plans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13432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2A2226"/>
                </a:solidFill>
                <a:latin typeface="Calibri"/>
                <a:ea typeface="Microsoft YaHei"/>
              </a:rPr>
              <a:t>把多步任务展开成 plan 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9191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1">
                <a:solidFill>
                  <a:srgbClr val="6A555A"/>
                </a:solidFill>
                <a:latin typeface="Calibri"/>
                <a:ea typeface="Microsoft YaHei"/>
              </a:rPr>
              <a:t>Goal / Architecture / 进度表 / Tasks / Resume 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874519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6D2E46"/>
                </a:solidFill>
                <a:latin typeface="Calibri"/>
                <a:ea typeface="Microsoft YaHei"/>
              </a:rPr>
              <a:t>触发：有 spec / 需求、但还没动代码的任务起点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91840"/>
            <a:ext cx="11201400" cy="141732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91840"/>
            <a:ext cx="109728" cy="141732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4572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4A1F30"/>
                </a:solidFill>
                <a:latin typeface="Consolas"/>
                <a:ea typeface="Consolas"/>
              </a:rPr>
              <a:t>superpowers:executing-plans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22191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2A2226"/>
                </a:solidFill>
                <a:latin typeface="Calibri"/>
                <a:ea typeface="Microsoft YaHei"/>
              </a:rPr>
              <a:t>读一份 plan，按 step 跑、每跑完一步回填一笔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879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1">
                <a:solidFill>
                  <a:srgbClr val="6A555A"/>
                </a:solidFill>
                <a:latin typeface="Calibri"/>
                <a:ea typeface="Microsoft YaHei"/>
              </a:rPr>
              <a:t>AI 在屏幕上一行一行 Edit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38328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6D2E46"/>
                </a:solidFill>
                <a:latin typeface="Calibri"/>
                <a:ea typeface="Microsoft YaHei"/>
              </a:rPr>
              <a:t>触发：拿到现成 plan，想让 AI 按计划落地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201400" cy="141732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800600"/>
            <a:ext cx="109728" cy="141732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92040"/>
            <a:ext cx="4572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4A1F30"/>
                </a:solidFill>
                <a:latin typeface="Consolas"/>
                <a:ea typeface="Consolas"/>
              </a:rPr>
              <a:t>superpowers:subagent-driven-development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30952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2A2226"/>
                </a:solidFill>
                <a:latin typeface="Calibri"/>
                <a:ea typeface="Microsoft YaHei"/>
              </a:rPr>
              <a:t>每个 task 派一个新 subagent，跑完做 spec + quality 两段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9671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1">
                <a:solidFill>
                  <a:srgbClr val="6A555A"/>
                </a:solidFill>
                <a:latin typeface="Calibri"/>
                <a:ea typeface="Microsoft YaHei"/>
              </a:rPr>
              <a:t>保持主上下文整洁、可并行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89204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6D2E46"/>
                </a:solidFill>
                <a:latin typeface="Calibri"/>
                <a:ea typeface="Microsoft YaHei"/>
              </a:rPr>
              <a:t>触发：plan 里任务彼此独立、可并行 / 不污染主上下文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6053328"/>
            <a:ext cx="11201400" cy="274320"/>
          </a:xfrm>
          <a:prstGeom prst="roundRect">
            <a:avLst>
              <a:gd name="adj" fmla="val 20000"/>
            </a:avLst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071616"/>
            <a:ext cx="11201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 i="1">
                <a:solidFill>
                  <a:srgbClr val="FCF8F3"/>
                </a:solidFill>
                <a:latin typeface="Calibri"/>
                <a:ea typeface="Microsoft YaHei"/>
              </a:rPr>
              <a:t>三个加起来 = 本课讲的 harness；今天演示前两个。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6355080"/>
            <a:ext cx="11484864" cy="10972"/>
          </a:xfrm>
          <a:prstGeom prst="rect">
            <a:avLst/>
          </a:prstGeom>
          <a:solidFill>
            <a:srgbClr val="DC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Lesson 06  ·  Harness 设计 — Superpowers 风格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6446520"/>
            <a:ext cx="63367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A26769"/>
                </a:solidFill>
                <a:latin typeface="Calibri"/>
                <a:ea typeface="Microsoft YaHei"/>
              </a:rPr>
              <a:t>§ 三 · 14 个 skill  · 3.2 + 3.3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4A1F30"/>
                </a:solidFill>
                <a:latin typeface="Calibri"/>
                <a:ea typeface="Microsoft YaHei"/>
              </a:rPr>
              <a:t>思考与设计  +  实现纪律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457200" cy="4114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6D2E46"/>
                </a:solidFill>
                <a:latin typeface="Calibri"/>
                <a:ea typeface="Microsoft YaHei"/>
              </a:rPr>
              <a:t>3.2 思考与设计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84831"/>
            <a:ext cx="457200" cy="32004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5532120" cy="178308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94560"/>
            <a:ext cx="91440" cy="1783080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04288"/>
            <a:ext cx="5303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A1F30"/>
                </a:solidFill>
                <a:latin typeface="Consolas"/>
                <a:ea typeface="Consolas"/>
              </a:rPr>
              <a:t>sp:brainstorming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53035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226"/>
                </a:solidFill>
                <a:latin typeface="Calibri"/>
                <a:ea typeface="Microsoft YaHei"/>
              </a:rPr>
              <a:t>对话式问答把模糊想法磨成可写 spec 的设计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53035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1">
                <a:solidFill>
                  <a:srgbClr val="6D2E46"/>
                </a:solidFill>
                <a:latin typeface="Calibri"/>
                <a:ea typeface="Microsoft YaHei"/>
              </a:rPr>
              <a:t>触发：你只有一个“想做 X”的念头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087368"/>
            <a:ext cx="5532120" cy="178308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087368"/>
            <a:ext cx="91440" cy="1783080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97096"/>
            <a:ext cx="5303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A1F30"/>
                </a:solidFill>
                <a:latin typeface="Consolas"/>
                <a:ea typeface="Consolas"/>
              </a:rPr>
              <a:t>sp:writing-skills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90288"/>
            <a:ext cx="53035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226"/>
                </a:solidFill>
                <a:latin typeface="Calibri"/>
                <a:ea typeface="Microsoft YaHei"/>
              </a:rPr>
              <a:t>用 TDD 的方式写 / 修 skill（skill 也是产物）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76088"/>
            <a:ext cx="53035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1">
                <a:solidFill>
                  <a:srgbClr val="6D2E46"/>
                </a:solidFill>
                <a:latin typeface="Calibri"/>
                <a:ea typeface="Microsoft YaHei"/>
              </a:rPr>
              <a:t>触发：想把高频流程沉淀成 SKILL.md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169164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6D2E46"/>
                </a:solidFill>
                <a:latin typeface="Calibri"/>
                <a:ea typeface="Microsoft YaHei"/>
              </a:rPr>
              <a:t>3.3 实现纪律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2084831"/>
            <a:ext cx="457200" cy="32004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9632" y="2194560"/>
            <a:ext cx="5532120" cy="114300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2" y="2194560"/>
            <a:ext cx="91440" cy="1143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2286000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A1F30"/>
                </a:solidFill>
                <a:latin typeface="Consolas"/>
                <a:ea typeface="Consolas"/>
              </a:rPr>
              <a:t>sp:test-driven-development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670048"/>
            <a:ext cx="53035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A2226"/>
                </a:solidFill>
                <a:latin typeface="Calibri"/>
                <a:ea typeface="Microsoft YaHei"/>
              </a:rPr>
              <a:t>先写测试看挂、再写最少代码让过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3429000"/>
            <a:ext cx="5532120" cy="114300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3429000"/>
            <a:ext cx="91440" cy="1143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3520440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A1F30"/>
                </a:solidFill>
                <a:latin typeface="Consolas"/>
                <a:ea typeface="Consolas"/>
              </a:rPr>
              <a:t>sp:systematic-debugging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3904487"/>
            <a:ext cx="53035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A2226"/>
                </a:solidFill>
                <a:latin typeface="Calibri"/>
                <a:ea typeface="Microsoft YaHei"/>
              </a:rPr>
              <a:t>必须找到根因再动手，禁止症状修复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4663440"/>
            <a:ext cx="5532120" cy="114300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9632" y="4663440"/>
            <a:ext cx="91440" cy="1143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8232" y="4754879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A1F30"/>
                </a:solidFill>
                <a:latin typeface="Consolas"/>
                <a:ea typeface="Consolas"/>
              </a:rPr>
              <a:t>sp:verification-before-completion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5138927"/>
            <a:ext cx="53035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A2226"/>
                </a:solidFill>
                <a:latin typeface="Calibri"/>
                <a:ea typeface="Microsoft YaHei"/>
              </a:rPr>
              <a:t>声称完成前必须真跑验证，证据先于断言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" y="6355080"/>
            <a:ext cx="11484864" cy="10972"/>
          </a:xfrm>
          <a:prstGeom prst="rect">
            <a:avLst/>
          </a:prstGeom>
          <a:solidFill>
            <a:srgbClr val="DC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Lesson 06  ·  Harness 设计 — Superpowers 风格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6446520"/>
            <a:ext cx="63367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A26769"/>
                </a:solidFill>
                <a:latin typeface="Calibri"/>
                <a:ea typeface="Microsoft YaHei"/>
              </a:rPr>
              <a:t>§ 三 · 14 个 skill  · 3.4 + 3.5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4A1F30"/>
                </a:solidFill>
                <a:latin typeface="Calibri"/>
                <a:ea typeface="Microsoft YaHei"/>
              </a:rPr>
              <a:t>评审与协作  +  环境与收尾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457200" cy="4114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6D2E46"/>
                </a:solidFill>
                <a:latin typeface="Calibri"/>
                <a:ea typeface="Microsoft YaHei"/>
              </a:rPr>
              <a:t>3.4 评审与协作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84831"/>
            <a:ext cx="457200" cy="32004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5532120" cy="114300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94560"/>
            <a:ext cx="91440" cy="1143000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A1F30"/>
                </a:solidFill>
                <a:latin typeface="Consolas"/>
                <a:ea typeface="Consolas"/>
              </a:rPr>
              <a:t>sp:requesting-code-review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70048"/>
            <a:ext cx="53035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A2226"/>
                </a:solidFill>
                <a:latin typeface="Calibri"/>
                <a:ea typeface="Microsoft YaHei"/>
              </a:rPr>
              <a:t>派 code-reviewer subagent 看本次 diff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29000"/>
            <a:ext cx="5532120" cy="114300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429000"/>
            <a:ext cx="91440" cy="1143000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A1F30"/>
                </a:solidFill>
                <a:latin typeface="Consolas"/>
                <a:ea typeface="Consolas"/>
              </a:rPr>
              <a:t>sp:receiving-code-review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04487"/>
            <a:ext cx="53035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A2226"/>
                </a:solidFill>
                <a:latin typeface="Calibri"/>
                <a:ea typeface="Microsoft YaHei"/>
              </a:rPr>
              <a:t>收到 review 时先技术核实，不机械执行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663440"/>
            <a:ext cx="5532120" cy="114300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663440"/>
            <a:ext cx="91440" cy="1143000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54879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A1F30"/>
                </a:solidFill>
                <a:latin typeface="Consolas"/>
                <a:ea typeface="Consolas"/>
              </a:rPr>
              <a:t>sp:dispatching-parallel-agents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38927"/>
            <a:ext cx="53035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A2226"/>
                </a:solidFill>
                <a:latin typeface="Calibri"/>
                <a:ea typeface="Microsoft YaHei"/>
              </a:rPr>
              <a:t>2+ 个独立任务派给不同 subagent 并行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169164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6D2E46"/>
                </a:solidFill>
                <a:latin typeface="Calibri"/>
                <a:ea typeface="Microsoft YaHei"/>
              </a:rPr>
              <a:t>3.5 环境与收尾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2084831"/>
            <a:ext cx="457200" cy="32004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99632" y="2194560"/>
            <a:ext cx="5532120" cy="114300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194560"/>
            <a:ext cx="91440" cy="1143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2286000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A1F30"/>
                </a:solidFill>
                <a:latin typeface="Consolas"/>
                <a:ea typeface="Consolas"/>
              </a:rPr>
              <a:t>sp:using-git-worktrees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2670048"/>
            <a:ext cx="53035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A2226"/>
                </a:solidFill>
                <a:latin typeface="Calibri"/>
                <a:ea typeface="Microsoft YaHei"/>
              </a:rPr>
              <a:t>起独立 feature 前用 worktree 隔离工作区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3429000"/>
            <a:ext cx="5532120" cy="114300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9632" y="3429000"/>
            <a:ext cx="91440" cy="1143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3520440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A1F30"/>
                </a:solidFill>
                <a:latin typeface="Consolas"/>
                <a:ea typeface="Consolas"/>
              </a:rPr>
              <a:t>sp:finishing-a-development-branch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904487"/>
            <a:ext cx="53035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A2226"/>
                </a:solidFill>
                <a:latin typeface="Calibri"/>
                <a:ea typeface="Microsoft YaHei"/>
              </a:rPr>
              <a:t>实现+测试都过了，告诉你 merge / PR / 清理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4663440"/>
            <a:ext cx="5532120" cy="114300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4663440"/>
            <a:ext cx="91440" cy="1143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2" y="4754879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A1F30"/>
                </a:solidFill>
                <a:latin typeface="Consolas"/>
                <a:ea typeface="Consolas"/>
              </a:rPr>
              <a:t>sp:using-superpowers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5138927"/>
            <a:ext cx="53035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2A2226"/>
                </a:solidFill>
                <a:latin typeface="Calibri"/>
                <a:ea typeface="Microsoft YaHei"/>
              </a:rPr>
              <a:t>插件元 skill — 告诉 AI 怎么找/用其它 skill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" y="6355080"/>
            <a:ext cx="11484864" cy="10972"/>
          </a:xfrm>
          <a:prstGeom prst="rect">
            <a:avLst/>
          </a:prstGeom>
          <a:solidFill>
            <a:srgbClr val="DC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Lesson 06  ·  Harness 设计 — Superpowers 风格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6446520"/>
            <a:ext cx="63367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A26769"/>
                </a:solidFill>
                <a:latin typeface="Calibri"/>
                <a:ea typeface="Microsoft YaHei"/>
              </a:rPr>
              <a:t>§ 三 · 14 个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4A1F30"/>
                </a:solidFill>
                <a:latin typeface="Calibri"/>
                <a:ea typeface="Microsoft YaHei"/>
              </a:rPr>
              <a:t>怎么触发 · 关键认知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457200" cy="4114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509260" cy="1508760"/>
          </a:xfrm>
          <a:prstGeom prst="roundRect">
            <a:avLst>
              <a:gd name="adj" fmla="val 6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09728" cy="150876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2349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4A1F30"/>
                </a:solidFill>
                <a:latin typeface="Calibri"/>
                <a:ea typeface="Microsoft YaHei"/>
              </a:rPr>
              <a:t>方式 ① · 斜杠命令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52349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6D2E46"/>
                </a:solidFill>
                <a:latin typeface="Consolas"/>
                <a:ea typeface="Consolas"/>
              </a:rPr>
              <a:t>/superpowers:&lt;skill-name&gt;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52349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A2226"/>
                </a:solidFill>
                <a:latin typeface="Consolas"/>
                <a:ea typeface="Consolas"/>
              </a:rPr>
              <a:t>例：/superpowers:writing-plans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60" y="1783080"/>
            <a:ext cx="5509260" cy="1508760"/>
          </a:xfrm>
          <a:prstGeom prst="roundRect">
            <a:avLst>
              <a:gd name="adj" fmla="val 6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5060" y="1783080"/>
            <a:ext cx="109728" cy="1508760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9380" y="1892807"/>
            <a:ext cx="52349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4A1F30"/>
                </a:solidFill>
                <a:latin typeface="Calibri"/>
                <a:ea typeface="Microsoft YaHei"/>
              </a:rPr>
              <a:t>方式 ② · 自然语言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9380" y="2286000"/>
            <a:ext cx="52349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2A2226"/>
                </a:solidFill>
                <a:latin typeface="Calibri"/>
                <a:ea typeface="Microsoft YaHei"/>
              </a:rPr>
              <a:t>直接说要做的事，AI 自动匹配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9380" y="2651760"/>
            <a:ext cx="52349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1">
                <a:solidFill>
                  <a:srgbClr val="6A555A"/>
                </a:solidFill>
                <a:latin typeface="Calibri"/>
                <a:ea typeface="Microsoft YaHei"/>
              </a:rPr>
              <a:t>“帮我把这个 5 步任务写成 plan” → writing-plans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57600"/>
            <a:ext cx="11201400" cy="2331720"/>
          </a:xfrm>
          <a:prstGeom prst="roundRect">
            <a:avLst>
              <a:gd name="adj" fmla="val 6000"/>
            </a:avLst>
          </a:prstGeom>
          <a:solidFill>
            <a:srgbClr val="4A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840480"/>
            <a:ext cx="11201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A26769"/>
                </a:solidFill>
                <a:latin typeface="Calibri"/>
                <a:ea typeface="Microsoft YaHei"/>
              </a:rPr>
              <a:t>关键认知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51960"/>
            <a:ext cx="11201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800" b="1" i="0">
                <a:solidFill>
                  <a:srgbClr val="FCF8F3"/>
                </a:solidFill>
                <a:latin typeface="Calibri"/>
                <a:ea typeface="Microsoft YaHei"/>
              </a:rPr>
              <a:t>Skill 里没有代码逻辑，全是 prompt 工程。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106527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0" i="0">
                <a:solidFill>
                  <a:srgbClr val="DCCFB8"/>
                </a:solidFill>
                <a:latin typeface="Calibri"/>
                <a:ea typeface="Microsoft YaHei"/>
              </a:rPr>
              <a:t>你完全可以不装插件，自己手写一份“写 plan / 跑 plan / handoff”的规范——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03520"/>
            <a:ext cx="106527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0" i="0">
                <a:solidFill>
                  <a:srgbClr val="DCCFB8"/>
                </a:solidFill>
                <a:latin typeface="Calibri"/>
                <a:ea typeface="Microsoft YaHei"/>
              </a:rPr>
              <a:t>效果一样。插件给的是规范的“门面”，真正起作用的是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77840"/>
            <a:ext cx="10652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 i="0">
                <a:solidFill>
                  <a:srgbClr val="C9963F"/>
                </a:solidFill>
                <a:latin typeface="Calibri"/>
                <a:ea typeface="Microsoft YaHei"/>
              </a:rPr>
              <a:t>纪律。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6355080"/>
            <a:ext cx="11484864" cy="10972"/>
          </a:xfrm>
          <a:prstGeom prst="rect">
            <a:avLst/>
          </a:prstGeom>
          <a:solidFill>
            <a:srgbClr val="DC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Lesson 06  ·  Harness 设计 — Superpowers 风格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46520"/>
            <a:ext cx="63367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502920"/>
            <a:ext cx="502920" cy="54864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26769"/>
                </a:solidFill>
                <a:latin typeface="Calibri"/>
                <a:ea typeface="Microsoft YaHei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607040" cy="3108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6000" b="1" i="0">
                <a:solidFill>
                  <a:srgbClr val="6D2E46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4160520"/>
            <a:ext cx="1097280" cy="4114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343400"/>
            <a:ext cx="1060704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400" b="1" i="0">
                <a:solidFill>
                  <a:srgbClr val="FCF8F3"/>
                </a:solidFill>
                <a:latin typeface="Calibri"/>
                <a:ea typeface="Microsoft YaHei"/>
              </a:rPr>
              <a:t>演示：multi-period-backtest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257800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 i="0">
                <a:solidFill>
                  <a:srgbClr val="DCCFB8"/>
                </a:solidFill>
                <a:latin typeface="Calibri"/>
                <a:ea typeface="Microsoft YaHei"/>
              </a:rPr>
              <a:t>writing-plans + executing-plans 跨 /clear 续航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DCCFB8"/>
                </a:solidFill>
                <a:latin typeface="Calibri"/>
                <a:ea typeface="Microsoft YaHei"/>
              </a:rPr>
              <a:t>Lesson 06  ·  Harness 设计 — Superpowers 风格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46520"/>
            <a:ext cx="63367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DCCFB8"/>
                </a:solidFill>
                <a:latin typeface="Calibri"/>
                <a:ea typeface="Microsoft YaHe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A26769"/>
                </a:solidFill>
                <a:latin typeface="Calibri"/>
                <a:ea typeface="Microsoft YaHei"/>
              </a:rPr>
              <a:t>§ 四 · 演示  ·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4A1F30"/>
                </a:solidFill>
                <a:latin typeface="Calibri"/>
                <a:ea typeface="Microsoft YaHei"/>
              </a:rPr>
              <a:t>演示要展示的四件事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457200" cy="4114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11155680" cy="411480"/>
          </a:xfrm>
          <a:prstGeom prst="rect">
            <a:avLst/>
          </a:prstGeom>
          <a:solidFill>
            <a:srgbClr val="4A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64792"/>
            <a:ext cx="2057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CF8F3"/>
                </a:solidFill>
                <a:latin typeface="Calibri"/>
                <a:ea typeface="Microsoft YaHei"/>
              </a:rPr>
              <a:t>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764792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CF8F3"/>
                </a:solidFill>
                <a:latin typeface="Calibri"/>
                <a:ea typeface="Microsoft YaHei"/>
              </a:rPr>
              <a:t>用什么 skill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59" y="1764792"/>
            <a:ext cx="5943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CF8F3"/>
                </a:solidFill>
                <a:latin typeface="Calibri"/>
                <a:ea typeface="Microsoft YaHei"/>
              </a:rPr>
              <a:t>演示要让你看到的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11155680" cy="86868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40864"/>
            <a:ext cx="20574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6D2E46"/>
                </a:solidFill>
                <a:latin typeface="Calibri"/>
                <a:ea typeface="Microsoft YaHei"/>
              </a:rPr>
              <a:t>init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40864"/>
            <a:ext cx="301752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4A1F30"/>
                </a:solidFill>
                <a:latin typeface="Consolas"/>
                <a:ea typeface="Consolas"/>
              </a:rPr>
              <a:t>superpowers:writing-plans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59" y="2267712"/>
            <a:ext cx="585216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226"/>
                </a:solidFill>
                <a:latin typeface="Calibri"/>
                <a:ea typeface="Microsoft YaHei"/>
              </a:rPr>
              <a:t>把模糊任务展开成带 Goal / 6 行 Scenarios 表 / 4 个 Task / Resume Protocol 的 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71800"/>
            <a:ext cx="11155680" cy="86868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209544"/>
            <a:ext cx="20574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6D2E46"/>
                </a:solidFill>
                <a:latin typeface="Calibri"/>
                <a:ea typeface="Microsoft YaHei"/>
              </a:rPr>
              <a:t>execute Phase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209544"/>
            <a:ext cx="301752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4A1F30"/>
                </a:solidFill>
                <a:latin typeface="Consolas"/>
                <a:ea typeface="Consolas"/>
              </a:rPr>
              <a:t>superpowers:executing-plans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9" y="3136392"/>
            <a:ext cx="585216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226"/>
                </a:solidFill>
                <a:latin typeface="Calibri"/>
                <a:ea typeface="Microsoft YaHei"/>
              </a:rPr>
              <a:t>AI 读 plan，跑 BTC × {30, 60, 90}——每跑一次立刻 Edit plan 把数字 + [x] 回填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40480"/>
            <a:ext cx="11155680" cy="86868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078224"/>
            <a:ext cx="20574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6D2E46"/>
                </a:solidFill>
                <a:latin typeface="Calibri"/>
                <a:ea typeface="Microsoft YaHei"/>
              </a:rPr>
              <a:t>checkpoint +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4078224"/>
            <a:ext cx="301752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4A1F30"/>
                </a:solidFill>
                <a:latin typeface="Consolas"/>
                <a:ea typeface="Consolas"/>
              </a:rPr>
              <a:t>（纪律，非 skill）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59" y="4005072"/>
            <a:ext cx="585216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226"/>
                </a:solidFill>
                <a:latin typeface="Calibri"/>
                <a:ea typeface="Microsoft YaHei"/>
              </a:rPr>
              <a:t>写 HANDOFF.md：Status + 数字 + 一段可粘 Next prompt，然后真切 /clear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709160"/>
            <a:ext cx="11155680" cy="86868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946904"/>
            <a:ext cx="20574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6D2E46"/>
                </a:solidFill>
                <a:latin typeface="Calibri"/>
                <a:ea typeface="Microsoft YaHei"/>
              </a:rPr>
              <a:t>execute Phase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4946904"/>
            <a:ext cx="301752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4A1F30"/>
                </a:solidFill>
                <a:latin typeface="Consolas"/>
                <a:ea typeface="Consolas"/>
              </a:rPr>
              <a:t>superpowers:executing-plans（新会话）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59" y="4873752"/>
            <a:ext cx="585216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226"/>
                </a:solidFill>
                <a:latin typeface="Calibri"/>
                <a:ea typeface="Microsoft YaHei"/>
              </a:rPr>
              <a:t>粘 Next prompt → 只读 plan + HANDOFF → 续完 ETH × {30, 60, 90} → 聚合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742431"/>
            <a:ext cx="11201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 i="1">
                <a:solidFill>
                  <a:srgbClr val="6A555A"/>
                </a:solidFill>
                <a:latin typeface="Calibri"/>
                <a:ea typeface="Microsoft YaHei"/>
              </a:rPr>
              <a:t>演示约 8–9 分钟。你只看流程，不必跟着敲键盘。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" y="6355080"/>
            <a:ext cx="11484864" cy="10972"/>
          </a:xfrm>
          <a:prstGeom prst="rect">
            <a:avLst/>
          </a:prstGeom>
          <a:solidFill>
            <a:srgbClr val="DC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Lesson 06  ·  Harness 设计 — Superpowers 风格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6446520"/>
            <a:ext cx="63367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A26769"/>
                </a:solidFill>
                <a:latin typeface="Calibri"/>
                <a:ea typeface="Microsoft YaHei"/>
              </a:rPr>
              <a:t>§ 四 · 演示  ·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4A1F30"/>
                </a:solidFill>
                <a:latin typeface="Calibri"/>
                <a:ea typeface="Microsoft YaHei"/>
              </a:rPr>
              <a:t>演示用到的样本（课后可对照）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457200" cy="4114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11201400" cy="411480"/>
          </a:xfrm>
          <a:prstGeom prst="rect">
            <a:avLst/>
          </a:prstGeom>
          <a:solidFill>
            <a:srgbClr val="4A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64792"/>
            <a:ext cx="48920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CF8F3"/>
                </a:solidFill>
                <a:latin typeface="Calibri"/>
                <a:ea typeface="Microsoft YaHei"/>
              </a:rPr>
              <a:t>样本路径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1764792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CF8F3"/>
                </a:solidFill>
                <a:latin typeface="Calibri"/>
                <a:ea typeface="Microsoft YaHei"/>
              </a:rPr>
              <a:t>演示阶段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764792"/>
            <a:ext cx="3931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CF8F3"/>
                </a:solidFill>
                <a:latin typeface="Calibri"/>
                <a:ea typeface="Microsoft YaHei"/>
              </a:rPr>
              <a:t>用途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11201400" cy="77724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04288"/>
            <a:ext cx="48006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4A1F30"/>
                </a:solidFill>
                <a:latin typeface="Consolas"/>
                <a:ea typeface="Consolas"/>
              </a:rPr>
              <a:t>lesson6/project/plans/multi-period-backtest.md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2304288"/>
            <a:ext cx="2240279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6D2E46"/>
                </a:solidFill>
                <a:latin typeface="Calibri"/>
                <a:ea typeface="Microsoft YaHei"/>
              </a:rPr>
              <a:t>init 产物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304288"/>
            <a:ext cx="384048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226"/>
                </a:solidFill>
                <a:latin typeface="Calibri"/>
                <a:ea typeface="Microsoft YaHei"/>
              </a:rPr>
              <a:t>Goal · 6 行 Scenarios · 4 个 Task · Resume Protocol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80360"/>
            <a:ext cx="11201400" cy="77724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81528"/>
            <a:ext cx="48006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4A1F30"/>
                </a:solidFill>
                <a:latin typeface="Consolas"/>
                <a:ea typeface="Consolas"/>
              </a:rPr>
              <a:t>lesson6/project/plans/HANDOFF.md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3081528"/>
            <a:ext cx="2240279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6D2E46"/>
                </a:solidFill>
                <a:latin typeface="Calibri"/>
                <a:ea typeface="Microsoft YaHei"/>
              </a:rPr>
              <a:t>checkpoint 产物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81528"/>
            <a:ext cx="384048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226"/>
                </a:solidFill>
                <a:latin typeface="Calibri"/>
                <a:ea typeface="Microsoft YaHei"/>
              </a:rPr>
              <a:t>Phase 1 → Phase 2 交接：Status + 数字 + Next prompt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57600"/>
            <a:ext cx="11201400" cy="77724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858768"/>
            <a:ext cx="48006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4A1F30"/>
                </a:solidFill>
                <a:latin typeface="Consolas"/>
                <a:ea typeface="Consolas"/>
              </a:rPr>
              <a:t>lesson6/project/reports/multi_period.md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3858768"/>
            <a:ext cx="2240279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6D2E46"/>
                </a:solidFill>
                <a:latin typeface="Calibri"/>
                <a:ea typeface="Microsoft YaHei"/>
              </a:rPr>
              <a:t>最终产物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858768"/>
            <a:ext cx="384048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226"/>
                </a:solidFill>
                <a:latin typeface="Calibri"/>
                <a:ea typeface="Microsoft YaHei"/>
              </a:rPr>
              <a:t>6 行结果表 + Executive Summary + 3 句定性分析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434840"/>
            <a:ext cx="11201400" cy="77724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636007"/>
            <a:ext cx="48006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4A1F30"/>
                </a:solidFill>
                <a:latin typeface="Consolas"/>
                <a:ea typeface="Consolas"/>
              </a:rPr>
              <a:t>lesson6/demo/01-plan/ ~ 03-report/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4636007"/>
            <a:ext cx="2240279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6D2E46"/>
                </a:solidFill>
                <a:latin typeface="Calibri"/>
                <a:ea typeface="Microsoft YaHei"/>
              </a:rPr>
              <a:t>三件套副本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4636007"/>
            <a:ext cx="384048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226"/>
                </a:solidFill>
                <a:latin typeface="Calibri"/>
                <a:ea typeface="Microsoft YaHei"/>
              </a:rPr>
              <a:t>不进 project 也能直接 cat 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349240"/>
            <a:ext cx="11201400" cy="502920"/>
          </a:xfrm>
          <a:prstGeom prst="roundRect">
            <a:avLst>
              <a:gd name="adj" fmla="val 6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468112"/>
            <a:ext cx="11201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 i="1">
                <a:solidFill>
                  <a:srgbClr val="6A555A"/>
                </a:solidFill>
                <a:latin typeface="Calibri"/>
                <a:ea typeface="Microsoft YaHei"/>
              </a:rPr>
              <a:t>本课不要求课后跑一遍——重点是看明白下页“三个观察点”。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6355080"/>
            <a:ext cx="11484864" cy="10972"/>
          </a:xfrm>
          <a:prstGeom prst="rect">
            <a:avLst/>
          </a:prstGeom>
          <a:solidFill>
            <a:srgbClr val="DC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Lesson 06  ·  Harness 设计 — Superpowers 风格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46520"/>
            <a:ext cx="63367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A26769"/>
                </a:solidFill>
                <a:latin typeface="Calibri"/>
                <a:ea typeface="Microsoft YaHei"/>
              </a:rPr>
              <a:t>§ 四 · 演示  · 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4A1F30"/>
                </a:solidFill>
                <a:latin typeface="Calibri"/>
                <a:ea typeface="Microsoft YaHei"/>
              </a:rPr>
              <a:t>演示中要重点观察的三件事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457200" cy="4114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11201400" cy="141732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09728" cy="141732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7772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6D2E46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929384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4A1F30"/>
                </a:solidFill>
                <a:latin typeface="Calibri"/>
                <a:ea typeface="Microsoft YaHei"/>
              </a:rPr>
              <a:t>plan 文件每一步都在被改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350008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A2226"/>
                </a:solidFill>
                <a:latin typeface="Calibri"/>
                <a:ea typeface="Microsoft YaHei"/>
              </a:rPr>
              <a:t>AI 跑一个 scenario，立刻 Edit plan，把 4 个数字 + 状态 [x] 同步进去。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74320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1">
                <a:solidFill>
                  <a:srgbClr val="6A555A"/>
                </a:solidFill>
                <a:latin typeface="Calibri"/>
                <a:ea typeface="Microsoft YaHei"/>
              </a:rPr>
              <a:t>不是“跑完一批再统一更新”——跑一笔回一笔。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10128"/>
            <a:ext cx="11201400" cy="141732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310128"/>
            <a:ext cx="109728" cy="141732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19856"/>
            <a:ext cx="7772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6D2E46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456432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4A1F30"/>
                </a:solidFill>
                <a:latin typeface="Calibri"/>
                <a:ea typeface="Microsoft YaHei"/>
              </a:rPr>
              <a:t>/clear 之后 AI 真的失忆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877056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A2226"/>
                </a:solidFill>
                <a:latin typeface="Calibri"/>
                <a:ea typeface="Microsoft YaHei"/>
              </a:rPr>
              <a:t>上下文真清空——但 plan + HANDOFF 文件还在磁盘上。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270248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1">
                <a:solidFill>
                  <a:srgbClr val="6A555A"/>
                </a:solidFill>
                <a:latin typeface="Calibri"/>
                <a:ea typeface="Microsoft YaHei"/>
              </a:rPr>
              <a:t>新会话第一句整段粘 Next prompt，AI 自动从第一个 [ ] 续。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37176"/>
            <a:ext cx="11201400" cy="141732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837176"/>
            <a:ext cx="109728" cy="141732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46904"/>
            <a:ext cx="7772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6D2E46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98348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4A1F30"/>
                </a:solidFill>
                <a:latin typeface="Calibri"/>
                <a:ea typeface="Microsoft YaHei"/>
              </a:rPr>
              <a:t>Phase 2 的 AI 不知道 Phase 1 干了什么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404104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A2226"/>
                </a:solidFill>
                <a:latin typeface="Calibri"/>
                <a:ea typeface="Microsoft YaHei"/>
              </a:rPr>
              <a:t>它只是读 plan、找 [ ]、跑、回填。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797296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1">
                <a:solidFill>
                  <a:srgbClr val="6A555A"/>
                </a:solidFill>
                <a:latin typeface="Calibri"/>
                <a:ea typeface="Microsoft YaHei"/>
              </a:rPr>
              <a:t>任务没断、上下文断了——harness 的终极证据。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6355080"/>
            <a:ext cx="11484864" cy="10972"/>
          </a:xfrm>
          <a:prstGeom prst="rect">
            <a:avLst/>
          </a:prstGeom>
          <a:solidFill>
            <a:srgbClr val="DC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Lesson 06  ·  Harness 设计 — Superpowers 风格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46520"/>
            <a:ext cx="63367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A26769"/>
                </a:solidFill>
                <a:latin typeface="Calibri"/>
                <a:ea typeface="Microsoft YaHei"/>
              </a:rPr>
              <a:t>§ 四 · 演示  · 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4A1F30"/>
                </a:solidFill>
                <a:latin typeface="Calibri"/>
                <a:ea typeface="Microsoft YaHei"/>
              </a:rPr>
              <a:t>课堂关键数字（6 行 × 4 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457200" cy="4114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11109960" cy="411480"/>
          </a:xfrm>
          <a:prstGeom prst="rect">
            <a:avLst/>
          </a:prstGeom>
          <a:solidFill>
            <a:srgbClr val="4A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64792"/>
            <a:ext cx="3154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CF8F3"/>
                </a:solidFill>
                <a:latin typeface="Consolas"/>
                <a:ea typeface="Consolas"/>
              </a:rPr>
              <a:t>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59" y="1764792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CF8F3"/>
                </a:solidFill>
                <a:latin typeface="Consolas"/>
                <a:ea typeface="Consolas"/>
              </a:rPr>
              <a:t>sharpe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59" y="1764792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CF8F3"/>
                </a:solidFill>
                <a:latin typeface="Consolas"/>
                <a:ea typeface="Consolas"/>
              </a:rPr>
              <a:t>max_dd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764792"/>
            <a:ext cx="2011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CF8F3"/>
                </a:solidFill>
                <a:latin typeface="Consolas"/>
                <a:ea typeface="Consolas"/>
              </a:rPr>
              <a:t>win_rate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764792"/>
            <a:ext cx="1874519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CF8F3"/>
                </a:solidFill>
                <a:latin typeface="Consolas"/>
                <a:ea typeface="Consolas"/>
              </a:rPr>
              <a:t>cum_return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11109960" cy="41148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176272"/>
            <a:ext cx="3063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6A555A"/>
                </a:solidFill>
                <a:latin typeface="Consolas"/>
                <a:ea typeface="Consolas"/>
              </a:rPr>
              <a:t>BTCUSDT ×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59" y="2176272"/>
            <a:ext cx="1920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8A767B"/>
                </a:solidFill>
                <a:latin typeface="Consolas"/>
                <a:ea typeface="Consolas"/>
              </a:rPr>
              <a:t>0.0000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59" y="2176272"/>
            <a:ext cx="1920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8A767B"/>
                </a:solidFill>
                <a:latin typeface="Consolas"/>
                <a:ea typeface="Consolas"/>
              </a:rPr>
              <a:t>0.0000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176272"/>
            <a:ext cx="1920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8A767B"/>
                </a:solidFill>
                <a:latin typeface="Consolas"/>
                <a:ea typeface="Consolas"/>
              </a:rPr>
              <a:t>0.0000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2176272"/>
            <a:ext cx="1783079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8A767B"/>
                </a:solidFill>
                <a:latin typeface="Consolas"/>
                <a:ea typeface="Consolas"/>
              </a:rPr>
              <a:t>0.0000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514600"/>
            <a:ext cx="11109960" cy="41148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587752"/>
            <a:ext cx="3063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2A2226"/>
                </a:solidFill>
                <a:latin typeface="Consolas"/>
                <a:ea typeface="Consolas"/>
              </a:rPr>
              <a:t>BTCUSDT × 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59" y="2587752"/>
            <a:ext cx="1920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6D2E46"/>
                </a:solidFill>
                <a:latin typeface="Consolas"/>
                <a:ea typeface="Consolas"/>
              </a:rPr>
              <a:t>2.6388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59" y="2587752"/>
            <a:ext cx="1920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6D2E46"/>
                </a:solidFill>
                <a:latin typeface="Consolas"/>
                <a:ea typeface="Consolas"/>
              </a:rPr>
              <a:t>-0.0424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587752"/>
            <a:ext cx="1920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6D2E46"/>
                </a:solidFill>
                <a:latin typeface="Consolas"/>
                <a:ea typeface="Consolas"/>
              </a:rPr>
              <a:t>0.6538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587752"/>
            <a:ext cx="1783079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6D2E46"/>
                </a:solidFill>
                <a:latin typeface="Consolas"/>
                <a:ea typeface="Consolas"/>
              </a:rPr>
              <a:t>0.1237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926080"/>
            <a:ext cx="11109960" cy="41148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999232"/>
            <a:ext cx="3063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2A2226"/>
                </a:solidFill>
                <a:latin typeface="Consolas"/>
                <a:ea typeface="Consolas"/>
              </a:rPr>
              <a:t>BTCUSDT × 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59" y="2999232"/>
            <a:ext cx="1920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A2226"/>
                </a:solidFill>
                <a:latin typeface="Consolas"/>
                <a:ea typeface="Consolas"/>
              </a:rPr>
              <a:t>1.1563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59" y="2999232"/>
            <a:ext cx="1920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A2226"/>
                </a:solidFill>
                <a:latin typeface="Consolas"/>
                <a:ea typeface="Consolas"/>
              </a:rPr>
              <a:t>-0.0938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2999232"/>
            <a:ext cx="1920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A2226"/>
                </a:solidFill>
                <a:latin typeface="Consolas"/>
                <a:ea typeface="Consolas"/>
              </a:rPr>
              <a:t>0.5870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2999232"/>
            <a:ext cx="1783079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A2226"/>
                </a:solidFill>
                <a:latin typeface="Consolas"/>
                <a:ea typeface="Consolas"/>
              </a:rPr>
              <a:t>0.0911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337560"/>
            <a:ext cx="11109960" cy="41148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410712"/>
            <a:ext cx="3063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6A555A"/>
                </a:solidFill>
                <a:latin typeface="Consolas"/>
                <a:ea typeface="Consolas"/>
              </a:rPr>
              <a:t>ETHUSDT × 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59" y="3410712"/>
            <a:ext cx="1920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8A767B"/>
                </a:solidFill>
                <a:latin typeface="Consolas"/>
                <a:ea typeface="Consolas"/>
              </a:rPr>
              <a:t>0.0000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59" y="3410712"/>
            <a:ext cx="1920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8A767B"/>
                </a:solidFill>
                <a:latin typeface="Consolas"/>
                <a:ea typeface="Consolas"/>
              </a:rPr>
              <a:t>0.0000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3410712"/>
            <a:ext cx="1920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8A767B"/>
                </a:solidFill>
                <a:latin typeface="Consolas"/>
                <a:ea typeface="Consolas"/>
              </a:rPr>
              <a:t>0.0000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3410712"/>
            <a:ext cx="1783079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8A767B"/>
                </a:solidFill>
                <a:latin typeface="Consolas"/>
                <a:ea typeface="Consolas"/>
              </a:rPr>
              <a:t>0.0000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749040"/>
            <a:ext cx="11109960" cy="41148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822192"/>
            <a:ext cx="3063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2A2226"/>
                </a:solidFill>
                <a:latin typeface="Consolas"/>
                <a:ea typeface="Consolas"/>
              </a:rPr>
              <a:t>ETHUSDT × 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59" y="3822192"/>
            <a:ext cx="1920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A2226"/>
                </a:solidFill>
                <a:latin typeface="Consolas"/>
                <a:ea typeface="Consolas"/>
              </a:rPr>
              <a:t>1.5682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59" y="3822192"/>
            <a:ext cx="1920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A2226"/>
                </a:solidFill>
                <a:latin typeface="Consolas"/>
                <a:ea typeface="Consolas"/>
              </a:rPr>
              <a:t>-0.0644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3822192"/>
            <a:ext cx="1920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A2226"/>
                </a:solidFill>
                <a:latin typeface="Consolas"/>
                <a:ea typeface="Consolas"/>
              </a:rPr>
              <a:t>0.5789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3822192"/>
            <a:ext cx="1783079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A2226"/>
                </a:solidFill>
                <a:latin typeface="Consolas"/>
                <a:ea typeface="Consolas"/>
              </a:rPr>
              <a:t>0.1008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160520"/>
            <a:ext cx="11109960" cy="41148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233672"/>
            <a:ext cx="3063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2A2226"/>
                </a:solidFill>
                <a:latin typeface="Consolas"/>
                <a:ea typeface="Consolas"/>
              </a:rPr>
              <a:t>ETHUSDT × 90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4759" y="4233672"/>
            <a:ext cx="1920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A2226"/>
                </a:solidFill>
                <a:latin typeface="Consolas"/>
                <a:ea typeface="Consolas"/>
              </a:rPr>
              <a:t>1.6456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59" y="4233672"/>
            <a:ext cx="1920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A2226"/>
                </a:solidFill>
                <a:latin typeface="Consolas"/>
                <a:ea typeface="Consolas"/>
              </a:rPr>
              <a:t>-0.1271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4233672"/>
            <a:ext cx="1920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A2226"/>
                </a:solidFill>
                <a:latin typeface="Consolas"/>
                <a:ea typeface="Consolas"/>
              </a:rPr>
              <a:t>0.5750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4233672"/>
            <a:ext cx="1783079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2A2226"/>
                </a:solidFill>
                <a:latin typeface="Consolas"/>
                <a:ea typeface="Consolas"/>
              </a:rPr>
              <a:t>0.2019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4709160"/>
            <a:ext cx="11201400" cy="960120"/>
          </a:xfrm>
          <a:prstGeom prst="roundRect">
            <a:avLst>
              <a:gd name="adj" fmla="val 6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4709160"/>
            <a:ext cx="109728" cy="960120"/>
          </a:xfrm>
          <a:prstGeom prst="rect">
            <a:avLst/>
          </a:prstGeom>
          <a:solidFill>
            <a:srgbClr val="C99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4782312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4A1F30"/>
                </a:solidFill>
                <a:latin typeface="Calibri"/>
                <a:ea typeface="Microsoft YaHei"/>
              </a:rPr>
              <a:t>limit=30 全零是合理结果——零结果也是有效结论。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093208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A555A"/>
                </a:solidFill>
                <a:latin typeface="Calibri"/>
                <a:ea typeface="Microsoft YaHei"/>
              </a:rPr>
              <a:t>dual_ma 长均线 14 日 + 两层 shift(1) 防 lookahead → 30 天 warmup 期内无金叉。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5367528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1">
                <a:solidFill>
                  <a:srgbClr val="6A555A"/>
                </a:solidFill>
                <a:latin typeface="Calibri"/>
                <a:ea typeface="Microsoft YaHei"/>
              </a:rPr>
              <a:t>BTC × 60 sharpe 2.64 最佳；ETH × 90 累计收益 20% 最高。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7472" y="6355080"/>
            <a:ext cx="11484864" cy="10972"/>
          </a:xfrm>
          <a:prstGeom prst="rect">
            <a:avLst/>
          </a:prstGeom>
          <a:solidFill>
            <a:srgbClr val="DC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7472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Lesson 06  ·  Harness 设计 — Superpowers 风格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6446520"/>
            <a:ext cx="63367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A26769"/>
                </a:solidFill>
                <a:latin typeface="Calibri"/>
                <a:ea typeface="Microsoft YaHei"/>
              </a:rPr>
              <a:t>§ 五 · 关键认知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4A1F30"/>
                </a:solidFill>
                <a:latin typeface="Calibri"/>
                <a:ea typeface="Microsoft YaHei"/>
              </a:rPr>
              <a:t>三行口诀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457200" cy="4114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11201400" cy="3886200"/>
          </a:xfrm>
          <a:prstGeom prst="roundRect">
            <a:avLst>
              <a:gd name="adj" fmla="val 5000"/>
            </a:avLst>
          </a:prstGeom>
          <a:solidFill>
            <a:srgbClr val="4A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10652760" cy="3291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600" b="1" i="0">
                <a:solidFill>
                  <a:srgbClr val="FCF8F3"/>
                </a:solidFill>
                <a:latin typeface="Calibri"/>
                <a:ea typeface="Microsoft YaHei"/>
              </a:rPr>
              <a:t>state 不在脑子里，state 在 plan 里</a:t>
            </a:r>
          </a:p>
          <a:p>
            <a:pPr algn="l">
              <a:lnSpc>
                <a:spcPct val="122000"/>
              </a:lnSpc>
              <a:spcBef>
                <a:spcPts val="1200"/>
              </a:spcBef>
            </a:pPr>
            <a:r>
              <a:rPr sz="3600" b="1" i="0">
                <a:solidFill>
                  <a:srgbClr val="FCF8F3"/>
                </a:solidFill>
                <a:latin typeface="Calibri"/>
                <a:ea typeface="Microsoft YaHei"/>
              </a:rPr>
              <a:t>跑一步，回一笔</a:t>
            </a:r>
          </a:p>
          <a:p>
            <a:pPr algn="l">
              <a:lnSpc>
                <a:spcPct val="122000"/>
              </a:lnSpc>
              <a:spcBef>
                <a:spcPts val="1200"/>
              </a:spcBef>
            </a:pPr>
            <a:r>
              <a:rPr sz="3200" b="1" i="0">
                <a:solidFill>
                  <a:srgbClr val="C9963F"/>
                </a:solidFill>
                <a:latin typeface="Calibri"/>
                <a:ea typeface="Microsoft YaHei"/>
              </a:rPr>
              <a:t>HANDOFF 写得越具体，下一个会话越省心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43600"/>
            <a:ext cx="11201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 i="1">
                <a:solidFill>
                  <a:srgbClr val="6A555A"/>
                </a:solidFill>
                <a:latin typeface="Calibri"/>
                <a:ea typeface="Microsoft YaHei"/>
              </a:rPr>
              <a:t>贴在 CLAUDE.md、写在 plan 模板顶部——一个月后再回看，价值远超 25 分钟。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6355080"/>
            <a:ext cx="11484864" cy="10972"/>
          </a:xfrm>
          <a:prstGeom prst="rect">
            <a:avLst/>
          </a:prstGeom>
          <a:solidFill>
            <a:srgbClr val="DC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Lesson 06  ·  Harness 设计 — Superpowers 风格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446520"/>
            <a:ext cx="63367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15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A26769"/>
                </a:solidFill>
                <a:latin typeface="Calibri"/>
                <a:ea typeface="Microsoft YaHei"/>
              </a:rPr>
              <a:t>§ 五 · 关键认知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4A1F30"/>
                </a:solidFill>
                <a:latin typeface="Calibri"/>
                <a:ea typeface="Microsoft YaHei"/>
              </a:rPr>
              <a:t>三件事，记不下来其他都能忘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457200" cy="4114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11201400" cy="141732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09728" cy="141732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4A1F30"/>
                </a:solidFill>
                <a:latin typeface="Calibri"/>
                <a:ea typeface="Microsoft YaHei"/>
              </a:rPr>
              <a:t>Plan 是 AI 的外脑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0008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A2226"/>
                </a:solidFill>
                <a:latin typeface="Calibri"/>
                <a:ea typeface="Microsoft YaHei"/>
              </a:rPr>
              <a:t>模型本身没有持久记忆——上下文是“短期记忆”，每次 /clear 就清空。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A555A"/>
                </a:solidFill>
                <a:latin typeface="Calibri"/>
                <a:ea typeface="Microsoft YaHei"/>
              </a:rPr>
              <a:t>Plan 文件是“长期记忆”——磁盘上的 markdown，永远不丢。这一步认知翻转后，AI 才能干超出单上下文容量的长任务。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310128"/>
            <a:ext cx="11201400" cy="141732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310128"/>
            <a:ext cx="109728" cy="141732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19856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4A1F30"/>
                </a:solidFill>
                <a:latin typeface="Calibri"/>
                <a:ea typeface="Microsoft YaHei"/>
              </a:rPr>
              <a:t>跑一步，回一笔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77056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A2226"/>
                </a:solidFill>
                <a:latin typeface="Calibri"/>
                <a:ea typeface="Microsoft YaHei"/>
              </a:rPr>
              <a:t>跑了 5 个 scenario 想着“等会儿一起填”——只要中间任何一次中断，那 5 个数字就活在 AI 脑子里没活在磁盘上。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70248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A555A"/>
                </a:solidFill>
                <a:latin typeface="Calibri"/>
                <a:ea typeface="Microsoft YaHei"/>
              </a:rPr>
              <a:t>纪律：跑一次就 Edit plan 一次，把数字 + 打勾一起改。这条规则没有例外。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837176"/>
            <a:ext cx="11201400" cy="141732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837176"/>
            <a:ext cx="109728" cy="141732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946904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4A1F30"/>
                </a:solidFill>
                <a:latin typeface="Calibri"/>
                <a:ea typeface="Microsoft YaHei"/>
              </a:rPr>
              <a:t>Harness 不是工具，是约定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04104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A2226"/>
                </a:solidFill>
                <a:latin typeface="Calibri"/>
                <a:ea typeface="Microsoft YaHei"/>
              </a:rPr>
              <a:t>Superpowers 14 个 skill 里没有一个写了代码逻辑，全是 prompt 工程——把约定打包成 SKILL.md。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97296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A555A"/>
                </a:solidFill>
                <a:latin typeface="Calibri"/>
                <a:ea typeface="Microsoft YaHei"/>
              </a:rPr>
              <a:t>你完全可以不装插件——只要手写一份格式相近的 plan、并坚持每次会话开头说“读这份 plan 从第一个 [ ] 续”，效果一样。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6355080"/>
            <a:ext cx="11484864" cy="10972"/>
          </a:xfrm>
          <a:prstGeom prst="rect">
            <a:avLst/>
          </a:prstGeom>
          <a:solidFill>
            <a:srgbClr val="DC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Lesson 06  ·  Harness 设计 — Superpowers 风格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6446520"/>
            <a:ext cx="63367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16 /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A26769"/>
                </a:solidFill>
                <a:latin typeface="Calibri"/>
                <a:ea typeface="Microsoft YaHei"/>
              </a:rPr>
              <a:t>§ 六 · 反模式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4A1F30"/>
                </a:solidFill>
                <a:latin typeface="Calibri"/>
                <a:ea typeface="Microsoft YaHei"/>
              </a:rPr>
              <a:t>三条要躲开的坑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457200" cy="4114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11201400" cy="141732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09728" cy="141732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6400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C04A3E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11095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4A1F30"/>
                </a:solidFill>
                <a:latin typeface="Calibri"/>
                <a:ea typeface="Microsoft YaHei"/>
              </a:rPr>
              <a:t>Plan 写完不维护，跑到一半数字回填漏一行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31720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A2226"/>
                </a:solidFill>
                <a:latin typeface="Calibri"/>
                <a:ea typeface="Microsoft YaHei"/>
              </a:rPr>
              <a:t>跑完第 1 个填了，第 2 个想“等会儿一起填”，跑到第 3 个发现“等等第 2 个数字是多少来着”。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743200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A555A"/>
                </a:solidFill>
                <a:latin typeface="Calibri"/>
                <a:ea typeface="Microsoft YaHei"/>
              </a:rPr>
              <a:t>修复：每跑完一个 step 立刻 Edit plan，跑命令 / 看输出 / 回填当成一个原子动作。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10128"/>
            <a:ext cx="11201400" cy="141732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310128"/>
            <a:ext cx="109728" cy="141732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01568"/>
            <a:ext cx="6400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C04A3E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438144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4A1F30"/>
                </a:solidFill>
                <a:latin typeface="Calibri"/>
                <a:ea typeface="Microsoft YaHei"/>
              </a:rPr>
              <a:t>Plan 太抽象，每个 step 都需要解释才能跑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858768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A2226"/>
                </a:solidFill>
                <a:latin typeface="Calibri"/>
                <a:ea typeface="Microsoft YaHei"/>
              </a:rPr>
              <a:t>[ ] Step 1: 把回测跑起来 — “跑起来”是空话；下一个 AI 看到也会回头问“具体怎么跑”。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270248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A555A"/>
                </a:solidFill>
                <a:latin typeface="Calibri"/>
                <a:ea typeface="Microsoft YaHei"/>
              </a:rPr>
              <a:t>修复：每个 step 必须含“做什么命令 + 看什么输出 + 改哪个文件”三段，让 plan 自包含。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37176"/>
            <a:ext cx="11201400" cy="1417320"/>
          </a:xfrm>
          <a:prstGeom prst="roundRect">
            <a:avLst>
              <a:gd name="adj" fmla="val 5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837176"/>
            <a:ext cx="109728" cy="1417320"/>
          </a:xfrm>
          <a:prstGeom prst="rect">
            <a:avLst/>
          </a:prstGeom>
          <a:solidFill>
            <a:srgbClr val="C0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28616"/>
            <a:ext cx="6400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C04A3E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965192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4A1F30"/>
                </a:solidFill>
                <a:latin typeface="Calibri"/>
                <a:ea typeface="Microsoft YaHei"/>
              </a:rPr>
              <a:t>HANDOFF 不指向具体下一步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385816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A2226"/>
                </a:solidFill>
                <a:latin typeface="Calibri"/>
                <a:ea typeface="Microsoft YaHei"/>
              </a:rPr>
              <a:t>“进度：Phase 1 跑完了，准备 Phase 2” — 下一会话看到要回头分析“Phase 2 是什么、怎么开始”。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797296"/>
            <a:ext cx="10241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A555A"/>
                </a:solidFill>
                <a:latin typeface="Calibri"/>
                <a:ea typeface="Microsoft YaHei"/>
              </a:rPr>
              <a:t>修复：HANDOFF 里必须有一段 fenced 文本块，下一会话第一句整段粘就能续。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6355080"/>
            <a:ext cx="11484864" cy="10972"/>
          </a:xfrm>
          <a:prstGeom prst="rect">
            <a:avLst/>
          </a:prstGeom>
          <a:solidFill>
            <a:srgbClr val="DC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Lesson 06  ·  Harness 设计 — Superpowers 风格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46520"/>
            <a:ext cx="63367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17 /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A26769"/>
                </a:solidFill>
                <a:latin typeface="Calibri"/>
                <a:ea typeface="Microsoft YaHei"/>
              </a:rPr>
              <a:t>§ 七 · 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4A1F30"/>
                </a:solidFill>
                <a:latin typeface="Calibri"/>
                <a:ea typeface="Microsoft YaHei"/>
              </a:rPr>
              <a:t>task1-harness · 30 分钟可完成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457200" cy="4114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11201400" cy="1005840"/>
          </a:xfrm>
          <a:prstGeom prst="roundRect">
            <a:avLst>
              <a:gd name="adj" fmla="val 6000"/>
            </a:avLst>
          </a:prstGeom>
          <a:solidFill>
            <a:srgbClr val="4A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92807"/>
            <a:ext cx="11201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i="0">
                <a:solidFill>
                  <a:srgbClr val="FCF8F3"/>
                </a:solidFill>
                <a:latin typeface="Calibri"/>
                <a:ea typeface="Microsoft YaHei"/>
              </a:rPr>
              <a:t>写一份 minimal plan，跑过一次 真的 /clear 续接。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11201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1">
                <a:solidFill>
                  <a:srgbClr val="C9963F"/>
                </a:solidFill>
                <a:latin typeface="Calibri"/>
                <a:ea typeface="Microsoft YaHei"/>
              </a:rPr>
              <a:t>3–5 step 的 mini plan 就够 — 练的是 harness 纪律，不是任务长度。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017520"/>
            <a:ext cx="3611879" cy="1417320"/>
          </a:xfrm>
          <a:prstGeom prst="roundRect">
            <a:avLst>
              <a:gd name="adj" fmla="val 6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017520"/>
            <a:ext cx="3611879" cy="109728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39"/>
            <a:ext cx="3154679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A26769"/>
                </a:solidFill>
                <a:latin typeface="Calibri"/>
                <a:ea typeface="Microsoft YaHei"/>
              </a:rPr>
              <a:t>候选 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30752"/>
            <a:ext cx="3154679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A2226"/>
                </a:solidFill>
                <a:latin typeface="Calibri"/>
                <a:ea typeface="Microsoft YaHei"/>
              </a:rPr>
              <a:t>把仓库所有 README 翻译成英文（按文件分批）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3017520"/>
            <a:ext cx="3611879" cy="1417320"/>
          </a:xfrm>
          <a:prstGeom prst="roundRect">
            <a:avLst>
              <a:gd name="adj" fmla="val 6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3017520"/>
            <a:ext cx="3611879" cy="109728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3291839"/>
            <a:ext cx="3154679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A26769"/>
                </a:solidFill>
                <a:latin typeface="Calibri"/>
                <a:ea typeface="Microsoft YaHei"/>
              </a:rPr>
              <a:t>候选 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3730752"/>
            <a:ext cx="3154679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A2226"/>
                </a:solidFill>
                <a:latin typeface="Calibri"/>
                <a:ea typeface="Microsoft YaHei"/>
              </a:rPr>
              <a:t>把 lesson 4 backtest 跑更多策略（每 2 个一组）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017520"/>
            <a:ext cx="3611879" cy="1417320"/>
          </a:xfrm>
          <a:prstGeom prst="roundRect">
            <a:avLst>
              <a:gd name="adj" fmla="val 6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3017520"/>
            <a:ext cx="3611879" cy="109728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291839"/>
            <a:ext cx="3154679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A26769"/>
                </a:solidFill>
                <a:latin typeface="Calibri"/>
                <a:ea typeface="Microsoft YaHei"/>
              </a:rPr>
              <a:t>候选 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730752"/>
            <a:ext cx="3154679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A2226"/>
                </a:solidFill>
                <a:latin typeface="Calibri"/>
                <a:ea typeface="Microsoft YaHei"/>
              </a:rPr>
              <a:t>把一个长函数重构成 4 个小函数（每次一个）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709160"/>
            <a:ext cx="11201400" cy="1325880"/>
          </a:xfrm>
          <a:prstGeom prst="roundRect">
            <a:avLst>
              <a:gd name="adj" fmla="val 6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828032"/>
            <a:ext cx="10515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4A1F30"/>
                </a:solidFill>
                <a:latin typeface="Calibri"/>
                <a:ea typeface="Microsoft YaHei"/>
              </a:rPr>
              <a:t>提交两件：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60"/>
            <a:ext cx="105156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6D2E46"/>
                </a:solidFill>
                <a:latin typeface="Calibri"/>
                <a:ea typeface="Microsoft YaHei"/>
              </a:rPr>
              <a:t>1.  </a:t>
            </a:r>
            <a:r>
              <a:rPr sz="1300" b="1" i="0">
                <a:solidFill>
                  <a:srgbClr val="2A2226"/>
                </a:solidFill>
                <a:latin typeface="Consolas"/>
                <a:ea typeface="Consolas"/>
              </a:rPr>
              <a:t>PLAN.md</a:t>
            </a:r>
            <a:r>
              <a:rPr sz="1300" b="0" i="0">
                <a:solidFill>
                  <a:srgbClr val="2A2226"/>
                </a:solidFill>
                <a:latin typeface="Calibri"/>
                <a:ea typeface="Microsoft YaHei"/>
              </a:rPr>
              <a:t>（最终版，全部 [x]）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300" b="1" i="0">
                <a:solidFill>
                  <a:srgbClr val="6D2E46"/>
                </a:solidFill>
                <a:latin typeface="Calibri"/>
                <a:ea typeface="Microsoft YaHei"/>
              </a:rPr>
              <a:t>2.  </a:t>
            </a:r>
            <a:r>
              <a:rPr sz="1300" b="0" i="0">
                <a:solidFill>
                  <a:srgbClr val="2A2226"/>
                </a:solidFill>
                <a:latin typeface="Calibri"/>
                <a:ea typeface="Microsoft YaHei"/>
              </a:rPr>
              <a:t>一段 200 字感受 · 续上的体验如何？plan 写到多详细才够？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88152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1">
                <a:solidFill>
                  <a:srgbClr val="6A555A"/>
                </a:solidFill>
                <a:latin typeface="Consolas"/>
                <a:ea typeface="Consolas"/>
              </a:rPr>
              <a:t>完整说明：lesson6/homework/task1-harness/README.md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6355080"/>
            <a:ext cx="11484864" cy="10972"/>
          </a:xfrm>
          <a:prstGeom prst="rect">
            <a:avLst/>
          </a:prstGeom>
          <a:solidFill>
            <a:srgbClr val="DC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Lesson 06  ·  Harness 设计 — Superpowers 风格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46520"/>
            <a:ext cx="63367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18 / 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A26769"/>
                </a:solidFill>
                <a:latin typeface="Calibri"/>
                <a:ea typeface="Microsoft YaHei"/>
              </a:rPr>
              <a:t>下节课 · Lesson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4A1F30"/>
                </a:solidFill>
                <a:latin typeface="Calibri"/>
                <a:ea typeface="Microsoft YaHei"/>
              </a:rPr>
              <a:t>plan 跑得起来 → CI 守得住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457200" cy="41148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1201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2A2226"/>
                </a:solidFill>
                <a:latin typeface="Calibri"/>
                <a:ea typeface="Microsoft YaHei"/>
              </a:rPr>
              <a:t>把“每次都人工跑一遍 verify”升级成“在仓库里钉一道闸门”。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11201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1">
                <a:solidFill>
                  <a:srgbClr val="6A555A"/>
                </a:solidFill>
                <a:latin typeface="Calibri"/>
                <a:ea typeface="Microsoft YaHei"/>
              </a:rPr>
              <a:t>Lesson 6 教 plan 怎么写得让 AI 能续；lesson 7 教 verify 怎么写得让 CI 能挡——一前一后。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" y="2926080"/>
            <a:ext cx="1520516" cy="1097280"/>
          </a:xfrm>
          <a:prstGeom prst="roundRect">
            <a:avLst>
              <a:gd name="adj" fmla="val 6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" y="3063240"/>
            <a:ext cx="152051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 i="0">
                <a:solidFill>
                  <a:srgbClr val="6D2E46"/>
                </a:solidFill>
                <a:latin typeface="Consolas"/>
                <a:ea typeface="Consolas"/>
              </a:rPr>
              <a:t>L1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3474720"/>
            <a:ext cx="152051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 i="0">
                <a:solidFill>
                  <a:srgbClr val="2A2226"/>
                </a:solidFill>
                <a:latin typeface="Calibri"/>
                <a:ea typeface="Microsoft YaHei"/>
              </a:rPr>
              <a:t>Prompt 入门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5148" y="3291840"/>
            <a:ext cx="182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A26769"/>
                </a:solidFill>
                <a:latin typeface="Calibri"/>
                <a:ea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33164" y="2926080"/>
            <a:ext cx="1520516" cy="1097280"/>
          </a:xfrm>
          <a:prstGeom prst="roundRect">
            <a:avLst>
              <a:gd name="adj" fmla="val 6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164" y="3063240"/>
            <a:ext cx="152051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 i="0">
                <a:solidFill>
                  <a:srgbClr val="6D2E46"/>
                </a:solidFill>
                <a:latin typeface="Consolas"/>
                <a:ea typeface="Consolas"/>
              </a:rPr>
              <a:t>L2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3164" y="3474720"/>
            <a:ext cx="152051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 i="0">
                <a:solidFill>
                  <a:srgbClr val="2A2226"/>
                </a:solidFill>
                <a:latin typeface="Calibri"/>
                <a:ea typeface="Microsoft YaHei"/>
              </a:rPr>
              <a:t>上下文 + 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8817" y="3291840"/>
            <a:ext cx="182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A26769"/>
                </a:solidFill>
                <a:latin typeface="Calibri"/>
                <a:ea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26833" y="2926080"/>
            <a:ext cx="1520516" cy="1097280"/>
          </a:xfrm>
          <a:prstGeom prst="roundRect">
            <a:avLst>
              <a:gd name="adj" fmla="val 6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26833" y="3063240"/>
            <a:ext cx="152051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 i="0">
                <a:solidFill>
                  <a:srgbClr val="6D2E46"/>
                </a:solidFill>
                <a:latin typeface="Consolas"/>
                <a:ea typeface="Consolas"/>
              </a:rPr>
              <a:t>L3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6833" y="3474720"/>
            <a:ext cx="152051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 i="0">
                <a:solidFill>
                  <a:srgbClr val="2A2226"/>
                </a:solidFill>
                <a:latin typeface="Calibri"/>
                <a:ea typeface="Microsoft YaHei"/>
              </a:rPr>
              <a:t>Plan &amp; Spec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2485" y="3291840"/>
            <a:ext cx="182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A26769"/>
                </a:solidFill>
                <a:latin typeface="Calibri"/>
                <a:ea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0501" y="2926080"/>
            <a:ext cx="1520516" cy="1097280"/>
          </a:xfrm>
          <a:prstGeom prst="roundRect">
            <a:avLst>
              <a:gd name="adj" fmla="val 6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0501" y="3063240"/>
            <a:ext cx="152051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 i="0">
                <a:solidFill>
                  <a:srgbClr val="6D2E46"/>
                </a:solidFill>
                <a:latin typeface="Consolas"/>
                <a:ea typeface="Consolas"/>
              </a:rPr>
              <a:t>L4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0501" y="3474720"/>
            <a:ext cx="152051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 i="0">
                <a:solidFill>
                  <a:srgbClr val="2A2226"/>
                </a:solidFill>
                <a:latin typeface="Calibri"/>
                <a:ea typeface="Microsoft YaHei"/>
              </a:rPr>
              <a:t>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6154" y="3291840"/>
            <a:ext cx="182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A26769"/>
                </a:solidFill>
                <a:latin typeface="Calibri"/>
                <a:ea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14170" y="2926080"/>
            <a:ext cx="1520516" cy="1097280"/>
          </a:xfrm>
          <a:prstGeom prst="roundRect">
            <a:avLst>
              <a:gd name="adj" fmla="val 6000"/>
            </a:avLst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14170" y="3063240"/>
            <a:ext cx="152051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 i="0">
                <a:solidFill>
                  <a:srgbClr val="6D2E46"/>
                </a:solidFill>
                <a:latin typeface="Consolas"/>
                <a:ea typeface="Consolas"/>
              </a:rPr>
              <a:t>L5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14170" y="3474720"/>
            <a:ext cx="152051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 i="0">
                <a:solidFill>
                  <a:srgbClr val="2A2226"/>
                </a:solidFill>
                <a:latin typeface="Calibri"/>
                <a:ea typeface="Microsoft YaHei"/>
              </a:rPr>
              <a:t>OpenSpec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9822" y="3291840"/>
            <a:ext cx="182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A26769"/>
                </a:solidFill>
                <a:latin typeface="Calibri"/>
                <a:ea typeface="Microsoft Ya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7838" y="2926080"/>
            <a:ext cx="1520516" cy="1097280"/>
          </a:xfrm>
          <a:prstGeom prst="roundRect">
            <a:avLst>
              <a:gd name="adj" fmla="val 6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7838" y="3063240"/>
            <a:ext cx="152051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 i="0">
                <a:solidFill>
                  <a:srgbClr val="FCF8F3"/>
                </a:solidFill>
                <a:latin typeface="Consolas"/>
                <a:ea typeface="Consolas"/>
              </a:rPr>
              <a:t>L6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7838" y="3474720"/>
            <a:ext cx="152051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 i="0">
                <a:solidFill>
                  <a:srgbClr val="FCF8F3"/>
                </a:solidFill>
                <a:latin typeface="Calibri"/>
                <a:ea typeface="Microsoft YaHei"/>
              </a:rPr>
              <a:t>Harness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73491" y="3291840"/>
            <a:ext cx="182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A26769"/>
                </a:solidFill>
                <a:latin typeface="Calibri"/>
                <a:ea typeface="Microsoft YaHe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01507" y="2926080"/>
            <a:ext cx="1520516" cy="1097280"/>
          </a:xfrm>
          <a:prstGeom prst="roundRect">
            <a:avLst>
              <a:gd name="adj" fmla="val 6000"/>
            </a:avLst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1507" y="3063240"/>
            <a:ext cx="152051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 i="0">
                <a:solidFill>
                  <a:srgbClr val="FCF8F3"/>
                </a:solidFill>
                <a:latin typeface="Consolas"/>
                <a:ea typeface="Consolas"/>
              </a:rPr>
              <a:t>L7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1507" y="3474720"/>
            <a:ext cx="152051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 i="0">
                <a:solidFill>
                  <a:srgbClr val="FCF8F3"/>
                </a:solidFill>
                <a:latin typeface="Calibri"/>
                <a:ea typeface="Microsoft YaHei"/>
              </a:rPr>
              <a:t>Verify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480560"/>
            <a:ext cx="11201400" cy="1371600"/>
          </a:xfrm>
          <a:prstGeom prst="roundRect">
            <a:avLst>
              <a:gd name="adj" fmla="val 10000"/>
            </a:avLst>
          </a:prstGeom>
          <a:solidFill>
            <a:srgbClr val="4A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617720"/>
            <a:ext cx="11201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 i="0">
                <a:solidFill>
                  <a:srgbClr val="FCF8F3"/>
                </a:solidFill>
                <a:latin typeface="Calibri"/>
                <a:ea typeface="Microsoft YaHei"/>
              </a:rPr>
              <a:t>L7 · 三节点验收 + 本地/CI 双跑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029200"/>
            <a:ext cx="11201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0" i="0">
                <a:solidFill>
                  <a:srgbClr val="C9963F"/>
                </a:solidFill>
                <a:latin typeface="Consolas"/>
                <a:ea typeface="Consolas"/>
              </a:rPr>
              <a:t>lint  ·  pytest  ·  review skill  →  bin/verify.sh + GitHub 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394960"/>
            <a:ext cx="11201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 i="1">
                <a:solidFill>
                  <a:srgbClr val="DCCFB8"/>
                </a:solidFill>
                <a:latin typeface="Calibri"/>
                <a:ea typeface="Microsoft YaHei"/>
              </a:rPr>
              <a:t>AI 改的代码两道关——本地一分钟闭环，CI 兜底守 main。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" y="6355080"/>
            <a:ext cx="11484864" cy="10972"/>
          </a:xfrm>
          <a:prstGeom prst="rect">
            <a:avLst/>
          </a:prstGeom>
          <a:solidFill>
            <a:srgbClr val="DC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Lesson 06  ·  Harness 设计 — Superpowers 风格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6446520"/>
            <a:ext cx="63367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8A767B"/>
                </a:solidFill>
                <a:latin typeface="Calibri"/>
                <a:ea typeface="Microsoft YaHei"/>
              </a:rPr>
              <a:t>19 / 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40680"/>
            <a:ext cx="12191695" cy="54864"/>
          </a:xfrm>
          <a:prstGeom prst="rect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50408"/>
            <a:ext cx="12191695" cy="22860"/>
          </a:xfrm>
          <a:prstGeom prst="rect">
            <a:avLst/>
          </a:prstGeom>
          <a:solidFill>
            <a:srgbClr val="DC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05840"/>
            <a:ext cx="106070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DCCFB8"/>
                </a:solidFill>
                <a:latin typeface="Calibri"/>
                <a:ea typeface="Microsoft YaHei"/>
              </a:rPr>
              <a:t>LESSON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554480"/>
            <a:ext cx="106070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6400" b="1" i="0">
                <a:solidFill>
                  <a:srgbClr val="FCF8F3"/>
                </a:solidFill>
                <a:latin typeface="Calibri"/>
                <a:ea typeface="Microsoft YaHei"/>
              </a:rPr>
              <a:t>本节到这里。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34640"/>
            <a:ext cx="106070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C9963F"/>
                </a:solidFill>
                <a:latin typeface="Calibri"/>
                <a:ea typeface="Microsoft YaHei"/>
              </a:rPr>
              <a:t>state 不在脑子里，state 在 plan 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474720"/>
            <a:ext cx="106070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0" i="0">
                <a:solidFill>
                  <a:srgbClr val="DCCFB8"/>
                </a:solidFill>
                <a:latin typeface="Calibri"/>
                <a:ea typeface="Microsoft YaHei"/>
              </a:rPr>
              <a:t>跑一步，回一笔。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977639"/>
            <a:ext cx="106070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0" i="0">
                <a:solidFill>
                  <a:srgbClr val="DCCFB8"/>
                </a:solidFill>
                <a:latin typeface="Calibri"/>
                <a:ea typeface="Microsoft YaHei"/>
              </a:rPr>
              <a:t>HANDOFF 写得越具体，下一个会话越省心。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846320"/>
            <a:ext cx="5669280" cy="45720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937760"/>
            <a:ext cx="56692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 i="0">
                <a:solidFill>
                  <a:srgbClr val="FCF8F3"/>
                </a:solidFill>
                <a:latin typeface="Calibri"/>
                <a:ea typeface="Microsoft YaHei"/>
              </a:rPr>
              <a:t>下节 · Lesson 7 · 三节点验收 + 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644652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DCCFB8"/>
                </a:solidFill>
                <a:latin typeface="Calibri"/>
                <a:ea typeface="Microsoft YaHei"/>
              </a:rPr>
              <a:t>Lesson 06  ·  Harness 设计 — Superpowers 风格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46520"/>
            <a:ext cx="63367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DCCFB8"/>
                </a:solidFill>
                <a:latin typeface="Calibri"/>
                <a:ea typeface="Microsoft YaHe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