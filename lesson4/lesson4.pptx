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1600200"/>
            <a:ext cx="146304" cy="365760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966960" y="1737360"/>
            <a:ext cx="146304" cy="338328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32720" y="1874519"/>
            <a:ext cx="146304" cy="3108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0" y="2011680"/>
            <a:ext cx="146304" cy="283464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064240" y="2148840"/>
            <a:ext cx="146304" cy="256032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0" y="2286000"/>
            <a:ext cx="146304" cy="228600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3657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Calibri"/>
                <a:ea typeface="Microsoft YaHei"/>
              </a:rPr>
              <a:t>LESSON  04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207008"/>
            <a:ext cx="822960" cy="0"/>
          </a:xfrm>
          <a:prstGeom prst="line">
            <a:avLst/>
          </a:prstGeom>
          <a:ln w="190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1645920"/>
            <a:ext cx="91440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Skill 设计与能力沉淀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82296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5ECE1"/>
                </a:solidFill>
                <a:latin typeface="Calibri"/>
                <a:ea typeface="Microsoft YaHei"/>
              </a:rPr>
              <a:t>造接口给 AI 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1225296" cy="411480"/>
          </a:xfrm>
          <a:prstGeom prst="roundRect">
            <a:avLst>
              <a:gd name="adj" fmla="val 8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22529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DF7F2"/>
                </a:solidFill>
                <a:latin typeface="Calibri"/>
                <a:ea typeface="Microsoft YaHei"/>
              </a:rPr>
              <a:t>SKILL.md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3840480"/>
            <a:ext cx="1225296" cy="411480"/>
          </a:xfrm>
          <a:prstGeom prst="roundRect">
            <a:avLst>
              <a:gd name="adj" fmla="val 8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12848" y="3840480"/>
            <a:ext cx="122529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DF7F2"/>
                </a:solidFill>
                <a:latin typeface="Calibri"/>
                <a:ea typeface="Microsoft YaHei"/>
              </a:rPr>
              <a:t>Skill 市场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6" y="3840480"/>
            <a:ext cx="1225296" cy="411480"/>
          </a:xfrm>
          <a:prstGeom prst="roundRect">
            <a:avLst>
              <a:gd name="adj" fmla="val 8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02736" y="3840480"/>
            <a:ext cx="122529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DF7F2"/>
                </a:solidFill>
                <a:latin typeface="Calibri"/>
                <a:ea typeface="Microsoft YaHei"/>
              </a:rPr>
              <a:t>backtest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2624" y="3840480"/>
            <a:ext cx="1819656" cy="411480"/>
          </a:xfrm>
          <a:prstGeom prst="roundRect">
            <a:avLst>
              <a:gd name="adj" fmla="val 8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92624" y="3840480"/>
            <a:ext cx="181965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DF7F2"/>
                </a:solidFill>
                <a:latin typeface="Calibri"/>
                <a:ea typeface="Microsoft YaHei"/>
              </a:rPr>
              <a:t>brainstorming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6126480"/>
            <a:ext cx="4663440" cy="0"/>
          </a:xfrm>
          <a:prstGeom prst="line">
            <a:avLst/>
          </a:prstGeom>
          <a:ln w="12700">
            <a:solidFill>
              <a:srgbClr val="1F2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ECE1"/>
                </a:solidFill>
                <a:latin typeface="Calibri"/>
                <a:ea typeface="Microsoft YaHei"/>
              </a:rPr>
              <a:t>25 min  ·  造接口给 AI 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AGENDA  ·  今日路线图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F3C7E"/>
                </a:solidFill>
                <a:latin typeface="Calibri"/>
                <a:ea typeface="Microsoft YaHei"/>
              </a:rPr>
              <a:t>四件事，递进展开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10312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96167"/>
                </a:solidFill>
                <a:latin typeface="Bahnschrift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2316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3C7E"/>
                </a:solidFill>
                <a:latin typeface="Calibri"/>
                <a:ea typeface="Microsoft YaHei"/>
              </a:rPr>
              <a:t>Skill 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01752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Prompt 一次性，
Skill 可复用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3794760"/>
            <a:ext cx="3474719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385876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68E82"/>
                </a:solidFill>
                <a:latin typeface="Calibri"/>
                <a:ea typeface="Microsoft YaHei"/>
              </a:rPr>
              <a:t>五种扩展方式对比 · Skill 文件结构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235915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96167"/>
                </a:solidFill>
                <a:latin typeface="Bahnschrift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42316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3C7E"/>
                </a:solidFill>
                <a:latin typeface="Calibri"/>
                <a:ea typeface="Microsoft YaHei"/>
              </a:rPr>
              <a:t>Skill 市场速览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01752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别从零造，
先看现成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3794760"/>
            <a:ext cx="3474720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09560" y="385876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68E82"/>
                </a:solidFill>
                <a:latin typeface="Calibri"/>
                <a:ea typeface="Microsoft YaHei"/>
              </a:rPr>
              <a:t>官方 / Superpowers / ECC / skill.sh / skillsmp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46227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96167"/>
                </a:solidFill>
                <a:latin typeface="Bahnschrift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526279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3C7E"/>
                </a:solidFill>
                <a:latin typeface="Calibri"/>
                <a:ea typeface="Microsoft YaHei"/>
              </a:rPr>
              <a:t>写 backtest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30 行 Python +
30 行 Markdown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5897879"/>
            <a:ext cx="3474719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0280" y="596188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68E82"/>
                </a:solidFill>
                <a:latin typeface="Calibri"/>
                <a:ea typeface="Microsoft YaHei"/>
              </a:rPr>
              <a:t>backtest.py · SKILL.md · example_strategies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624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0" y="446227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96167"/>
                </a:solidFill>
                <a:latin typeface="Bahnschrift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526279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3C7E"/>
                </a:solidFill>
                <a:latin typeface="Calibri"/>
                <a:ea typeface="Microsoft YaHei"/>
              </a:rPr>
              <a:t>用 skill 跑回测 + 作业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看真实对比 +
设计作业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5897879"/>
            <a:ext cx="3474720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596188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68E82"/>
                </a:solidFill>
                <a:latin typeface="Calibri"/>
                <a:ea typeface="Microsoft YaHei"/>
              </a:rPr>
              <a:t>真实数字 · 反模式 · 提交清单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96167"/>
                </a:solidFill>
                <a:latin typeface="Bahnschrift"/>
                <a:ea typeface="Microsoft YaHei"/>
              </a:rPr>
              <a:t>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Skill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F5ECE1"/>
                </a:solidFill>
                <a:latin typeface="Calibri"/>
                <a:ea typeface="Microsoft YaHei"/>
              </a:rPr>
              <a:t>Prompt 一次性，Skill 可复用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5ECE1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Skill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01 · 五种扩展方式对比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3C7E"/>
                </a:solidFill>
                <a:latin typeface="Calibri"/>
                <a:ea typeface="Microsoft YaHei"/>
              </a:rPr>
              <a:t>Prompt / Rule / Subagent / MCP / Skill——各有定位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1874519"/>
            <a:ext cx="1783080" cy="4572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40280" y="1874519"/>
            <a:ext cx="17830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874519"/>
            <a:ext cx="1783080" cy="4572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069080" y="1874519"/>
            <a:ext cx="17830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874519"/>
            <a:ext cx="1783080" cy="4572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97880" y="1874519"/>
            <a:ext cx="17830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Subagent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874519"/>
            <a:ext cx="1783080" cy="4572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26679" y="1874519"/>
            <a:ext cx="17830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874519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55480" y="1874519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Skill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423160"/>
            <a:ext cx="11658600" cy="758952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84048" y="2560320"/>
            <a:ext cx="1828800" cy="62179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Calibri"/>
                <a:ea typeface="Microsoft YaHei"/>
              </a:rPr>
              <a:t>触发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514600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你打字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514600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自动 / glob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514600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你主动派遣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514600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AI 判断调用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3774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96167"/>
                </a:solidFill>
                <a:latin typeface="Calibri"/>
                <a:ea typeface="Microsoft YaHei"/>
              </a:rPr>
              <a:t>AI 匹配触发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" y="3182112"/>
            <a:ext cx="11686032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84048" y="3227832"/>
            <a:ext cx="1165860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4048" y="3364991"/>
            <a:ext cx="1828800" cy="62179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Calibri"/>
                <a:ea typeface="Microsoft YaHei"/>
              </a:rPr>
              <a:t>上下文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319272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主线对话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319272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主线注入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319272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独立子上下文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319272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主线注入工具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319272"/>
            <a:ext cx="23774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96167"/>
                </a:solidFill>
                <a:latin typeface="Calibri"/>
                <a:ea typeface="Microsoft YaHei"/>
              </a:rPr>
              <a:t>主线对话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4048" y="3986784"/>
            <a:ext cx="11686032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84048" y="4032504"/>
            <a:ext cx="11658600" cy="758952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84048" y="4169664"/>
            <a:ext cx="1828800" cy="62179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Calibri"/>
                <a:ea typeface="Microsoft YaHei"/>
              </a:rPr>
              <a:t>谁定义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4123944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你每次写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123944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你 / 团队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123944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你 / 官方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123944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第三方 / 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123944"/>
            <a:ext cx="23774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96167"/>
                </a:solidFill>
                <a:latin typeface="Calibri"/>
                <a:ea typeface="Microsoft YaHei"/>
              </a:rPr>
              <a:t>你 / 社区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84048" y="4791456"/>
            <a:ext cx="11686032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84048" y="4837176"/>
            <a:ext cx="11658600" cy="758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4048" y="4974336"/>
            <a:ext cx="1828800" cy="62179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3C7E"/>
                </a:solidFill>
                <a:latin typeface="Calibri"/>
                <a:ea typeface="Microsoft YaHei"/>
              </a:rPr>
              <a:t>例子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928616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重命名变量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928616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UTC 约定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928616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探索代码库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928616"/>
            <a:ext cx="16916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sqlite 查询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928616"/>
            <a:ext cx="237744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96167"/>
                </a:solidFill>
                <a:latin typeface="Calibri"/>
                <a:ea typeface="Microsoft YaHei"/>
              </a:rPr>
              <a:t>backtest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84048" y="5596128"/>
            <a:ext cx="11686032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Skill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01 · Skill 文件结构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3C7E"/>
                </a:solidFill>
                <a:latin typeface="Calibri"/>
                <a:ea typeface="Microsoft YaHei"/>
              </a:rPr>
              <a:t>description 是 Skill 的招牌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68E82"/>
                </a:solidFill>
                <a:latin typeface="Consolas"/>
                <a:ea typeface="Consolas"/>
              </a:rPr>
              <a:t>SKILL.md — frontmatter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395728"/>
            <a:ext cx="4800600" cy="0"/>
          </a:xfrm>
          <a:prstGeom prst="line">
            <a:avLst/>
          </a:prstGeom>
          <a:ln w="7620">
            <a:solidFill>
              <a:srgbClr val="706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14600"/>
            <a:ext cx="4846320" cy="3474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DF7F2"/>
                </a:solidFill>
                <a:latin typeface="Consolas"/>
                <a:ea typeface="Consolas"/>
              </a:rPr>
              <a:t>---
name: backtest
description: Use when the user asks
  to backtest a crypto trading
  strategy — translate to callable
  → call run_backtest → explain.
---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920240"/>
            <a:ext cx="5852160" cy="4206240"/>
          </a:xfrm>
          <a:prstGeom prst="roundRect">
            <a:avLst>
              <a:gd name="adj" fmla="val 5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72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3C7E"/>
                </a:solidFill>
                <a:latin typeface="Calibri"/>
                <a:ea typeface="Microsoft YaHei"/>
              </a:rPr>
              <a:t>sections（markdown body）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2395728"/>
            <a:ext cx="548640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2606040"/>
            <a:ext cx="54864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0" y="2660904"/>
            <a:ext cx="5212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96167"/>
                </a:solidFill>
                <a:latin typeface="Consolas"/>
                <a:ea typeface="Consolas"/>
              </a:rPr>
              <a:t>## 何时触发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08376"/>
            <a:ext cx="5212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触发条件——告诉 Claude 何时自动调用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47288"/>
            <a:ext cx="54864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09360" y="3502152"/>
            <a:ext cx="5212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96167"/>
                </a:solidFill>
                <a:latin typeface="Consolas"/>
                <a:ea typeface="Consolas"/>
              </a:rPr>
              <a:t>## 步骤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49624"/>
            <a:ext cx="5212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3–7 条原子化步骤，每步一句话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88536"/>
            <a:ext cx="54864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60" y="4343400"/>
            <a:ext cx="5212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96167"/>
                </a:solidFill>
                <a:latin typeface="Consolas"/>
                <a:ea typeface="Consolas"/>
              </a:rPr>
              <a:t>## 反模式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90872"/>
            <a:ext cx="5212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明确不该做什么，约束 Claude 行为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129784"/>
            <a:ext cx="54864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09360" y="5184648"/>
            <a:ext cx="52120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96167"/>
                </a:solidFill>
                <a:latin typeface="Consolas"/>
                <a:ea typeface="Consolas"/>
              </a:rPr>
              <a:t>## 示例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532120"/>
            <a:ext cx="52120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输入/输出示例，可链接到示例文件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8932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F96167"/>
                </a:solidFill>
                <a:latin typeface="Calibri"/>
                <a:ea typeface="Microsoft YaHei"/>
              </a:rPr>
              <a:t>description 写模糊 → Claude 乱触发或不触发；写具体 → 触发精准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96167"/>
                </a:solidFill>
                <a:latin typeface="Bahnschrift"/>
                <a:ea typeface="Microsoft YaHei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Skill 市场速览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F5ECE1"/>
                </a:solidFill>
                <a:latin typeface="Calibri"/>
                <a:ea typeface="Microsoft YaHei"/>
              </a:rPr>
              <a:t>别从零造，先看现成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5ECE1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Skill 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02 · Skill 市场速览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3C7E"/>
                </a:solidFill>
                <a:latin typeface="Calibri"/>
                <a:ea typeface="Microsoft YaHei"/>
              </a:rPr>
              <a:t>5 个来源，各有侧重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" y="2011680"/>
            <a:ext cx="114300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2011680"/>
            <a:ext cx="201168" cy="7772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121408"/>
            <a:ext cx="29260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Anthropic 官方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87168"/>
            <a:ext cx="3657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96167"/>
                </a:solidFill>
                <a:latin typeface="Consolas"/>
                <a:ea typeface="Consolas"/>
              </a:rPr>
              <a:t>github.com/anthropics/skills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94560"/>
            <a:ext cx="7315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reference skill 集合，最权威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34640"/>
            <a:ext cx="11430000" cy="777240"/>
          </a:xfrm>
          <a:prstGeom prst="roundRect">
            <a:avLst>
              <a:gd name="adj" fmla="val 4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11480" y="2834640"/>
            <a:ext cx="201168" cy="77724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2944368"/>
            <a:ext cx="29260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Superpowers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310128"/>
            <a:ext cx="3657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F3C7E"/>
                </a:solidFill>
                <a:latin typeface="Consolas"/>
                <a:ea typeface="Consolas"/>
              </a:rPr>
              <a:t>github.com/obra/superpowers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017520"/>
            <a:ext cx="7315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方法论框架（lesson 2 已装），含 brainstorming / TDD / code-review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57600"/>
            <a:ext cx="114300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11480" y="3657600"/>
            <a:ext cx="201168" cy="777240"/>
          </a:xfrm>
          <a:prstGeom prst="rect">
            <a:avLst/>
          </a:prstGeom>
          <a:solidFill>
            <a:srgbClr val="F9E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3767328"/>
            <a:ext cx="29260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Everything Claude Code (ECC)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33087"/>
            <a:ext cx="3657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9E795"/>
                </a:solidFill>
                <a:latin typeface="Consolas"/>
                <a:ea typeface="Consolas"/>
              </a:rPr>
              <a:t>github.com/affaan-m/everything-claude-code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840480"/>
            <a:ext cx="7315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Claude Code 增强包，含工程类 skill（build / lint / review）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480560"/>
            <a:ext cx="11430000" cy="777240"/>
          </a:xfrm>
          <a:prstGeom prst="roundRect">
            <a:avLst>
              <a:gd name="adj" fmla="val 4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11480" y="4480560"/>
            <a:ext cx="201168" cy="777240"/>
          </a:xfrm>
          <a:prstGeom prst="rect">
            <a:avLst/>
          </a:prstGeom>
          <a:solidFill>
            <a:srgbClr val="70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9808" y="4590288"/>
            <a:ext cx="29260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skill.sh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956048"/>
            <a:ext cx="3657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06655"/>
                </a:solidFill>
                <a:latin typeface="Consolas"/>
                <a:ea typeface="Consolas"/>
              </a:rPr>
              <a:t>skill.sh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663440"/>
            <a:ext cx="7315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社区聚合站，按主题分类，支持搜索安装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303520"/>
            <a:ext cx="114300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11480" y="5303520"/>
            <a:ext cx="201168" cy="777240"/>
          </a:xfrm>
          <a:prstGeom prst="rect">
            <a:avLst/>
          </a:prstGeom>
          <a:solidFill>
            <a:srgbClr val="968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9808" y="5413248"/>
            <a:ext cx="29260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skillsmp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779008"/>
            <a:ext cx="36576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68E82"/>
                </a:solidFill>
                <a:latin typeface="Consolas"/>
                <a:ea typeface="Consolas"/>
              </a:rPr>
              <a:t>skillsmp.com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486400"/>
            <a:ext cx="7315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另一个社区聚合站，规模较小，垂直领域丰富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Skill 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02 · 选哪个？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F3C7E"/>
                </a:solidFill>
                <a:latin typeface="Calibri"/>
                <a:ea typeface="Microsoft YaHei"/>
              </a:rPr>
              <a:t>4 条选择心法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103120"/>
            <a:ext cx="5532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94360" y="256032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76272"/>
            <a:ext cx="461772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找标准参考实现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70048"/>
            <a:ext cx="46177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96167"/>
                </a:solidFill>
                <a:latin typeface="Consolas"/>
                <a:ea typeface="Consolas"/>
              </a:rPr>
              <a:t>官方仓库（github.com/anthropics/skills）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08960"/>
            <a:ext cx="461772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最权威，适合初学理解 SKILL.md 规范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5532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355080" y="256032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176272"/>
            <a:ext cx="461772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找工作流 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70048"/>
            <a:ext cx="46177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96167"/>
                </a:solidFill>
                <a:latin typeface="Consolas"/>
                <a:ea typeface="Consolas"/>
              </a:rPr>
              <a:t>Superpowers（github.com/obra/superpowers）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108960"/>
            <a:ext cx="461772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brainstorming / TDD / code-review / systematic-debugging，已在 lesson 2 装过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5532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94360" y="457200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7200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87952"/>
            <a:ext cx="461772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找工程类 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81728"/>
            <a:ext cx="46177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96167"/>
                </a:solidFill>
                <a:latin typeface="Consolas"/>
                <a:ea typeface="Consolas"/>
              </a:rPr>
              <a:t>Everything Claude Code (ECC)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120640"/>
            <a:ext cx="461772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build / lint / review / test-coverage 等工程辅助，集中在一个 plugin 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14800"/>
            <a:ext cx="5532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355080" y="457200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57200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187952"/>
            <a:ext cx="461772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找冷门垂类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681728"/>
            <a:ext cx="46177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96167"/>
                </a:solidFill>
                <a:latin typeface="Consolas"/>
                <a:ea typeface="Consolas"/>
              </a:rPr>
              <a:t>skill.sh / skillsmp 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120640"/>
            <a:ext cx="461772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量化 / 运维 / 生信 / 医疗等垂直领域，社区贡献，质量不一需甄别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96167"/>
                </a:solidFill>
                <a:latin typeface="Bahnschrift"/>
                <a:ea typeface="Microsoft YaHei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  <a:ea typeface="Microsoft YaHei"/>
              </a:rPr>
              <a:t>写一个 backtest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F5ECE1"/>
                </a:solidFill>
                <a:latin typeface="Calibri"/>
                <a:ea typeface="Microsoft YaHei"/>
              </a:rPr>
              <a:t>30 行 Python + 30 行 Markdown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5ECE1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backtest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03 · backtest 设计目标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3C7E"/>
                </a:solidFill>
                <a:latin typeface="Calibri"/>
                <a:ea typeface="Microsoft YaHei"/>
              </a:rPr>
              <a:t>输入策略 callable → 输出 4 项指标 + PNG + 中文总结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5029200" cy="4023360"/>
          </a:xfrm>
          <a:prstGeom prst="roundRect">
            <a:avLst>
              <a:gd name="adj" fmla="val 6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4805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96167"/>
                </a:solidFill>
                <a:latin typeface="Calibri"/>
                <a:ea typeface="Microsoft YaHei"/>
              </a:rPr>
              <a:t>输入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542032"/>
            <a:ext cx="4617720" cy="0"/>
          </a:xfrm>
          <a:prstGeom prst="line">
            <a:avLst/>
          </a:prstGeom>
          <a:ln w="1016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697480"/>
            <a:ext cx="44805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9E795"/>
                </a:solidFill>
                <a:latin typeface="Consolas"/>
                <a:ea typeface="Consolas"/>
              </a:rPr>
              <a:t>strategy callable: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def strategy(df) -&gt; 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44805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9E795"/>
                </a:solidFill>
                <a:latin typeface="Consolas"/>
                <a:ea typeface="Consolas"/>
              </a:rPr>
              <a:t>symbol: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默认 BTCUSDT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44805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9E795"/>
                </a:solidFill>
                <a:latin typeface="Consolas"/>
                <a:ea typeface="Consolas"/>
              </a:rPr>
              <a:t>interval: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默认 1d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4805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9E795"/>
                </a:solidFill>
                <a:latin typeface="Consolas"/>
                <a:ea typeface="Consolas"/>
              </a:rPr>
              <a:t>limit: </a:t>
            </a: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K 线行数，默认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657600"/>
            <a:ext cx="73152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96167"/>
                </a:solidFill>
                <a:latin typeface="Bahnschrift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01168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7548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输出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60" y="2542032"/>
            <a:ext cx="4937760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0" y="2697480"/>
            <a:ext cx="493776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96167"/>
                </a:solidFill>
                <a:latin typeface="Consolas"/>
                <a:ea typeface="Consolas"/>
              </a:rPr>
              <a:t>sharpe: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夏普比（年化）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72968"/>
            <a:ext cx="493776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96167"/>
                </a:solidFill>
                <a:latin typeface="Consolas"/>
                <a:ea typeface="Consolas"/>
              </a:rPr>
              <a:t>max_drawdown: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最大回撤（如 -0.0424）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48456"/>
            <a:ext cx="493776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96167"/>
                </a:solidFill>
                <a:latin typeface="Consolas"/>
                <a:ea typeface="Consolas"/>
              </a:rPr>
              <a:t>win_rate: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信号触发日胜率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123944"/>
            <a:ext cx="493776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96167"/>
                </a:solidFill>
                <a:latin typeface="Consolas"/>
                <a:ea typeface="Consolas"/>
              </a:rPr>
              <a:t>cumulative_return: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累计收益率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599431"/>
            <a:ext cx="493776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96167"/>
                </a:solidFill>
                <a:latin typeface="Consolas"/>
                <a:ea typeface="Consolas"/>
              </a:rPr>
              <a:t>PNG: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cum_BTCUSDT.png 曲线图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074919"/>
            <a:ext cx="493776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96167"/>
                </a:solidFill>
                <a:latin typeface="Consolas"/>
                <a:ea typeface="Consolas"/>
              </a:rPr>
              <a:t>summary: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~120 字中文总结段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backtest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03 · backtest.py 关键设计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3C7E"/>
                </a:solidFill>
                <a:latin typeface="Calibri"/>
                <a:ea typeface="Microsoft YaHei"/>
              </a:rPr>
              <a:t>策略 callable + signal.shift(1) 防 lookahead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11430000" cy="438912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68E82"/>
                </a:solidFill>
                <a:latin typeface="Consolas"/>
                <a:ea typeface="Consolas"/>
              </a:rPr>
              <a:t>lesson4/project/backtest.py  (核心片段)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395728"/>
            <a:ext cx="10972800" cy="0"/>
          </a:xfrm>
          <a:prstGeom prst="line">
            <a:avLst/>
          </a:prstGeom>
          <a:ln w="7620">
            <a:solidFill>
              <a:srgbClr val="706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14600"/>
            <a:ext cx="10972800" cy="3657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DF7F2"/>
                </a:solidFill>
                <a:latin typeface="Consolas"/>
                <a:ea typeface="Consolas"/>
              </a:rPr>
              <a:t>def run_backtest(strategy, symbol="BTCUSDT",
                  interval="1d", limit=30):
    df = fetch_ohlc(symbol, interval, limit)   # 从 prices.db 取数
    sig = strategy(df)                          # 策略 callable
    # ★ shift(1): 今天信号基于昨天价格，防 lookahead bias
    pos = sig.shift(1).fillna(0)
    ret = df["close"].pct_change().fillna(0)
    strat_ret = pos * ret
    sharpe  = strat_ret.mean() / strat_ret.std() * (252**0.5)
    cum_ret = (1 + strat_ret).cumprod() - 1
    max_dd  = (cum_ret - cum_ret.cummax()).min()
    win_rate = (strat_ret &gt; 0).sum() / (pos != 0).sum()
    # 画曲线 → cum_BTCUSDT.png
    # 生成中文 summary
    return {"sharpe": sharpe, "max_drawdown": max_dd, ...}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035040"/>
            <a:ext cx="11430000" cy="347472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6062472"/>
            <a:ext cx="1097280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9E795"/>
                </a:solidFill>
                <a:latin typeface="Calibri"/>
                <a:ea typeface="Microsoft YaHei"/>
              </a:rPr>
              <a:t>★ signal.shift(1) 是防 lookahead 的核心——今天收盘决定明天仓位，不允许用未来数据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backtest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03 · SKILL.md frontmatter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F3C7E"/>
                </a:solidFill>
                <a:latin typeface="Calibri"/>
                <a:ea typeface="Microsoft YaHei"/>
              </a:rPr>
              <a:t>description 写好写坏，差距在哪里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53035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坏例子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4846320" cy="128016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DF7F2"/>
                </a:solidFill>
                <a:latin typeface="Consolas"/>
                <a:ea typeface="Consolas"/>
              </a:rPr>
              <a:t>---
name: backtest
description: 回测工具
---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46634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04A3E"/>
                </a:solidFill>
                <a:latin typeface="Calibri"/>
                <a:ea typeface="Microsoft YaHei"/>
              </a:rPr>
              <a:t>✗  太宽泛——Claude 不知何时触发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36008"/>
            <a:ext cx="46634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04A3E"/>
                </a:solidFill>
                <a:latin typeface="Calibri"/>
                <a:ea typeface="Microsoft YaHei"/>
              </a:rPr>
              <a:t>✗  没有说输入是什么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20056"/>
            <a:ext cx="46634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04A3E"/>
                </a:solidFill>
                <a:latin typeface="Calibri"/>
                <a:ea typeface="Microsoft YaHei"/>
              </a:rPr>
              <a:t>✗  没有说输出是什么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04104"/>
            <a:ext cx="46634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04A3E"/>
                </a:solidFill>
                <a:latin typeface="Calibri"/>
                <a:ea typeface="Microsoft YaHei"/>
              </a:rPr>
              <a:t>✗  容易误触发 / 不触发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03120"/>
            <a:ext cx="55778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F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2103120"/>
            <a:ext cx="5577840" cy="548640"/>
          </a:xfrm>
          <a:prstGeom prst="rect">
            <a:avLst/>
          </a:prstGeom>
          <a:solidFill>
            <a:srgbClr val="3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63640" y="2103120"/>
            <a:ext cx="55778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好例子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78892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29400" y="2880360"/>
            <a:ext cx="4937760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DF7F2"/>
                </a:solidFill>
                <a:latin typeface="Consolas"/>
                <a:ea typeface="Consolas"/>
              </a:rPr>
              <a:t>---
name: backtest
description: Use when user asks to
  backtest a trading strategy —
  translate to callable → call
  run_backtest → explain result.
---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52120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F7A55"/>
                </a:solidFill>
                <a:latin typeface="Calibri"/>
                <a:ea typeface="Microsoft YaHei"/>
              </a:rPr>
              <a:t>✓  说清楚「何时用」（用户要求回测）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85231"/>
            <a:ext cx="52120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F7A55"/>
                </a:solidFill>
                <a:latin typeface="Calibri"/>
                <a:ea typeface="Microsoft YaHei"/>
              </a:rPr>
              <a:t>✓  说清楚「做什么」（翻译 → 调 → 解读）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backtest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03 · SKILL.md 步骤段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3C7E"/>
                </a:solidFill>
                <a:latin typeface="Calibri"/>
                <a:ea typeface="Microsoft YaHei"/>
              </a:rPr>
              <a:t>5 步——把流程教给 Claude 一次，永久复用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24328" y="3200400"/>
            <a:ext cx="9144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96167"/>
                </a:solidFill>
                <a:latin typeface="Calibri"/>
                <a:ea typeface="Microsoft YaHe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2148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275588" y="2103120"/>
            <a:ext cx="512064" cy="51206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5588" y="210312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翻译策略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310128"/>
            <a:ext cx="178308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3401568"/>
            <a:ext cx="1929384" cy="2651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把用户自然语言描述写成 Python callable
def strategy(df) -&gt; Series，值为 +1/0/-1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3200400"/>
            <a:ext cx="9144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96167"/>
                </a:solidFill>
                <a:latin typeface="Calibri"/>
                <a:ea typeface="Microsoft YaHe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011680"/>
            <a:ext cx="2148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15868" y="2103120"/>
            <a:ext cx="512064" cy="51206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5868" y="210312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校验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80360" y="3310128"/>
            <a:ext cx="178308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07208" y="3401568"/>
            <a:ext cx="1929384" cy="2651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dry-run：信号边界对吗？有无 lookahead？
（shift 由 run_backtest 内部处理，无需手写）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200400"/>
            <a:ext cx="9144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96167"/>
                </a:solidFill>
                <a:latin typeface="Calibri"/>
                <a:ea typeface="Microsoft YaHe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2011680"/>
            <a:ext cx="2148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56148" y="2103120"/>
            <a:ext cx="512064" cy="51206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56148" y="210312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调 run_backtest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20640" y="3310128"/>
            <a:ext cx="178308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47488" y="3401568"/>
            <a:ext cx="1929384" cy="2651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from backtest import run_backtest
result = run_backtest(strategy, 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3200400"/>
            <a:ext cx="9144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96167"/>
                </a:solidFill>
                <a:latin typeface="Calibri"/>
                <a:ea typeface="Microsoft YaHe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2011680"/>
            <a:ext cx="2148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996428" y="2103120"/>
            <a:ext cx="512064" cy="51206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6428" y="210312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解读结果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60920" y="3310128"/>
            <a:ext cx="178308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87768" y="3401568"/>
            <a:ext cx="1929384" cy="2651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用 result['summary'] 给文字总结；
告诉用户 PNG 路径在 result['png_path']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2011680"/>
            <a:ext cx="2148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36708" y="2103120"/>
            <a:ext cx="512064" cy="51206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36708" y="210312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2788920"/>
            <a:ext cx="19659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可选对比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01200" y="3310128"/>
            <a:ext cx="178308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528048" y="3401568"/>
            <a:ext cx="1929384" cy="2651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用户要同时对比多个策略时，
重复 1-4 各一次，最后写对比段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backtest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03 · example_strategies.py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3C7E"/>
                </a:solidFill>
                <a:latin typeface="Calibri"/>
                <a:ea typeface="Microsoft YaHei"/>
              </a:rPr>
              <a:t>两个起手模板——Claude 翻译策略时的参考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onsolas"/>
                <a:ea typeface="Consolas"/>
              </a:rPr>
              <a:t>buy_and_hold  ·  基线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487168"/>
            <a:ext cx="4892040" cy="0"/>
          </a:xfrm>
          <a:prstGeom prst="line">
            <a:avLst/>
          </a:prstGeom>
          <a:ln w="7620">
            <a:solidFill>
              <a:srgbClr val="706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606040"/>
            <a:ext cx="5029200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FDF7F2"/>
                </a:solidFill>
                <a:latin typeface="Consolas"/>
                <a:ea typeface="Consolas"/>
              </a:rPr>
              <a:t>def buy_and_hold(df):
    """始终满仓做多，基线对照"""
    return pd.Series(
        1, index=df.index
   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50292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9E795"/>
                </a:solidFill>
                <a:latin typeface="Calibri"/>
                <a:ea typeface="Microsoft YaHei"/>
              </a:rPr>
              <a:t>始终持有，信号恒为 +1。
用途：给任何策略提供基准对照——
跑赢它才有意义。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11680"/>
            <a:ext cx="5577840" cy="411480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53035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onsolas"/>
                <a:ea typeface="Consolas"/>
              </a:rPr>
              <a:t>ma_crossover_7  ·  均线择时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0" y="2487168"/>
            <a:ext cx="5166360" cy="0"/>
          </a:xfrm>
          <a:prstGeom prst="line">
            <a:avLst/>
          </a:prstGeom>
          <a:ln w="7620">
            <a:solidFill>
              <a:srgbClr val="706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92240" y="2606040"/>
            <a:ext cx="5303520" cy="2651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DF7F2"/>
                </a:solidFill>
                <a:latin typeface="Consolas"/>
                <a:ea typeface="Consolas"/>
              </a:rPr>
              <a:t>def ma_crossover_7(df):
    """close &gt; 7日均线 → 做多"""
    ma7 = df["close"].rolling(7).mean()
    sig = (df["close"] &gt; ma7)
    return sig.map({True:1, False:0})\
              .fillna(0)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37760"/>
            <a:ext cx="530352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9E795"/>
                </a:solidFill>
                <a:latin typeface="Calibri"/>
                <a:ea typeface="Microsoft YaHei"/>
              </a:rPr>
              <a:t>收盘价 &gt; 7 日均线时做多，否则空仓。
最简趋势跟踪——Claude 翻译用户策略
时参考信号格式和 fillna 写法。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F96167"/>
                </a:solidFill>
                <a:latin typeface="Bahnschrift"/>
                <a:ea typeface="Microsoft YaHei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  <a:ea typeface="Microsoft YaHei"/>
              </a:rPr>
              <a:t>用 skill 跑回测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F5ECE1"/>
                </a:solidFill>
                <a:latin typeface="Calibri"/>
                <a:ea typeface="Microsoft YaHei"/>
              </a:rPr>
              <a:t>看真实对比 +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5ECE1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用 skill 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04 · 演示 prompt + 真实结果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F3C7E"/>
                </a:solidFill>
                <a:latin typeface="Calibri"/>
                <a:ea typeface="Microsoft YaHei"/>
              </a:rPr>
              <a:t>两个策略对比——真实数字（2026-05-05 行情）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874519"/>
            <a:ext cx="11430000" cy="1188720"/>
          </a:xfrm>
          <a:prstGeom prst="roundRect">
            <a:avLst>
              <a:gd name="adj" fmla="val 5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96167"/>
                </a:solidFill>
                <a:latin typeface="Consolas"/>
                <a:ea typeface="Consolas"/>
              </a:rPr>
              <a:t>Prompt（整段粘贴）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9728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用 backtest skill 评估：1. buy_and_hold  2. ma_crossover_7  各 30 天日 K 线（BTCUSDT），给我对比报告。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11430000" cy="301752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68E82"/>
                </a:solidFill>
                <a:latin typeface="Consolas"/>
                <a:ea typeface="Consolas"/>
              </a:rPr>
              <a:t>Skill 回测输出（真实数字）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675887"/>
            <a:ext cx="10972800" cy="0"/>
          </a:xfrm>
          <a:prstGeom prst="line">
            <a:avLst/>
          </a:prstGeom>
          <a:ln w="7620">
            <a:solidFill>
              <a:srgbClr val="706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749039"/>
            <a:ext cx="10972800" cy="23774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DF7F2"/>
                </a:solidFill>
                <a:latin typeface="Consolas"/>
                <a:ea typeface="Consolas"/>
              </a:rPr>
              <a:t>Skill(backtest) — strategy 1: buy_and_hold
  { sharpe: 4.6545,  max_drawdown: -0.0424,
    win_rate: 0.6552,  cumulative_return: 0.1737 }
Skill(backtest) — strategy 2: ma_crossover_7
  { sharpe: 2.2799,  max_drawdown: -0.0424,
    win_rate: 0.6471,  cumulative_return: 0.0451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用 skill 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04 · 关键观察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F3C7E"/>
                </a:solidFill>
                <a:latin typeface="Calibri"/>
                <a:ea typeface="Microsoft YaHei"/>
              </a:rPr>
              <a:t>刚才发生了什么——三件值得注意的事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1480" y="2286000"/>
            <a:ext cx="475488" cy="47548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475488" cy="47548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103120"/>
            <a:ext cx="107442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444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Claude 自己翻译策略为 callable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97479"/>
            <a:ext cx="1024128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你没写任何 Python——Claude 看了 SKILL.md 里的约定和
example_strategies.py 的写法，自己生成了正确的策略函数。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749039"/>
            <a:ext cx="475488" cy="47548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49039"/>
            <a:ext cx="475488" cy="47548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566160"/>
            <a:ext cx="107442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3444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主线只看到两次 skill 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60520"/>
            <a:ext cx="1024128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整个对话里只有两次 Skill(backtest) 被调用，
翻译 / 执行 / 解读全部发生在 Claude 内部，不需要你干预。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5212080"/>
            <a:ext cx="475488" cy="47548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212080"/>
            <a:ext cx="475488" cy="47548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5029200"/>
            <a:ext cx="107442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3444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复用而非重写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623560"/>
            <a:ext cx="1024128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下次你要测新策略，prompt 里说「用 backtest skill 评估……」
即可——不需要重新解释「回测是什么」，Skill 已经记住了流程。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用 skill 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04 · 关键认知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3C7E"/>
                </a:solidFill>
                <a:latin typeface="Calibri"/>
                <a:ea typeface="Microsoft YaHei"/>
              </a:rPr>
              <a:t>MCP 消费接口  vs  Skill 造接口给 Claude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212080" cy="5943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21208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MCP（Lesson 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AI 消费 外部系统的接口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01568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sqlite MCP → Claude 执行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77056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Claude 判断何时调用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52544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外部系统提供能力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1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适合：查数据、调 API、读文件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840480"/>
            <a:ext cx="73152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968E82"/>
                </a:solidFill>
                <a:latin typeface="Bahnschrift"/>
                <a:ea typeface="Microsoft YaHei"/>
              </a:rPr>
              <a:t>vs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10312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75120" y="2103120"/>
            <a:ext cx="5212080" cy="5943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521208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Skill（Lesson 4）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你 生产 接口给 Claude 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401568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backtest Skill → Claude 按流程回测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877056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Claude 看到匹配意图就触发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352544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你定义能力和流程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828031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·  适合：高频 + 流程固定的任务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89320"/>
            <a:ext cx="11430000" cy="384048"/>
          </a:xfrm>
          <a:prstGeom prst="roundRect">
            <a:avLst>
              <a:gd name="adj" fmla="val 4000"/>
            </a:avLst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6016752"/>
            <a:ext cx="10972800" cy="3474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F96167"/>
                </a:solidFill>
                <a:latin typeface="Calibri"/>
                <a:ea typeface="Microsoft YaHei"/>
              </a:rPr>
              <a:t>MCP 负责连外部系统；Skill 负责封装可复用流程。两者互补，不冲突。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反模式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04 · 三个常见反模式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3C7E"/>
                </a:solidFill>
                <a:latin typeface="Calibri"/>
                <a:ea typeface="Microsoft YaHei"/>
              </a:rPr>
              <a:t>学会之前先别踩坑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566160" cy="59436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20040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4A3E"/>
                </a:solidFill>
                <a:latin typeface="Calibri"/>
                <a:ea typeface="Microsoft YaHei"/>
              </a:rPr>
              <a:t>写 500 行手册式 SKILL.md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383280"/>
            <a:ext cx="3200400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47472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把所有可能情况都写进 SKILL.md，
Claude 读到一半就搞混，
触发时犹豫不定。
改：步骤保持 3-7 条，每条一句话；
细节放 Python 代码里。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297679" y="2011680"/>
            <a:ext cx="3566160" cy="59436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79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743200"/>
            <a:ext cx="320040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4A3E"/>
                </a:solidFill>
                <a:latin typeface="Calibri"/>
                <a:ea typeface="Microsoft YaHei"/>
              </a:rPr>
              <a:t>让 Skill 决定业务规则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80559" y="3383280"/>
            <a:ext cx="3200401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80559" y="347472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把「夏普 &gt; 2 才算好策略」
硬写进 SKILL.md。
改：业务判断标准放 Rule 或 prompt；
Skill 只管流程，不管业务评判。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0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46719" y="2011680"/>
            <a:ext cx="3566160" cy="59436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46719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743200"/>
            <a:ext cx="320040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4A3E"/>
                </a:solidFill>
                <a:latin typeface="Calibri"/>
                <a:ea typeface="Microsoft YaHei"/>
              </a:rPr>
              <a:t>SKILL.md 内嵌密钥 / 私有路径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599" y="3383280"/>
            <a:ext cx="3200401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599" y="347472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把 API key 或内网路径
写进 SKILL.md，会被 commit
进仓库并被 Claude 每次读到。
改：密钥用 os.getenv()，
SKILL.md 只写变量名。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04 · 作业 Task 1 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F3C7E"/>
                </a:solidFill>
                <a:latin typeface="Calibri"/>
                <a:ea typeface="Microsoft YaHei"/>
              </a:rPr>
              <a:t>从日常工作挑一个高频任务设计成 SKILL.md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103120"/>
            <a:ext cx="217627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176272" cy="5943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190195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代码审查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3401568"/>
            <a:ext cx="1901952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493008"/>
            <a:ext cx="1901952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输入：git diff
输出：风险列表 + P0/P1/P2 等级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103120"/>
            <a:ext cx="217627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743200" y="2103120"/>
            <a:ext cx="2176272" cy="5943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743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834640"/>
            <a:ext cx="190195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日志分析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3401568"/>
            <a:ext cx="1901952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80360" y="3493008"/>
            <a:ext cx="1901952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输入：stderr/log 片段
输出：根因推断 + 修复建议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103120"/>
            <a:ext cx="217627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0" y="2103120"/>
            <a:ext cx="2176272" cy="5943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9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834640"/>
            <a:ext cx="190195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接口文档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66360" y="3401568"/>
            <a:ext cx="1901952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66360" y="3493008"/>
            <a:ext cx="1901952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输入：函数签名 / OpenAPI spec
输出：中文说明 + 请求示例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103120"/>
            <a:ext cx="217627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15200" y="2103120"/>
            <a:ext cx="2176272" cy="5943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834640"/>
            <a:ext cx="190195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SQL 审查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3401568"/>
            <a:ext cx="1901951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52360" y="3493008"/>
            <a:ext cx="1901952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输入：SQL 语句
输出：风险点 + 性能提示 + 改写建议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2103120"/>
            <a:ext cx="217627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601200" y="2103120"/>
            <a:ext cx="2176272" cy="5943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601200" y="2103120"/>
            <a:ext cx="2176272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Bahnschrift"/>
                <a:ea typeface="Microsoft YaHei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834640"/>
            <a:ext cx="1901952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commit message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738360" y="3401568"/>
            <a:ext cx="1901951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738360" y="3493008"/>
            <a:ext cx="1901952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22A36"/>
                </a:solidFill>
                <a:latin typeface="Calibri"/>
                <a:ea typeface="Microsoft YaHei"/>
              </a:rPr>
              <a:t>输入：git diff / 改动列表
输出：规范 commit message（Conventional Commits）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52160"/>
            <a:ext cx="11430000" cy="457200"/>
          </a:xfrm>
          <a:prstGeom prst="roundRect">
            <a:avLst>
              <a:gd name="adj" fmla="val 4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5897880"/>
            <a:ext cx="1097280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F3C7E"/>
                </a:solidFill>
                <a:latin typeface="Calibri"/>
                <a:ea typeface="Microsoft YaHei"/>
              </a:rPr>
              <a:t>选一个你工作里实际用得到的。不要求实现底层代码——只需要 SKILL.md。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04 · 作业提交清单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F3C7E"/>
                </a:solidFill>
                <a:latin typeface="Calibri"/>
                <a:ea typeface="Microsoft YaHei"/>
              </a:rPr>
              <a:t>30 分钟内可完成，不需要写代码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01168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评分维度（3 条）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514600"/>
            <a:ext cx="4937760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48640" y="2743200"/>
            <a:ext cx="347472" cy="34747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34747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448056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description 精准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54096"/>
            <a:ext cx="448056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Claude 看了就知道何时触发、输入输出是什么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31920"/>
            <a:ext cx="347472" cy="34747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34747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448056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步骤原子化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42816"/>
            <a:ext cx="448056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每步一个动作，3-7 条，Claude 不需要猜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120640"/>
            <a:ext cx="347472" cy="34747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347472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448056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反模式明确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31536"/>
            <a:ext cx="448056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至少写出 2 条「不要做什么」约束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2011680"/>
            <a:ext cx="58521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7920" y="2103120"/>
            <a:ext cx="53949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提交清单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0" y="2514600"/>
            <a:ext cx="5486400" cy="0"/>
          </a:xfrm>
          <a:prstGeom prst="line">
            <a:avLst/>
          </a:prstGeom>
          <a:ln w="1016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26480" y="265176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26480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651760"/>
            <a:ext cx="50292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SKILL.md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090672"/>
            <a:ext cx="50292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按 frontmatter + 步骤段 + 反模式格式
写出完整 SKILL.md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404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26480" y="3840480"/>
            <a:ext cx="457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840480"/>
            <a:ext cx="50292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3 句话设计说明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279392"/>
            <a:ext cx="50292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用途 / 触发条件 / 输入输出，各一句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0292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2648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029200"/>
            <a:ext cx="50292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3C7E"/>
                </a:solidFill>
                <a:latin typeface="Calibri"/>
                <a:ea typeface="Microsoft YaHei"/>
              </a:rPr>
              <a:t>加分项截图（可选）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468112"/>
            <a:ext cx="50292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实际在 Claude Code 里跑一次，
提交对话截图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52160"/>
            <a:ext cx="11430000" cy="457200"/>
          </a:xfrm>
          <a:prstGeom prst="roundRect">
            <a:avLst>
              <a:gd name="adj" fmla="val 4000"/>
            </a:avLst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5897880"/>
            <a:ext cx="1097280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F96167"/>
                </a:solidFill>
                <a:latin typeface="Calibri"/>
                <a:ea typeface="Microsoft YaHei"/>
              </a:rPr>
              <a:t>提交方式：SKILL.md + 3 句话说明（+ 可选截图），发到课程群即可。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学完这课你能做什么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F3C7E"/>
                </a:solidFill>
                <a:latin typeface="Calibri"/>
                <a:ea typeface="Microsoft YaHei"/>
              </a:rPr>
              <a:t>4 条 Takeaway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4884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85800" y="260604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40280"/>
            <a:ext cx="4572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用 SKILL.md 沉淀高频任务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07208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把一件事教给 Claude 一次，之后按需触发，
不再每次重新解释流程。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00800" y="260604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40280"/>
            <a:ext cx="4572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区分 5 种扩展方式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07208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Prompt / Rule / Subagent / MCP / Skill，
知道什么场景用什么，不瞎用。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85800" y="466344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297679"/>
            <a:ext cx="4572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逛 5 个 Skill 市场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64607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官方 / Superpowers / ECC / skill.sh / skillsmp，
不从零造轮子，先搜现成。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0624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400800" y="466344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297679"/>
            <a:ext cx="4572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3C7E"/>
                </a:solidFill>
                <a:latin typeface="Calibri"/>
                <a:ea typeface="Microsoft YaHei"/>
              </a:rPr>
              <a:t>description 让 Claude 准确触发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64607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避免「写了 Skill 但 Claude 从不用它」的问题；
写清楚输入、输出、触发时机。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52160"/>
            <a:ext cx="11430000" cy="4572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10972800" cy="40233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F96167"/>
                </a:solidFill>
                <a:latin typeface="Calibri"/>
                <a:ea typeface="Microsoft YaHei"/>
              </a:rPr>
              <a:t>下节课（Lesson 5）：用 OpenSpec 给 backtest 加新策略（双均线）——走完 proposal → specs → tasks → implement 全流程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3C7E"/>
                </a:solidFill>
                <a:latin typeface="Calibri"/>
                <a:ea typeface="Microsoft YaHei"/>
              </a:rPr>
              <a:t>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预告 · Lesson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F3C7E"/>
                </a:solidFill>
                <a:latin typeface="Calibri"/>
                <a:ea typeface="Microsoft YaHei"/>
              </a:rPr>
              <a:t>用 OpenSpec 给 backtest 加新策略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11430000" cy="1920240"/>
          </a:xfrm>
          <a:prstGeom prst="roundRect">
            <a:avLst>
              <a:gd name="adj" fmla="val 6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96167"/>
                </a:solidFill>
                <a:latin typeface="Calibri"/>
                <a:ea typeface="Microsoft YaHei"/>
              </a:rPr>
              <a:t>任务目标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097280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  <a:ea typeface="Microsoft YaHei"/>
              </a:rPr>
              <a:t>把「双均线策略（MA7 穿越 MA14）」作为 feature，
用 OpenSpec 走完 proposal → specs → design → tasks → implement 全流程。
本节课写好的 backtest Skill 在 Lesson 5 里会继续被消费——造好接口的价值在后续 lesson 里不断兑现。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05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201168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Proposal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4773168"/>
            <a:ext cx="164592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846320"/>
            <a:ext cx="18288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2F3C7E"/>
                </a:solidFill>
                <a:latin typeface="Calibri"/>
                <a:ea typeface="Microsoft YaHei"/>
              </a:rPr>
              <a:t>提出 feature，
说明动机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663440"/>
            <a:ext cx="182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96167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41605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34640" y="4160520"/>
            <a:ext cx="201168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Specs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17520" y="4773168"/>
            <a:ext cx="164592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26080" y="4846320"/>
            <a:ext cx="18288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2F3C7E"/>
                </a:solidFill>
                <a:latin typeface="Calibri"/>
                <a:ea typeface="Microsoft YaHei"/>
              </a:rPr>
              <a:t>OpenSpec 形式化
需求描述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663440"/>
            <a:ext cx="182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96167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1605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74920" y="4160520"/>
            <a:ext cx="201168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Design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57800" y="4773168"/>
            <a:ext cx="164592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6360" y="4846320"/>
            <a:ext cx="18288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2F3C7E"/>
                </a:solidFill>
                <a:latin typeface="Calibri"/>
                <a:ea typeface="Microsoft YaHei"/>
              </a:rPr>
              <a:t>接口设计 +
数据结构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663440"/>
            <a:ext cx="182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96167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1605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0" y="4160520"/>
            <a:ext cx="201168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F3C7E"/>
                </a:solidFill>
                <a:latin typeface="Calibri"/>
                <a:ea typeface="Microsoft YaHei"/>
              </a:rPr>
              <a:t>Tasks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79" y="4773168"/>
            <a:ext cx="1645921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06640" y="4846320"/>
            <a:ext cx="18288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2F3C7E"/>
                </a:solidFill>
                <a:latin typeface="Calibri"/>
                <a:ea typeface="Microsoft YaHei"/>
              </a:rPr>
              <a:t>拆分可执行
开发任务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663440"/>
            <a:ext cx="182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96167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416052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555480" y="4160520"/>
            <a:ext cx="201168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Implement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38360" y="4773168"/>
            <a:ext cx="1645920" cy="0"/>
          </a:xfrm>
          <a:prstGeom prst="line">
            <a:avLst/>
          </a:prstGeom>
          <a:ln w="7620">
            <a:solidFill>
              <a:srgbClr val="E6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46920" y="4846320"/>
            <a:ext cx="18288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Claude 逐一
实现任务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52160"/>
            <a:ext cx="11430000" cy="457200"/>
          </a:xfrm>
          <a:prstGeom prst="roundRect">
            <a:avLst>
              <a:gd name="adj" fmla="val 4000"/>
            </a:avLst>
          </a:prstGeom>
          <a:solidFill>
            <a:srgbClr val="F5ECE1"/>
          </a:solidFill>
          <a:ln w="9525">
            <a:solidFill>
              <a:srgbClr val="E6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5897880"/>
            <a:ext cx="1097280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F3C7E"/>
                </a:solidFill>
                <a:latin typeface="Calibri"/>
                <a:ea typeface="Microsoft YaHei"/>
              </a:rPr>
              <a:t>你会看到：有了 backtest Skill，Lesson 5 的 implement 阶段只需要描述策略，Claude 自己接好引擎。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68E82"/>
                </a:solidFill>
                <a:latin typeface="Calibri"/>
                <a:ea typeface="Microsoft YaHe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1828800"/>
            <a:ext cx="146304" cy="320040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966960" y="1965960"/>
            <a:ext cx="146304" cy="292608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32720" y="2103120"/>
            <a:ext cx="146304" cy="26517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0" y="2240280"/>
            <a:ext cx="146304" cy="237744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064240" y="2377440"/>
            <a:ext cx="146304" cy="210312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0" y="2514600"/>
            <a:ext cx="146304" cy="1828800"/>
          </a:xfrm>
          <a:prstGeom prst="rect">
            <a:avLst/>
          </a:prstGeom>
          <a:solidFill>
            <a:srgbClr val="1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3657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96167"/>
                </a:solidFill>
                <a:latin typeface="Calibri"/>
                <a:ea typeface="Microsoft YaHei"/>
              </a:rPr>
              <a:t>Have fun  ·  延伸阅读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920240"/>
            <a:ext cx="3749040" cy="0"/>
          </a:xfrm>
          <a:prstGeom prst="line">
            <a:avLst/>
          </a:prstGeom>
          <a:ln w="1905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286000"/>
            <a:ext cx="8686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F5ECE1"/>
                </a:solidFill>
                <a:latin typeface="Calibri"/>
                <a:ea typeface="Microsoft YaHei"/>
              </a:rPr>
              <a:t>Skill 生态还在扩展——造好接口，社区共享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8595360" cy="676656"/>
          </a:xfrm>
          <a:prstGeom prst="roundRect">
            <a:avLst>
              <a:gd name="adj" fmla="val 5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054096"/>
            <a:ext cx="38404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Anthropic 官方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39"/>
            <a:ext cx="813816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github.com/anthropics/skills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8138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5ECE1"/>
                </a:solidFill>
                <a:latin typeface="Calibri"/>
                <a:ea typeface="Microsoft YaHei"/>
              </a:rPr>
              <a:t>reference skill 集合，SKILL.md 规范最权威，适合入门参考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76472"/>
            <a:ext cx="8595360" cy="676656"/>
          </a:xfrm>
          <a:prstGeom prst="roundRect">
            <a:avLst>
              <a:gd name="adj" fmla="val 5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38404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Superpowers（已在 lesson 2 装过）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50791"/>
            <a:ext cx="813816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github.com/obra/superpowers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33672"/>
            <a:ext cx="8138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5ECE1"/>
                </a:solidFill>
                <a:latin typeface="Calibri"/>
                <a:ea typeface="Microsoft YaHei"/>
              </a:rPr>
              <a:t>brainstorming / TDD / code-review 等方法论 Skill，开箱即用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35424"/>
            <a:ext cx="8595360" cy="676656"/>
          </a:xfrm>
          <a:prstGeom prst="roundRect">
            <a:avLst>
              <a:gd name="adj" fmla="val 5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38404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Everything Claude Code (ECC)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9744"/>
            <a:ext cx="813816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github.com/affaan-m/everything-claude-code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92624"/>
            <a:ext cx="8138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5ECE1"/>
                </a:solidFill>
                <a:latin typeface="Calibri"/>
                <a:ea typeface="Microsoft YaHei"/>
              </a:rPr>
              <a:t>工程类 skill 集合（build / lint / test / review），含本课 skill marketplace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94376"/>
            <a:ext cx="8595360" cy="676656"/>
          </a:xfrm>
          <a:prstGeom prst="roundRect">
            <a:avLst>
              <a:gd name="adj" fmla="val 5000"/>
            </a:avLst>
          </a:prstGeom>
          <a:solidFill>
            <a:srgbClr val="1F2A5F"/>
          </a:solidFill>
          <a:ln w="952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5840" y="5330952"/>
            <a:ext cx="38404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96167"/>
                </a:solidFill>
                <a:latin typeface="Calibri"/>
                <a:ea typeface="Microsoft YaHei"/>
              </a:rPr>
              <a:t>Anthropic Blog — Agent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68696"/>
            <a:ext cx="813816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anthropic.com/engineering/equipping-agents-for-the-real-world-with-agent-skills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51576"/>
            <a:ext cx="8138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5ECE1"/>
                </a:solidFill>
                <a:latin typeface="Calibri"/>
                <a:ea typeface="Microsoft YaHei"/>
              </a:rPr>
              <a:t>官方关于 Skill 设计的最佳实践博客，讲清楚 description 的重要性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5ECE1"/>
                </a:solidFill>
                <a:latin typeface="Calibri"/>
                <a:ea typeface="Microsoft YaHei"/>
              </a:rPr>
              <a:t>Lesson 04  ·  Skill 设计与能力沉淀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