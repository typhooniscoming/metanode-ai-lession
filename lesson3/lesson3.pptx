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1600200"/>
            <a:ext cx="146304" cy="3657600"/>
          </a:xfrm>
          <a:prstGeom prst="rect">
            <a:avLst/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966960" y="1737360"/>
            <a:ext cx="146304" cy="3383280"/>
          </a:xfrm>
          <a:prstGeom prst="rect">
            <a:avLst/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332720" y="1874519"/>
            <a:ext cx="146304" cy="310896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98480" y="2011680"/>
            <a:ext cx="146304" cy="2834640"/>
          </a:xfrm>
          <a:prstGeom prst="rect">
            <a:avLst/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064240" y="2148840"/>
            <a:ext cx="146304" cy="2560320"/>
          </a:xfrm>
          <a:prstGeom prst="rect">
            <a:avLst/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0" y="2286000"/>
            <a:ext cx="146304" cy="2286000"/>
          </a:xfrm>
          <a:prstGeom prst="rect">
            <a:avLst/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3657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7BC62"/>
                </a:solidFill>
                <a:latin typeface="Calibri"/>
                <a:ea typeface="Microsoft YaHei"/>
              </a:rPr>
              <a:t>LESSON  03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207008"/>
            <a:ext cx="822960" cy="0"/>
          </a:xfrm>
          <a:prstGeom prst="line">
            <a:avLst/>
          </a:prstGeom>
          <a:ln w="190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1645920"/>
            <a:ext cx="91440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  <a:ea typeface="Microsoft YaHei"/>
              </a:rPr>
              <a:t>MCP 与外部能力接入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82296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E8E8DC"/>
                </a:solidFill>
                <a:latin typeface="Calibri"/>
                <a:ea typeface="Microsoft YaHei"/>
              </a:rPr>
              <a:t>让 AI 看见你环境之外的东西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859536" cy="411480"/>
          </a:xfrm>
          <a:prstGeom prst="roundRect">
            <a:avLst>
              <a:gd name="adj" fmla="val 8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85953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Consolas"/>
                <a:ea typeface="Consolas"/>
              </a:rP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3840480"/>
            <a:ext cx="1298448" cy="411480"/>
          </a:xfrm>
          <a:prstGeom prst="roundRect">
            <a:avLst>
              <a:gd name="adj" fmla="val 8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47088" y="3840480"/>
            <a:ext cx="1298448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Consolas"/>
                <a:ea typeface="Consolas"/>
              </a:rPr>
              <a:t>filesystem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3840480"/>
            <a:ext cx="859536" cy="411480"/>
          </a:xfrm>
          <a:prstGeom prst="roundRect">
            <a:avLst>
              <a:gd name="adj" fmla="val 8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10128" y="3840480"/>
            <a:ext cx="859536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Consolas"/>
                <a:ea typeface="Consolas"/>
              </a:rPr>
              <a:t>github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3840480"/>
            <a:ext cx="1298448" cy="411480"/>
          </a:xfrm>
          <a:prstGeom prst="roundRect">
            <a:avLst>
              <a:gd name="adj" fmla="val 8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34256" y="3840480"/>
            <a:ext cx="1298448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5F5F5"/>
                </a:solidFill>
                <a:latin typeface="Consolas"/>
                <a:ea typeface="Consolas"/>
              </a:rPr>
              <a:t>read_query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6126480"/>
            <a:ext cx="4663440" cy="0"/>
          </a:xfrm>
          <a:prstGeom prst="line">
            <a:avLst/>
          </a:prstGeom>
          <a:ln w="12700">
            <a:solidFill>
              <a:srgbClr val="1F4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8DC"/>
                </a:solidFill>
                <a:latin typeface="Calibri"/>
                <a:ea typeface="Microsoft YaHei"/>
              </a:rPr>
              <a:t>25 min  ·  一杯茶时间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AGENDA  ·  今日路线图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C5F2D"/>
                </a:solidFill>
                <a:latin typeface="Calibri"/>
                <a:ea typeface="Microsoft YaHei"/>
              </a:rPr>
              <a:t>四件事，递进展开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10312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97BC62"/>
                </a:solidFill>
                <a:latin typeface="Bahnschrift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2316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C5F2D"/>
                </a:solidFill>
                <a:latin typeface="Calibri"/>
                <a:ea typeface="Microsoft YaHei"/>
              </a:rPr>
              <a:t>MCP 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01752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给 AI 一个统一的
「呼叫外部能力」接口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3794760"/>
            <a:ext cx="3474719" cy="0"/>
          </a:xfrm>
          <a:prstGeom prst="line">
            <a:avLst/>
          </a:prstGeom>
          <a:ln w="1016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385876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8476"/>
                </a:solidFill>
                <a:latin typeface="Calibri"/>
                <a:ea typeface="Microsoft YaHei"/>
              </a:rPr>
              <a:t>类比 · 三原语 · 与 Hook 的对比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235915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97BC62"/>
                </a:solidFill>
                <a:latin typeface="Bahnschrift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423160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C5F2D"/>
                </a:solidFill>
                <a:latin typeface="Calibri"/>
                <a:ea typeface="Microsoft YaHei"/>
              </a:rPr>
              <a:t>装上 sqlite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01752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5 分钟，零账户，
三步走完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3794760"/>
            <a:ext cx="3474720" cy="0"/>
          </a:xfrm>
          <a:prstGeom prst="line">
            <a:avLst/>
          </a:prstGeom>
          <a:ln w="1016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09560" y="385876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8476"/>
                </a:solidFill>
                <a:latin typeface="Calibri"/>
                <a:ea typeface="Microsoft YaHei"/>
              </a:rPr>
              <a:t>seed_db · .mcp.json · 排错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46227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97BC62"/>
                </a:solidFill>
                <a:latin typeface="Bahnschrift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526279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C5F2D"/>
                </a:solidFill>
                <a:latin typeface="Calibri"/>
                <a:ea typeface="Microsoft YaHei"/>
              </a:rPr>
              <a:t>让 AI 自己写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MCP 给的是接口，
不是数据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5897879"/>
            <a:ext cx="3474719" cy="0"/>
          </a:xfrm>
          <a:prstGeom prst="line">
            <a:avLst/>
          </a:prstGeom>
          <a:ln w="1016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0280" y="596188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8476"/>
                </a:solidFill>
                <a:latin typeface="Calibri"/>
                <a:ea typeface="Microsoft YaHei"/>
              </a:rPr>
              <a:t>prompt 范本 · 期望对话 · 关键观察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624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0" y="4462272"/>
            <a:ext cx="1371600" cy="914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97BC62"/>
                </a:solidFill>
                <a:latin typeface="Bahnschrift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526279"/>
            <a:ext cx="3657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C5F2D"/>
                </a:solidFill>
                <a:latin typeface="Calibri"/>
                <a:ea typeface="Microsoft YaHei"/>
              </a:rPr>
              <a:t>反模式 + 作业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教学版全开
不等于生产配置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5897879"/>
            <a:ext cx="3474720" cy="0"/>
          </a:xfrm>
          <a:prstGeom prst="line">
            <a:avLst/>
          </a:prstGeom>
          <a:ln w="1016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596188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8476"/>
                </a:solidFill>
                <a:latin typeface="Calibri"/>
                <a:ea typeface="Microsoft YaHei"/>
              </a:rPr>
              <a:t>权限边界 · 3 反模式 · 提交清单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97BC62"/>
                </a:solidFill>
                <a:latin typeface="Bahnschrift"/>
                <a:ea typeface="Microsoft YaHei"/>
              </a:rPr>
              <a:t>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MCP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8E8DC"/>
                </a:solidFill>
                <a:latin typeface="Calibri"/>
                <a:ea typeface="Microsoft YaHei"/>
              </a:rPr>
              <a:t>给 AI 一个统一的「呼叫外部能力」接口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8E8DC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MCP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01 · 一个类比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C5F2D"/>
                </a:solidFill>
                <a:latin typeface="Calibri"/>
                <a:ea typeface="Microsoft YaHei"/>
              </a:rPr>
              <a:t>MCP 之于 AI  =  USB 之于电脑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7BC62"/>
                </a:solidFill>
                <a:latin typeface="Calibri"/>
                <a:ea typeface="Microsoft YaHei"/>
              </a:rPr>
              <a:t>核心类比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45720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  <a:ea typeface="Microsoft YaHei"/>
              </a:rPr>
              <a:t>USB 出现之前，每个外设都要专用驱动。
USB 出现之后，电脑只要会「说 USB」，
就能接任何键盘、U 盘、摄像头。
MCP 做的是同一件事：
只要 AI 会「说 MCP」，
就能连接任何外部能力。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2011680" cy="10972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AI
(Claude Code)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651760"/>
            <a:ext cx="731520" cy="365760"/>
          </a:xfrm>
          <a:prstGeom prst="roundRect">
            <a:avLst>
              <a:gd name="adj" fmla="val 6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7315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MCP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2834640"/>
            <a:ext cx="27432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2834640"/>
            <a:ext cx="27432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9760" y="228600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E8E8DC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9760" y="2286000"/>
            <a:ext cx="2011680" cy="10972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C5F2D"/>
                </a:solidFill>
                <a:latin typeface="Calibri"/>
                <a:ea typeface="Microsoft YaHei"/>
              </a:rPr>
              <a:t>MCP Server
(sqlite / github…)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3886200"/>
            <a:ext cx="256032" cy="256032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886200"/>
            <a:ext cx="25603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40480"/>
            <a:ext cx="53035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6"/>
                </a:solidFill>
                <a:latin typeface="Calibri"/>
                <a:ea typeface="Microsoft YaHei"/>
              </a:rPr>
              <a:t>sqlite（查询本地 DB）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4526280"/>
            <a:ext cx="256032" cy="256032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526280"/>
            <a:ext cx="25603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80560"/>
            <a:ext cx="53035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6"/>
                </a:solidFill>
                <a:latin typeface="Calibri"/>
                <a:ea typeface="Microsoft YaHei"/>
              </a:rPr>
              <a:t>filesystem（读写文件）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5166359"/>
            <a:ext cx="256032" cy="256032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5166359"/>
            <a:ext cx="25603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120640"/>
            <a:ext cx="53035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A36"/>
                </a:solidFill>
                <a:latin typeface="Calibri"/>
                <a:ea typeface="Microsoft YaHei"/>
              </a:rPr>
              <a:t>github（管理 Repo）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MCP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01 · MCP 三原语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MCP 只有三种对象——但它们分工明确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34747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474720" cy="54864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47472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2743200"/>
            <a:ext cx="2926079" cy="347472"/>
          </a:xfrm>
          <a:prstGeom prst="roundRect">
            <a:avLst>
              <a:gd name="adj" fmla="val 10000"/>
            </a:avLst>
          </a:prstGeom>
          <a:solidFill>
            <a:srgbClr val="E8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2743200"/>
            <a:ext cx="2926079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AI 主动调用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246120"/>
            <a:ext cx="301752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AI 主动触发外部操作。
例：read_query（查 SQL）
    write_file（写文件）
    create_issue（建 Issue）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011680"/>
            <a:ext cx="34747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206240" y="2011680"/>
            <a:ext cx="3474720" cy="54864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06240" y="2011680"/>
            <a:ext cx="347472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</a:rPr>
              <a:t>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743200"/>
            <a:ext cx="2926079" cy="347472"/>
          </a:xfrm>
          <a:prstGeom prst="roundRect">
            <a:avLst>
              <a:gd name="adj" fmla="val 10000"/>
            </a:avLst>
          </a:prstGeom>
          <a:solidFill>
            <a:srgbClr val="E8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0559" y="2743200"/>
            <a:ext cx="2926079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5F2D"/>
                </a:solidFill>
                <a:latin typeface="Calibri"/>
                <a:ea typeface="Microsoft YaHei"/>
              </a:rPr>
              <a:t>AI 主动读取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246120"/>
            <a:ext cx="301752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AI 像读文件一样
读取外部数据源。
例：file:///path/to/data
    db://table/schema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011680"/>
            <a:ext cx="34747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863840" y="2011680"/>
            <a:ext cx="3474720" cy="548640"/>
          </a:xfrm>
          <a:prstGeom prst="rect">
            <a:avLst/>
          </a:prstGeom>
          <a:solidFill>
            <a:srgbClr val="3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0" y="2011680"/>
            <a:ext cx="347472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Microsoft YaHei"/>
              </a:rPr>
              <a:t>Prompts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743200"/>
            <a:ext cx="2926079" cy="347472"/>
          </a:xfrm>
          <a:prstGeom prst="roundRect">
            <a:avLst>
              <a:gd name="adj" fmla="val 10000"/>
            </a:avLst>
          </a:prstGeom>
          <a:solidFill>
            <a:srgbClr val="E8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38160" y="2743200"/>
            <a:ext cx="2926079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F7A55"/>
                </a:solidFill>
                <a:latin typeface="Calibri"/>
                <a:ea typeface="Microsoft YaHei"/>
              </a:rPr>
              <a:t>人 invoke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46120"/>
            <a:ext cx="301752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预设的 prompt 模板，
由用户（或斜杠命令）触发。
例：/summarize-pr
    /weekly-report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MCP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01 · 概念定位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MCP vs Hook vs Subagent——各司其职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97480" y="1874519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97480" y="1874519"/>
            <a:ext cx="274320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874519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40680" y="1874519"/>
            <a:ext cx="274320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Hook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74519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83879" y="1874519"/>
            <a:ext cx="274320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</a:rPr>
              <a:t>Subagent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68880"/>
            <a:ext cx="11384280" cy="777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11480" y="2606040"/>
            <a:ext cx="22860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5F2D"/>
                </a:solidFill>
                <a:latin typeface="Calibri"/>
                <a:ea typeface="Microsoft YaHei"/>
              </a:rPr>
              <a:t>触发方式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56032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AI 主动调用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56032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事件驱动
（pre/post）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6032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AI 主动 Task 派发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" y="3246120"/>
            <a:ext cx="1138428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11480" y="3291840"/>
            <a:ext cx="113842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11480" y="3429000"/>
            <a:ext cx="22860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5F2D"/>
                </a:solidFill>
                <a:latin typeface="Calibri"/>
                <a:ea typeface="Microsoft YaHei"/>
              </a:rPr>
              <a:t>上下文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38328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主线共享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38328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独立 shell 进程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338328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全新独立上下文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" y="4069080"/>
            <a:ext cx="1138428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11480" y="4114800"/>
            <a:ext cx="11384280" cy="777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1480" y="4251960"/>
            <a:ext cx="22860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5F2D"/>
                </a:solidFill>
                <a:latin typeface="Calibri"/>
                <a:ea typeface="Microsoft YaHei"/>
              </a:rPr>
              <a:t>典型用途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20624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查询外部系统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20624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自动化 / 日志 / 格式化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20624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复杂子任务 / 探索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" y="4892040"/>
            <a:ext cx="1138428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11480" y="4937760"/>
            <a:ext cx="113842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11480" y="5074920"/>
            <a:ext cx="22860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C5F2D"/>
                </a:solidFill>
                <a:latin typeface="Calibri"/>
                <a:ea typeface="Microsoft YaHei"/>
              </a:rPr>
              <a:t>代表例子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02920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onsolas"/>
                <a:ea typeface="Consolas"/>
              </a:rPr>
              <a:t>sqlite read_query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502920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bash 记录日志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5029200"/>
            <a:ext cx="2560320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审阅 / 研究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" y="5715000"/>
            <a:ext cx="1138428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97BC62"/>
                </a:solidFill>
                <a:latin typeface="Bahnschrift"/>
                <a:ea typeface="Microsoft YaHei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  <a:ea typeface="Microsoft YaHei"/>
              </a:rPr>
              <a:t>动手做：装上 sqlite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8E8DC"/>
                </a:solidFill>
                <a:latin typeface="Calibri"/>
                <a:ea typeface="Microsoft YaHei"/>
              </a:rPr>
              <a:t>5 分钟，零账户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8E8DC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sqlite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02 · 三步走概览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C5F2D"/>
                </a:solidFill>
                <a:latin typeface="Consolas"/>
                <a:ea typeface="Consolas"/>
              </a:rPr>
              <a:t>cd → seed_db → .mcp.json → claude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926080"/>
            <a:ext cx="1645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7BC62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600199" y="2057400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199" y="2057400"/>
            <a:ext cx="5486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237744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准备目录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2377440" cy="246888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2194560" cy="2194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BC62"/>
                </a:solidFill>
                <a:latin typeface="Consolas"/>
                <a:ea typeface="Consolas"/>
              </a:rPr>
              <a:t>cd lesson3/project/
pip install requests
python seed_db.py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926080"/>
            <a:ext cx="1645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7BC62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92024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389120" y="2057400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057400"/>
            <a:ext cx="5486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788920"/>
            <a:ext cx="237744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配置 MCP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429000"/>
            <a:ext cx="2377440" cy="246888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66160" y="3566160"/>
            <a:ext cx="2194560" cy="2194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BC62"/>
                </a:solidFill>
                <a:latin typeface="Consolas"/>
                <a:ea typeface="Consolas"/>
              </a:rPr>
              <a:t>cat .mcp.json
# 确认 db-path 配置正确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926080"/>
            <a:ext cx="164592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7BC62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192024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178039" y="2057400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39" y="2057400"/>
            <a:ext cx="5486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88920"/>
            <a:ext cx="237744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启动 Claude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29000"/>
            <a:ext cx="2377440" cy="246888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55079" y="3566160"/>
            <a:ext cx="2194560" cy="2194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BC62"/>
                </a:solidFill>
                <a:latin typeface="Consolas"/>
                <a:ea typeface="Consolas"/>
              </a:rPr>
              <a:t>cd lesson3/project &amp;&amp; claude
# 必须在 lesson3/project/ 目录下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399" y="192024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966959" y="2057400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59" y="2057400"/>
            <a:ext cx="54864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2788920"/>
            <a:ext cx="237744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验证连接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59" y="3429000"/>
            <a:ext cx="2377440" cy="2468880"/>
          </a:xfrm>
          <a:prstGeom prst="roundRect">
            <a:avLst>
              <a:gd name="adj" fmla="val 4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43999" y="3566160"/>
            <a:ext cx="2194560" cy="2194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97BC62"/>
                </a:solidFill>
                <a:latin typeface="Consolas"/>
                <a:ea typeface="Consolas"/>
              </a:rPr>
              <a:t>问：列出 ohlc 表的字段
# AI 会自动调用 sqlite 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sqlite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02 · 步骤 1 + 2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准备目录 → 生成本地 prices.db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6858000" cy="420624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476"/>
                </a:solidFill>
                <a:latin typeface="Consolas"/>
                <a:ea typeface="Consolas"/>
              </a:rPr>
              <a:t>Terminal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423160"/>
            <a:ext cx="6446520" cy="0"/>
          </a:xfrm>
          <a:prstGeom prst="line">
            <a:avLst/>
          </a:prstGeom>
          <a:ln w="7620">
            <a:solidFill>
              <a:srgbClr val="5C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60320"/>
            <a:ext cx="6400800" cy="1828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97BC62"/>
                </a:solidFill>
                <a:latin typeface="Consolas"/>
                <a:ea typeface="Consolas"/>
              </a:rPr>
              <a:t>$ cd ~/project
$ pip install requests
$ python seed_db.py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6400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8476"/>
                </a:solidFill>
                <a:latin typeface="Calibri"/>
                <a:ea typeface="Microsoft YaHei"/>
              </a:rPr>
              <a:t>期望输出（stderr）：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6400800" cy="1188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3F7A55"/>
                </a:solidFill>
                <a:latin typeface="Consolas"/>
                <a:ea typeface="Consolas"/>
              </a:rPr>
              <a:t>[INFO] 正在从 Binance/MEXC 拉取 BTCUSDT 日线数据…
[INFO] 写入 prices.db  ohlc 表  30 行 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41148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为什么这两步？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514600"/>
            <a:ext cx="4114800" cy="1051560"/>
          </a:xfrm>
          <a:prstGeom prst="roundRect">
            <a:avLst>
              <a:gd name="adj" fmla="val 4000"/>
            </a:avLst>
          </a:prstGeom>
          <a:solidFill>
            <a:srgbClr val="E8E8DC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1828800" cy="3474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C5F2D"/>
                </a:solidFill>
                <a:latin typeface="Consolas"/>
                <a:ea typeface="Consolas"/>
              </a:rPr>
              <a:t>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953512"/>
            <a:ext cx="3749039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seed_db.py 从 Binance
拉取 K 线数据，需要此库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703320"/>
            <a:ext cx="4114800" cy="1051560"/>
          </a:xfrm>
          <a:prstGeom prst="roundRect">
            <a:avLst>
              <a:gd name="adj" fmla="val 4000"/>
            </a:avLst>
          </a:prstGeom>
          <a:solidFill>
            <a:srgbClr val="E8E8DC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09560" y="3776472"/>
            <a:ext cx="1828800" cy="3474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C5F2D"/>
                </a:solidFill>
                <a:latin typeface="Consolas"/>
                <a:ea typeface="Consolas"/>
              </a:rPr>
              <a:t>seed_db.py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142231"/>
            <a:ext cx="3749039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自动建表、写入 30 天
BTCUSDT 日线 OHLC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892040"/>
            <a:ext cx="4114800" cy="1051560"/>
          </a:xfrm>
          <a:prstGeom prst="roundRect">
            <a:avLst>
              <a:gd name="adj" fmla="val 4000"/>
            </a:avLst>
          </a:prstGeom>
          <a:solidFill>
            <a:srgbClr val="E8E8DC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09560" y="4965192"/>
            <a:ext cx="1828800" cy="34747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C5F2D"/>
                </a:solidFill>
                <a:latin typeface="Consolas"/>
                <a:ea typeface="Consolas"/>
              </a:rPr>
              <a:t>prices.db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330952"/>
            <a:ext cx="3749039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SQLite 文件，MCP server
只需这一个本地文件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sqlite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02 · 步骤 3：配置 .mcp.json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C5F2D"/>
                </a:solidFill>
                <a:latin typeface="Calibri"/>
                <a:ea typeface="Microsoft YaHei"/>
              </a:rPr>
              <a:t>MCP 配置文件：告诉 Claude 去哪里找能力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6858000" cy="429768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476"/>
                </a:solidFill>
                <a:latin typeface="Consolas"/>
                <a:ea typeface="Consolas"/>
              </a:rPr>
              <a:t>.mcp.json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423160"/>
            <a:ext cx="6446520" cy="0"/>
          </a:xfrm>
          <a:prstGeom prst="line">
            <a:avLst/>
          </a:prstGeom>
          <a:ln w="7620">
            <a:solidFill>
              <a:srgbClr val="5C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14600"/>
            <a:ext cx="6400800" cy="34747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5F5F5"/>
                </a:solidFill>
                <a:latin typeface="Consolas"/>
                <a:ea typeface="Consolas"/>
              </a:rPr>
              <a:t>{
  "mcpServers": {
    "sqlite": {
      "command": "uvx",
      "args": [
        "mcp-server-sqlite",
        "--db-path", "prices.db"
      ]
    }
  }
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920240"/>
            <a:ext cx="4114800" cy="201168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09560" y="2011680"/>
            <a:ext cx="374903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7BC62"/>
                </a:solidFill>
                <a:latin typeface="Calibri"/>
                <a:ea typeface="Microsoft YaHei"/>
              </a:rPr>
              <a:t>为什么 db-path 是相对路径？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68880"/>
            <a:ext cx="3749039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Microsoft YaHei"/>
              </a:rPr>
              <a:t>Claude Code 在启动目录下执行，
所以 prices.db 要放在
lesson3/project/ 根目录。
用绝对路径也可以，但不便携。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114800"/>
            <a:ext cx="4114800" cy="2103120"/>
          </a:xfrm>
          <a:prstGeom prst="roundRect">
            <a:avLst>
              <a:gd name="adj" fmla="val 6000"/>
            </a:avLst>
          </a:prstGeom>
          <a:solidFill>
            <a:srgbClr val="E8E8DC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09560" y="4206240"/>
            <a:ext cx="374903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C5F2D"/>
                </a:solidFill>
                <a:latin typeface="Calibri"/>
                <a:ea typeface="Microsoft YaHei"/>
              </a:rPr>
              <a:t>关键字段说明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663440"/>
            <a:ext cx="374903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C5F2D"/>
                </a:solidFill>
                <a:latin typeface="Consolas"/>
                <a:ea typeface="Consolas"/>
              </a:rPr>
              <a:t>command: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uvx（自动安装/运行）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074920"/>
            <a:ext cx="374903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C5F2D"/>
                </a:solidFill>
                <a:latin typeface="Consolas"/>
                <a:ea typeface="Consolas"/>
              </a:rPr>
              <a:t>args[0]: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mcp-server-sqlite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486400"/>
            <a:ext cx="3749039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C5F2D"/>
                </a:solidFill>
                <a:latin typeface="Consolas"/>
                <a:ea typeface="Consolas"/>
              </a:rPr>
              <a:t>--db-path: </a:t>
            </a: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SQLite 文件路径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sqlite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02 · 步骤 4：启动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必须从 lesson3/project/ 目录启动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476"/>
                </a:solidFill>
                <a:latin typeface="Consolas"/>
                <a:ea typeface="Consolas"/>
              </a:rPr>
              <a:t>Terminal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423160"/>
            <a:ext cx="5532120" cy="0"/>
          </a:xfrm>
          <a:prstGeom prst="line">
            <a:avLst/>
          </a:prstGeom>
          <a:ln w="7620">
            <a:solidFill>
              <a:srgbClr val="5C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60320"/>
            <a:ext cx="54864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7BC62"/>
                </a:solidFill>
                <a:latin typeface="Consolas"/>
                <a:ea typeface="Consolas"/>
              </a:rPr>
              <a:t>$ cd lesson3/project &amp;&amp; claude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11430000" cy="256032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109728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7BC62"/>
                </a:solidFill>
                <a:latin typeface="Calibri"/>
                <a:ea typeface="Microsoft YaHei"/>
              </a:rPr>
              <a:t>为什么必须 cd 到 lesson3/project/ 目录？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4251960"/>
            <a:ext cx="10972800" cy="0"/>
          </a:xfrm>
          <a:prstGeom prst="line">
            <a:avLst/>
          </a:prstGeom>
          <a:ln w="1016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389120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  <a:ea typeface="Microsoft YaHei"/>
              </a:rPr>
              <a:t>1  Claude Code 以启动目录作为工作目录，MCP server 也继承这个目录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37759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  <a:ea typeface="Microsoft YaHei"/>
              </a:rPr>
              <a:t>2  .mcp.json 里 db-path = "prices.db" 是相对路径，必须在同级才能找到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86399"/>
            <a:ext cx="10972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  <a:ea typeface="Microsoft YaHei"/>
              </a:rPr>
              <a:t>3  每次新开终端都要重新 cd——这是最常见的「明明配好了却不生效」原因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sqlite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02 · 常见问题排错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遇到问题先看这张表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" y="1600199"/>
            <a:ext cx="2560320" cy="4572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1480" y="1600199"/>
            <a:ext cx="256032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现象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600199"/>
            <a:ext cx="2743200" cy="4572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971800" y="1600199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原因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600199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715000" y="1600199"/>
            <a:ext cx="59436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解决方法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03120"/>
            <a:ext cx="11247120" cy="100583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" y="2194560"/>
            <a:ext cx="2377439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B85042"/>
                </a:solidFill>
                <a:latin typeface="Calibri"/>
                <a:ea typeface="Microsoft YaHei"/>
              </a:rPr>
              <a:t>uvx 不存在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194560"/>
            <a:ext cx="2560320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uv 未安装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194560"/>
            <a:ext cx="5760720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7A55"/>
                </a:solidFill>
                <a:latin typeface="Calibri"/>
                <a:ea typeface="Microsoft YaHei"/>
              </a:rPr>
              <a:t>pip install uv  或  brew install uv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3108960"/>
            <a:ext cx="1124712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1480" y="3154679"/>
            <a:ext cx="11247120" cy="10058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2377439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B85042"/>
                </a:solidFill>
                <a:latin typeface="Calibri"/>
                <a:ea typeface="Microsoft YaHei"/>
              </a:rPr>
              <a:t>不在 project 目录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246120"/>
            <a:ext cx="2560320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Claude 找不到 prices.db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246120"/>
            <a:ext cx="5760720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7A55"/>
                </a:solidFill>
                <a:latin typeface="Calibri"/>
                <a:ea typeface="Microsoft YaHei"/>
              </a:rPr>
              <a:t>关掉 claude，cd lesson3/project/ 再重新启动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4160520"/>
            <a:ext cx="1124712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11480" y="4206240"/>
            <a:ext cx="11247120" cy="100583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2920" y="4297679"/>
            <a:ext cx="2377439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B85042"/>
                </a:solidFill>
                <a:latin typeface="Calibri"/>
                <a:ea typeface="Microsoft YaHei"/>
              </a:rPr>
              <a:t>prices.db 没生成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297679"/>
            <a:ext cx="2560320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seed_db.py 未运行或网络超时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297679"/>
            <a:ext cx="5760720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7A55"/>
                </a:solidFill>
                <a:latin typeface="Calibri"/>
                <a:ea typeface="Microsoft YaHei"/>
              </a:rPr>
              <a:t>重新运行 python seed_db.py；
检查网络或 Binance 访问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1480" y="5212080"/>
            <a:ext cx="1124712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11480" y="5257800"/>
            <a:ext cx="11247120" cy="10058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" y="5349240"/>
            <a:ext cx="2377439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B85042"/>
                </a:solidFill>
                <a:latin typeface="Calibri"/>
                <a:ea typeface="Microsoft YaHei"/>
              </a:rPr>
              <a:t>requests.HTTPError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349240"/>
            <a:ext cx="2560320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Binance 被 GFW 屏蔽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349240"/>
            <a:ext cx="5760720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F7A55"/>
                </a:solidFill>
                <a:latin typeface="Calibri"/>
                <a:ea typeface="Microsoft YaHei"/>
              </a:rPr>
              <a:t>seed_db.py 内置 binance.vision fallback，
无需代理即可访问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1480" y="6263640"/>
            <a:ext cx="1124712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97BC62"/>
                </a:solidFill>
                <a:latin typeface="Bahnschrift"/>
                <a:ea typeface="Microsoft YaHei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让 AI 自己写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8E8DC"/>
                </a:solidFill>
                <a:latin typeface="Calibri"/>
                <a:ea typeface="Microsoft YaHei"/>
              </a:rPr>
              <a:t>MCP 给的是接口，不是数据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8E8DC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AI 写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03 · Prompt 范本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复制这条 prompt 粘贴进 claude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11430000" cy="347472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476"/>
                </a:solidFill>
                <a:latin typeface="Consolas"/>
                <a:ea typeface="Consolas"/>
              </a:rPr>
              <a:t>Prompt（整段粘贴）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423160"/>
            <a:ext cx="10972800" cy="0"/>
          </a:xfrm>
          <a:prstGeom prst="line">
            <a:avLst/>
          </a:prstGeom>
          <a:ln w="7620">
            <a:solidFill>
              <a:srgbClr val="5C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60320"/>
            <a:ext cx="109728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F5F5F5"/>
                </a:solidFill>
                <a:latin typeface="Consolas"/>
                <a:ea typeface="Consolas"/>
              </a:rPr>
              <a:t>通过 sqlite MCP 查 ohlc 表中 BTCUSDT 过去 30 天的
最高、最低、均价、最近收盘价，用一段话总结趋势。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77840"/>
            <a:ext cx="11430000" cy="822960"/>
          </a:xfrm>
          <a:prstGeom prst="roundRect">
            <a:avLst>
              <a:gd name="adj" fmla="val 5000"/>
            </a:avLst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10972800" cy="6400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7BC62"/>
                </a:solidFill>
                <a:latin typeface="Calibri"/>
                <a:ea typeface="Microsoft YaHei"/>
              </a:rPr>
              <a:t>注意你接下来要看什么：Claude 会自己写 SQL，通过 MCP 执行，然后用自然语言汇报结果。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AI 写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03 · 期望对话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C5F2D"/>
                </a:solidFill>
                <a:latin typeface="Calibri"/>
                <a:ea typeface="Microsoft YaHei"/>
              </a:rPr>
              <a:t>Claude 自动调用 MCP，返回真实数据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11430000" cy="1371600"/>
          </a:xfrm>
          <a:prstGeom prst="roundRect">
            <a:avLst>
              <a:gd name="adj" fmla="val 5000"/>
            </a:avLst>
          </a:prstGeom>
          <a:solidFill>
            <a:srgbClr val="222A36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onsolas"/>
                <a:ea typeface="Consolas"/>
              </a:rPr>
              <a:t>MCP(sqlite/read_query)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1097280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F7A55"/>
                </a:solidFill>
                <a:latin typeface="Consolas"/>
                <a:ea typeface="Consolas"/>
              </a:rPr>
              <a:t>[{'max_high': 81323.52, 'min_low': 67732.01, 'avg_close': 75663.88, 'latest': 80933.55}]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430000" cy="265176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36576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7BC62"/>
                </a:solidFill>
                <a:latin typeface="Calibri"/>
                <a:ea typeface="Microsoft YaHei"/>
              </a:rPr>
              <a:t>Claude 总结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972800" cy="20116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  <a:ea typeface="Microsoft YaHei"/>
              </a:rPr>
              <a:t>BTC 过去 30 天最高 81,323.52 USDT，最低 67,732.01 USDT，
均价 75,663.88 USDT；最近收盘 80,933.55 USDT，高于均价约 6.96%，
说明市场在经历大幅震荡（高低差约 20%）后，近期价格已从均价显著回升并接近
本周期高点，呈现出短期强势反弹态势，但距历史高点仍有一定空间，
投资者可关注能否在 81,000 USDT 上方确立支撑。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AI 写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03 · 关键观察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C5F2D"/>
                </a:solidFill>
                <a:latin typeface="Calibri"/>
                <a:ea typeface="Microsoft YaHei"/>
              </a:rPr>
              <a:t>刚才发生了什么——三件值得注意的事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1480" y="2331720"/>
            <a:ext cx="457200" cy="45720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10312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4440" y="2194560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AI 自己写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97479"/>
            <a:ext cx="101498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你没有告诉 Claude 任何 SQL——它看了表结构，
自己生成了正确的聚合查询。
这正是「能力接口」的价值：你给的是意图，不是指令。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840479"/>
            <a:ext cx="457200" cy="45720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40479"/>
            <a:ext cx="457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611879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34440" y="3703320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主线只有一次 MCP 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06240"/>
            <a:ext cx="101498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整个过程只有 read_query 被调用一次。
复杂的 SQL 构造、结果解析、汇报撰写，
全在 Claude 自身完成，MCP 只负责执行查询。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5349240"/>
            <a:ext cx="457200" cy="45720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349240"/>
            <a:ext cx="457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512064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34440" y="5212079"/>
            <a:ext cx="27432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价值在「能力接口」而非数据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715000"/>
            <a:ext cx="101498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MCP 没有给 Claude 任何数据 —— 它给的是
「能查 DB」的能力。Claude 用这个能力
完成了端到端的数据分析任务。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AI 写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03 · MCP vs 直接塞数据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C5F2D"/>
                </a:solidFill>
                <a:latin typeface="Calibri"/>
                <a:ea typeface="Microsoft YaHei"/>
              </a:rPr>
              <a:t>两种方案，哪个更「AI Native」？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把数据塞进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手动导出 CSV / SQL 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复制粘贴进对话窗口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85616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Token 暴增，成本升高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61104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数据一变就要重新粘贴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36592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无法实时查询、无法聚合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840480"/>
            <a:ext cx="640080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8A8476"/>
                </a:solidFill>
                <a:latin typeface="Bahnschrift"/>
                <a:ea typeface="Microsoft YaHei"/>
              </a:rPr>
              <a:t>VS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10312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F7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720840" y="2103120"/>
            <a:ext cx="5303520" cy="548640"/>
          </a:xfrm>
          <a:prstGeom prst="rect">
            <a:avLst/>
          </a:prstGeom>
          <a:solidFill>
            <a:srgbClr val="3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20840" y="2103120"/>
            <a:ext cx="5303520" cy="5486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MCP：给 AI「查 DB 的能力」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834640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Claude 自动写 SQL，实时查询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10128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Token 只含问答，极省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785616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数据更新无需改对话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261104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可聚合、过滤、关联多表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736592"/>
            <a:ext cx="475488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能力可复用到任何问题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114800" cy="3657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1" i="0">
                <a:solidFill>
                  <a:srgbClr val="97BC62"/>
                </a:solidFill>
                <a:latin typeface="Bahnschrift"/>
                <a:ea typeface="Microsoft YaHei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0" y="2286000"/>
            <a:ext cx="0" cy="2743200"/>
          </a:xfrm>
          <a:prstGeom prst="line">
            <a:avLst/>
          </a:prstGeom>
          <a:ln w="2540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94960" y="2468880"/>
            <a:ext cx="658368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  <a:ea typeface="Microsoft YaHei"/>
              </a:rPr>
              <a:t>权限 · 反模式 · 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11880"/>
            <a:ext cx="6583680" cy="12801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8E8DC"/>
                </a:solidFill>
                <a:latin typeface="Calibri"/>
                <a:ea typeface="Microsoft YaHei"/>
              </a:rPr>
              <a:t>教学版全开  ≠  生产配置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8E8DC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权限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04 · 权限边界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MCP 权限分三档——按需配置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" y="201168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219456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级别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2286000" cy="4572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22860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011680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适用场景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011680"/>
            <a:ext cx="3840480" cy="4572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8404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注意事项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06040"/>
            <a:ext cx="1078992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3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Read-only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697480"/>
            <a:ext cx="210312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onsolas"/>
                <a:ea typeface="Consolas"/>
              </a:rPr>
              <a:t>只注册 read_query / list_tables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697480"/>
            <a:ext cx="22860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查询本地练习数据库（本课场景）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697480"/>
            <a:ext cx="36576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read_query, list_tables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" y="3749040"/>
            <a:ext cx="1120140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3794760"/>
            <a:ext cx="1078992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4023360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Read-write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886200"/>
            <a:ext cx="210312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onsolas"/>
                <a:ea typeface="Consolas"/>
              </a:rPr>
              <a:t>同时注册 write_query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886200"/>
            <a:ext cx="22860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让 Claude 帮你管理测试 / 开发库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886200"/>
            <a:ext cx="36576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read_query, write_query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" y="4937760"/>
            <a:ext cx="1120140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11480" y="4983480"/>
            <a:ext cx="1078992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57200" y="5212080"/>
            <a:ext cx="2103120" cy="50292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5212080"/>
            <a:ext cx="21031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</a:rPr>
              <a:t>生产 DB — Never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074920"/>
            <a:ext cx="210312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onsolas"/>
                <a:ea typeface="Consolas"/>
              </a:rPr>
              <a:t>任何含真实用户数据的数据库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074920"/>
            <a:ext cx="22860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所有需要写操作的生产环境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074920"/>
            <a:ext cx="365760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权限隔离 + 审计日志 + 人工审批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11480" y="6126480"/>
            <a:ext cx="1120140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反模式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04 · 三个常见反模式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学会之前先别踩坑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56616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2004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B85042"/>
                </a:solidFill>
                <a:latin typeface="Calibri"/>
                <a:ea typeface="Microsoft YaHei"/>
              </a:rPr>
              <a:t>MCP 当 Prompt 替代品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337560"/>
            <a:ext cx="3200400" cy="0"/>
          </a:xfrm>
          <a:prstGeom prst="line">
            <a:avLst/>
          </a:prstGeom>
          <a:ln w="1016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42900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把数百行静态文档装进 MCP Resource，
让 AI 每次全量加载。
改：文档塞进 CLAUDE.md 或 system prompt；
MCP 只给「动态」数据。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297679" y="2011680"/>
            <a:ext cx="356616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79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743200"/>
            <a:ext cx="32004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B85042"/>
                </a:solidFill>
                <a:latin typeface="Calibri"/>
                <a:ea typeface="Microsoft YaHei"/>
              </a:rPr>
              <a:t>接 20 个 MCP Server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80559" y="3337560"/>
            <a:ext cx="3200401" cy="0"/>
          </a:xfrm>
          <a:prstGeom prst="line">
            <a:avLst/>
          </a:prstGeom>
          <a:ln w="1016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80559" y="342900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一口气装 filesystem + github + slack
+ jira + notion + … 10 多个 server。
改：只接当前任务需要的 1-2 个；
多了会让 AI 工具选择出错。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201168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46719" y="2011680"/>
            <a:ext cx="3566160" cy="5943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46719" y="2011680"/>
            <a:ext cx="35661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Bahnschrift"/>
                <a:ea typeface="Microsoft YaHei"/>
              </a:rPr>
              <a:t>AP3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743200"/>
            <a:ext cx="32004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B85042"/>
                </a:solidFill>
                <a:latin typeface="Calibri"/>
                <a:ea typeface="Microsoft YaHei"/>
              </a:rPr>
              <a:t>直连生产 DB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599" y="3337560"/>
            <a:ext cx="3200401" cy="0"/>
          </a:xfrm>
          <a:prstGeom prst="line">
            <a:avLst/>
          </a:prstGeom>
          <a:ln w="1016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599" y="3429000"/>
            <a:ext cx="3200400" cy="2743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用 mcp-server-sqlite 直连正式库，
write_query 权限全开。
改：只读副本 + 明确限制 args；
写操作须经人工审批。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04 · 作业 Task 1 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再接一个 MCP——两条路选一条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0312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394960" cy="59436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949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A 方向  ·  filesystem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在 .mcp.json 里追加 filesystem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args 指向 ai_lesson 仓库根目录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让 Claude 读 lesson1/README.md 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79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  查 ohlc 表，写一段对比报告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19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提交：.mcp.json + 对话片段 + 3 句话感受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10312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63640" y="2103120"/>
            <a:ext cx="5394960" cy="59436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63640" y="2103120"/>
            <a:ext cx="5394960" cy="594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B 方向  ·  github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80360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在 .mcp.json 里追加 github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配置 GITHUB_PERSONAL_ACCESS_TOKEN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39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让 Claude 拉最近 5 条 commit 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79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  查 ohlc 表，写一段「活跃度 vs 行情」分析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19"/>
            <a:ext cx="484632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•  提交：.mcp.json（脱敏）+ 对话 + 3 句话感受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04 · 作业提交清单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C5F2D"/>
                </a:solidFill>
                <a:latin typeface="Calibri"/>
                <a:ea typeface="Microsoft YaHei"/>
              </a:rPr>
              <a:t>30 分钟内完成，不需要写代码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33172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4114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C5F2D"/>
                </a:solidFill>
                <a:latin typeface="Calibri"/>
                <a:ea typeface="Microsoft YaHei"/>
              </a:rPr>
              <a:t>修改后的 .mcp.json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26079"/>
            <a:ext cx="1033272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新增 filesystem 或 github server 配置
（可脱敏 token，但保留结构）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3657600"/>
            <a:ext cx="1124712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74903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5029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49039"/>
            <a:ext cx="4114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C5F2D"/>
                </a:solidFill>
                <a:latin typeface="Calibri"/>
                <a:ea typeface="Microsoft YaHei"/>
              </a:rPr>
              <a:t>对话会话片段截图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43400"/>
            <a:ext cx="1033272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包含 MCP 被调用的那条消息
（能看到工具名和返回结果）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5074920"/>
            <a:ext cx="11247120" cy="0"/>
          </a:xfrm>
          <a:prstGeom prst="line">
            <a:avLst/>
          </a:prstGeom>
          <a:ln w="7620">
            <a:solidFill>
              <a:srgbClr val="CFD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51663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5029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66360"/>
            <a:ext cx="41148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C5F2D"/>
                </a:solidFill>
                <a:latin typeface="Calibri"/>
                <a:ea typeface="Microsoft YaHei"/>
              </a:rPr>
              <a:t>3 句话感受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760720"/>
            <a:ext cx="1033272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22A36"/>
                </a:solidFill>
                <a:latin typeface="Calibri"/>
                <a:ea typeface="Microsoft YaHei"/>
              </a:rPr>
              <a:t>「接这个 MCP 最难的地方是什么？」
「它解决了什么问题？」
「如果是生产环境你会怎么改权限？」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89320"/>
            <a:ext cx="11247120" cy="365760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6016752"/>
            <a:ext cx="10972800" cy="32918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97BC62"/>
                </a:solidFill>
                <a:latin typeface="Calibri"/>
                <a:ea typeface="Microsoft YaHei"/>
              </a:rPr>
              <a:t>提交方式：截图 + .mcp.json + 3 句话感受，发到课程群即可。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98480" y="329184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9184"/>
            <a:ext cx="29260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6576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C5F2D"/>
                </a:solidFill>
                <a:latin typeface="Calibri"/>
                <a:ea typeface="Microsoft YaHei"/>
              </a:rPr>
              <a:t>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学完这课你能做什么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C5F2D"/>
                </a:solidFill>
                <a:latin typeface="Calibri"/>
                <a:ea typeface="Microsoft YaHei"/>
              </a:rPr>
              <a:t>4 条 Takeaway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691640"/>
            <a:ext cx="822960" cy="0"/>
          </a:xfrm>
          <a:prstGeom prst="line">
            <a:avLst/>
          </a:prstGeom>
          <a:ln w="317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14884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85800" y="2606040"/>
            <a:ext cx="411480" cy="41148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40280"/>
            <a:ext cx="4572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理解 MCP 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34640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能解释 Tools / Resources / Prompts 三原语，
知道 MCP 与 Hook、Subagent 的适用边界。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00800" y="2606040"/>
            <a:ext cx="411480" cy="41148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40280"/>
            <a:ext cx="4572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独立接入本地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40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能配置 .mcp.json，把 sqlite / filesystem / github
等 server 接入到 Claude Code 工作区。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6052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85800" y="4617720"/>
            <a:ext cx="411480" cy="41148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251960"/>
            <a:ext cx="4572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让 AI 自主查询数据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46320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能撰写 prompt 让 Claude 自己写 SQL，
通过 MCP 完成端到端数据分析任务。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400800" y="4617720"/>
            <a:ext cx="411480" cy="41148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617720"/>
            <a:ext cx="411480" cy="4114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Bahnschrift"/>
                <a:ea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251960"/>
            <a:ext cx="457200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C5F2D"/>
                </a:solidFill>
                <a:latin typeface="Calibri"/>
                <a:ea typeface="Microsoft YaHei"/>
              </a:rPr>
              <a:t>识别并规避反模式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46320"/>
            <a:ext cx="4572000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A36"/>
                </a:solidFill>
                <a:latin typeface="Calibri"/>
                <a:ea typeface="Microsoft YaHei"/>
              </a:rPr>
              <a:t>知道不要乱接 server、不要连生产 DB、
知道 MCP 与 Prompt 的分工边界。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43600"/>
            <a:ext cx="11430000" cy="41148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971032"/>
            <a:ext cx="109728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97BC62"/>
                </a:solidFill>
                <a:latin typeface="Calibri"/>
                <a:ea typeface="Microsoft YaHei"/>
              </a:rPr>
              <a:t>下节课（Lesson 4）：造接口——用 Skill 自定义 Claude Code 的斜杠命令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476"/>
                </a:solidFill>
                <a:latin typeface="Calibri"/>
                <a:ea typeface="Microsoft YaHe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594360"/>
            <a:ext cx="3657600" cy="9144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7BC62"/>
                </a:solidFill>
                <a:latin typeface="Calibri"/>
                <a:ea typeface="Microsoft YaHei"/>
              </a:rPr>
              <a:t>Have fun  ·  延伸阅读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05840"/>
            <a:ext cx="3749040" cy="0"/>
          </a:xfrm>
          <a:prstGeom prst="line">
            <a:avLst/>
          </a:prstGeom>
          <a:ln w="19050">
            <a:solidFill>
              <a:srgbClr val="97BC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E8E8DC"/>
                </a:solidFill>
                <a:latin typeface="Calibri"/>
                <a:ea typeface="Microsoft YaHei"/>
              </a:rPr>
              <a:t>MCP server 上哪儿找——按官方度从高到低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8503920" cy="502920"/>
          </a:xfrm>
          <a:prstGeom prst="roundRect">
            <a:avLst>
              <a:gd name="adj" fmla="val 5000"/>
            </a:avLst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2743200" cy="4480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C5F2D"/>
                </a:solidFill>
                <a:latin typeface="Calibri"/>
                <a:ea typeface="Microsoft YaHei"/>
              </a:rPr>
              <a:t>协议规范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47672"/>
            <a:ext cx="6126480" cy="4480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onsolas"/>
                <a:ea typeface="Consolas"/>
              </a:rPr>
              <a:t>modelcontextprotocol.io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5349240" cy="804672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87552" y="2569464"/>
            <a:ext cx="50200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MCP 官方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843784"/>
            <a:ext cx="5020055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modelcontextprotocol.io/examples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081528"/>
            <a:ext cx="5020055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8E8DC"/>
                </a:solidFill>
                <a:latin typeface="Calibri"/>
                <a:ea typeface="Microsoft YaHei"/>
              </a:rPr>
              <a:t>Anthropic 背书的参考实现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514600"/>
            <a:ext cx="5349240" cy="804672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11112" y="2569464"/>
            <a:ext cx="50200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官方 servers 仓库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843784"/>
            <a:ext cx="5020055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github.com/modelcontextprotocol/servers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081528"/>
            <a:ext cx="5020055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8E8DC"/>
                </a:solidFill>
                <a:latin typeface="Calibri"/>
                <a:ea typeface="Microsoft YaHei"/>
              </a:rPr>
              <a:t>filesystem / github / fetch / git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92424"/>
            <a:ext cx="5349240" cy="804672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7552" y="3447288"/>
            <a:ext cx="50200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Awesome MCP Servers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721608"/>
            <a:ext cx="5020055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github.com/punkpeye/awesome-mcp-servers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959352"/>
            <a:ext cx="5020055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8E8DC"/>
                </a:solidFill>
                <a:latin typeface="Calibri"/>
                <a:ea typeface="Microsoft YaHei"/>
              </a:rPr>
              <a:t>社区聚合，最大最杂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392424"/>
            <a:ext cx="5349240" cy="804672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11112" y="3447288"/>
            <a:ext cx="50200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mcp.so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721608"/>
            <a:ext cx="5020055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mcp.so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959352"/>
            <a:ext cx="5020055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8E8DC"/>
                </a:solidFill>
                <a:latin typeface="Calibri"/>
                <a:ea typeface="Microsoft YaHei"/>
              </a:rPr>
              <a:t>Web 注册表，可分类筛选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70248"/>
            <a:ext cx="5349240" cy="804672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4325112"/>
            <a:ext cx="50200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Smithery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599432"/>
            <a:ext cx="5020055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smithery.ai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837176"/>
            <a:ext cx="5020055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8E8DC"/>
                </a:solidFill>
                <a:latin typeface="Calibri"/>
                <a:ea typeface="Microsoft YaHei"/>
              </a:rPr>
              <a:t>注册中心 + 一键安装 CLI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270248"/>
            <a:ext cx="5349240" cy="804672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11112" y="4325112"/>
            <a:ext cx="50200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Glama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599432"/>
            <a:ext cx="5020055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glama.ai/mcp/servers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4837176"/>
            <a:ext cx="5020055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8E8DC"/>
                </a:solidFill>
                <a:latin typeface="Calibri"/>
                <a:ea typeface="Microsoft YaHei"/>
              </a:rPr>
              <a:t>带评分和使用量的注册表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148072"/>
            <a:ext cx="5349240" cy="804672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87552" y="5202936"/>
            <a:ext cx="50200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Anthropic 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477256"/>
            <a:ext cx="5020055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claude.ai → Settings → Connectors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715000"/>
            <a:ext cx="5020055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8E8DC"/>
                </a:solidFill>
                <a:latin typeface="Calibri"/>
                <a:ea typeface="Microsoft YaHei"/>
              </a:rPr>
              <a:t>桌面/网页客户端官方目录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5148072"/>
            <a:ext cx="5349240" cy="804672"/>
          </a:xfrm>
          <a:prstGeom prst="roundRect">
            <a:avLst>
              <a:gd name="adj" fmla="val 4000"/>
            </a:avLst>
          </a:prstGeom>
          <a:solidFill>
            <a:srgbClr val="1F4520"/>
          </a:solidFill>
          <a:ln w="952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611112" y="5202936"/>
            <a:ext cx="50200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7BC62"/>
                </a:solidFill>
                <a:latin typeface="Calibri"/>
                <a:ea typeface="Microsoft YaHei"/>
              </a:rPr>
              <a:t>包来源（实操）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1112" y="5477256"/>
            <a:ext cx="5020055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  <a:ea typeface="Consolas"/>
              </a:rPr>
              <a:t>npm: npx -y @modelcontextprotocol/server-*  ·  PyPI: uvx mcp-server-*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5715000"/>
            <a:ext cx="5020055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E8E8DC"/>
                </a:solidFill>
                <a:latin typeface="Calibri"/>
                <a:ea typeface="Microsoft YaHei"/>
              </a:rPr>
              <a:t>看到 server 文档里的 claude mcp add，直接抄到 .mcp.json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8E8DC"/>
                </a:solidFill>
                <a:latin typeface="Calibri"/>
                <a:ea typeface="Microsoft YaHei"/>
              </a:rPr>
              <a:t>Lesson 03  ·  MCP 与外部能力接入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