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600200"/>
            <a:ext cx="146304" cy="3657600"/>
          </a:xfrm>
          <a:prstGeom prst="rect">
            <a:avLst/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737360"/>
            <a:ext cx="146304" cy="3383280"/>
          </a:xfrm>
          <a:prstGeom prst="rect">
            <a:avLst/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1874519"/>
            <a:ext cx="146304" cy="31089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011680"/>
            <a:ext cx="146304" cy="2834640"/>
          </a:xfrm>
          <a:prstGeom prst="rect">
            <a:avLst/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148840"/>
            <a:ext cx="146304" cy="2560320"/>
          </a:xfrm>
          <a:prstGeom prst="rect">
            <a:avLst/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286000"/>
            <a:ext cx="146304" cy="2286000"/>
          </a:xfrm>
          <a:prstGeom prst="rect">
            <a:avLst/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LESSON  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207008"/>
            <a:ext cx="822960" cy="0"/>
          </a:xfrm>
          <a:prstGeom prst="line">
            <a:avLst/>
          </a:prstGeom>
          <a:ln w="190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645920"/>
            <a:ext cx="100584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  <a:ea typeface="Microsoft YaHei"/>
              </a:rPr>
              <a:t>Claude Code ×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FFFFF"/>
                </a:solidFill>
                <a:latin typeface="Calibri"/>
                <a:ea typeface="Microsoft YaHei"/>
              </a:rPr>
              <a:t>高级技巧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8229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EE7D9"/>
                </a:solidFill>
                <a:latin typeface="Calibri"/>
                <a:ea typeface="Microsoft YaHei"/>
              </a:rPr>
              <a:t>让工具替你做更多事，而不是你不停指挥工具。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37760"/>
            <a:ext cx="1234439" cy="411480"/>
          </a:xfrm>
          <a:prstGeom prst="roundRect">
            <a:avLst>
              <a:gd name="adj" fmla="val 8000"/>
            </a:avLst>
          </a:prstGeom>
          <a:solidFill>
            <a:srgbClr val="2C3E66"/>
          </a:solidFill>
          <a:ln w="9525">
            <a:solidFill>
              <a:srgbClr val="D7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234439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7F4E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1991" y="4937760"/>
            <a:ext cx="758952" cy="411480"/>
          </a:xfrm>
          <a:prstGeom prst="roundRect">
            <a:avLst>
              <a:gd name="adj" fmla="val 8000"/>
            </a:avLst>
          </a:prstGeom>
          <a:solidFill>
            <a:srgbClr val="2C3E66"/>
          </a:solidFill>
          <a:ln w="9525">
            <a:solidFill>
              <a:srgbClr val="D7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21991" y="4937760"/>
            <a:ext cx="758952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7F4E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5" y="4937760"/>
            <a:ext cx="1115568" cy="411480"/>
          </a:xfrm>
          <a:prstGeom prst="roundRect">
            <a:avLst>
              <a:gd name="adj" fmla="val 8000"/>
            </a:avLst>
          </a:prstGeom>
          <a:solidFill>
            <a:srgbClr val="2C3E66"/>
          </a:solidFill>
          <a:ln w="9525">
            <a:solidFill>
              <a:srgbClr val="D7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45535" y="4937760"/>
            <a:ext cx="111556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7F4EE"/>
                </a:solidFill>
                <a:latin typeface="Calibri"/>
                <a:ea typeface="Microsoft YaHei"/>
              </a:rPr>
              <a:t>Composer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937760"/>
            <a:ext cx="996696" cy="411480"/>
          </a:xfrm>
          <a:prstGeom prst="roundRect">
            <a:avLst>
              <a:gd name="adj" fmla="val 8000"/>
            </a:avLst>
          </a:prstGeom>
          <a:solidFill>
            <a:srgbClr val="2C3E66"/>
          </a:solidFill>
          <a:ln w="9525">
            <a:solidFill>
              <a:srgbClr val="D7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25696" y="4937760"/>
            <a:ext cx="99669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7F4EE"/>
                </a:solidFill>
                <a:latin typeface="Calibri"/>
                <a:ea typeface="Microsoft YaHei"/>
              </a:rPr>
              <a:t>Plugins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126480"/>
            <a:ext cx="4663440" cy="0"/>
          </a:xfrm>
          <a:prstGeom prst="line">
            <a:avLst/>
          </a:prstGeom>
          <a:ln w="12700">
            <a:solidFill>
              <a:srgbClr val="2C3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EE7D9"/>
                </a:solidFill>
                <a:latin typeface="Calibri"/>
                <a:ea typeface="Microsoft YaHei"/>
              </a:rPr>
              <a:t>约 30 分钟  ·  四件事  ·  一杯茶时间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AGENDA  ·  今日路线图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2A4E"/>
                </a:solidFill>
                <a:latin typeface="Calibri"/>
                <a:ea typeface="Microsoft YaHei"/>
              </a:rPr>
              <a:t>四件事，递进展开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D77A61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A4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派分身干脏活，
主线不污染、不刷屏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794760"/>
            <a:ext cx="3474719" cy="0"/>
          </a:xfrm>
          <a:prstGeom prst="line">
            <a:avLst/>
          </a:prstGeom>
          <a:ln w="1016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01 · 探索 / 审阅 / 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D77A61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把每次都得做的事
变自动执行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3794760"/>
            <a:ext cx="3474720" cy="0"/>
          </a:xfrm>
          <a:prstGeom prst="line">
            <a:avLst/>
          </a:prstGeom>
          <a:ln w="1016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02 · 三事件 + 自动闭环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D77A61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A4E"/>
                </a:solidFill>
                <a:latin typeface="Calibri"/>
                <a:ea typeface="Microsoft YaHei"/>
              </a:rPr>
              <a:t>Cursor 进阶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Composer · Background
· 分层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5897879"/>
            <a:ext cx="3474719" cy="0"/>
          </a:xfrm>
          <a:prstGeom prst="line">
            <a:avLst/>
          </a:prstGeom>
          <a:ln w="1016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03 · 跨文件改造 + 规则分层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D77A61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A4E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装一个，多十种思维范式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5897879"/>
            <a:ext cx="3474720" cy="0"/>
          </a:xfrm>
          <a:prstGeom prst="line">
            <a:avLst/>
          </a:prstGeom>
          <a:ln w="1016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04 · ECC / Superpowers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C6E91"/>
                </a:solidFill>
                <a:latin typeface="Calibri"/>
                <a:ea typeface="Microsoft YaHei"/>
              </a:rPr>
              <a:t>课后还有：① bash 命令记录 hook    ② subagent 审阅自己的代码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36576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D77A61"/>
                </a:solidFill>
                <a:latin typeface="Calibri"/>
                <a:ea typeface="Microsoft YaHei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383280"/>
            <a:ext cx="6400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EE7D9"/>
                </a:solidFill>
                <a:latin typeface="Calibri"/>
                <a:ea typeface="Microsoft YaHei"/>
              </a:rPr>
              <a:t>派分身干脏活，主线只接收摘要。
隔离上下文做探索 / 审阅 / 研究，不污染主线。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01 · 为什么需要 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B2A4E"/>
                </a:solidFill>
                <a:latin typeface="Calibri"/>
                <a:ea typeface="Microsoft YaHei"/>
              </a:rPr>
              <a:t>Claude 干 20 分钟之后会变笨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alibri"/>
                <a:ea typeface="Microsoft YaHei"/>
              </a:rPr>
              <a:t>不用 subagent 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•  读 50 个文件之后，</a:t>
            </a:r>
            <a:r>
              <a:rPr sz="1400" b="0" i="0">
                <a:solidFill>
                  <a:srgbClr val="5C6E91"/>
                </a:solidFill>
                <a:latin typeface="Calibri"/>
                <a:ea typeface="Microsoft YaHei"/>
              </a:rPr>
              <a:t>它对最初的目标已经记不清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3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•  主线对话被刷屏 —— </a:t>
            </a:r>
            <a:r>
              <a:rPr sz="1400" b="0" i="0">
                <a:solidFill>
                  <a:srgbClr val="5C6E91"/>
                </a:solidFill>
                <a:latin typeface="Calibri"/>
                <a:ea typeface="Microsoft YaHei"/>
              </a:rPr>
              <a:t>几十次 Read / Grep 调用堆叠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•  所有源代码原文</a:t>
            </a:r>
            <a:r>
              <a:rPr sz="1400" b="0" i="0">
                <a:solidFill>
                  <a:srgbClr val="5C6E91"/>
                </a:solidFill>
                <a:latin typeface="Calibri"/>
                <a:ea typeface="Microsoft YaHei"/>
              </a:rPr>
              <a:t>都灌进主线上下文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7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•  下一轮想干新事，</a:t>
            </a:r>
            <a:r>
              <a:rPr sz="1400" b="0" i="0">
                <a:solidFill>
                  <a:srgbClr val="5C6E91"/>
                </a:solidFill>
                <a:latin typeface="Calibri"/>
                <a:ea typeface="Microsoft YaHei"/>
              </a:rPr>
              <a:t>已经被旧上下文拖慢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92240" y="2331720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Subagent 解决什么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把任务派到全新上下文  </a:t>
            </a:r>
            <a:r>
              <a:rPr sz="1300" b="0" i="0">
                <a:solidFill>
                  <a:srgbClr val="EEE7D9"/>
                </a:solidFill>
                <a:latin typeface="Calibri"/>
                <a:ea typeface="Microsoft YaHei"/>
              </a:rPr>
              <a:t>独立子对话，不继承主线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2043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结束后只把结论返回  </a:t>
            </a:r>
            <a:r>
              <a:rPr sz="1300" b="0" i="0">
                <a:solidFill>
                  <a:srgbClr val="EEE7D9"/>
                </a:solidFill>
                <a:latin typeface="Calibri"/>
                <a:ea typeface="Microsoft YaHei"/>
              </a:rPr>
              <a:t>主线只看到一个 Task 折叠框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5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源码 / 中间产物不外溢  </a:t>
            </a:r>
            <a:r>
              <a:rPr sz="1300" b="0" i="0">
                <a:solidFill>
                  <a:srgbClr val="EEE7D9"/>
                </a:solidFill>
                <a:latin typeface="Calibri"/>
                <a:ea typeface="Microsoft YaHei"/>
              </a:rPr>
              <a:t>主线上下文继续清爽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79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可以并行多派几个  </a:t>
            </a:r>
            <a:r>
              <a:rPr sz="1300" b="0" i="0">
                <a:solidFill>
                  <a:srgbClr val="EEE7D9"/>
                </a:solidFill>
                <a:latin typeface="Calibri"/>
                <a:ea typeface="Microsoft YaHei"/>
              </a:rPr>
              <a:t>探索 + 审阅 + 研究 同时跑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💡 主线 = 战术指挥；Subagent = 派出去执行的小队。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01 · 动手做(3 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派 explore subagent 摸底 lesson1/demo/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59" y="23317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在仓库根启动 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703320"/>
            <a:ext cx="3154679" cy="1874519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822191"/>
            <a:ext cx="2880360" cy="1691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7F4EE"/>
                </a:solidFill>
                <a:latin typeface="Consolas"/>
                <a:ea typeface="Consolas"/>
              </a:rPr>
              <a:t>cd &lt;ai_lesson 仓库&gt;
claude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2103120"/>
            <a:ext cx="370332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17719" y="23317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7719" y="233172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880360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整段粘贴这条 prompt 到主线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19" y="3703320"/>
            <a:ext cx="3154679" cy="1874519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54879" y="3822191"/>
            <a:ext cx="2880360" cy="1691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7F4EE"/>
                </a:solidFill>
                <a:latin typeface="Consolas"/>
                <a:ea typeface="Consolas"/>
              </a:rPr>
              <a:t>派一个 explore subagent 去摸底
lesson1/demo/ 的结构，
返回 10 行以内的摘要，
不要贴源码原文。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2103120"/>
            <a:ext cx="370332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412480" y="23317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33172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80360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屏幕上你会看到一个折叠框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703320"/>
            <a:ext cx="3154679" cy="1874519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49639" y="3822191"/>
            <a:ext cx="2880360" cy="1691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7F4EE"/>
                </a:solidFill>
                <a:latin typeface="Consolas"/>
                <a:ea typeface="Consolas"/>
              </a:rPr>
              <a:t>⏺ Task(subagent_type=Explore)
  ⎿  [一段 8-10 行的摘要，
     文件清单 + 结构判断]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70448"/>
            <a:ext cx="11091672" cy="457200"/>
          </a:xfrm>
          <a:prstGeom prst="roundRect">
            <a:avLst>
              <a:gd name="adj" fmla="val 30000"/>
            </a:avLst>
          </a:prstGeom>
          <a:solidFill>
            <a:srgbClr val="EE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943600"/>
            <a:ext cx="1097280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2A4E"/>
                </a:solidFill>
                <a:latin typeface="Calibri"/>
                <a:ea typeface="Microsoft YaHei"/>
              </a:rPr>
              <a:t>👀  观察三点：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  ① 主线只有一个 Agent 调用框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    ② 摘要里没有源代码原文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    ③ 主对话上下文没被几千 token 污染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01 · 三种典型用法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不是只有审阅：探索 / 审阅 / 研究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703320" cy="8229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64592" cy="8229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2971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alibri"/>
                <a:ea typeface="Microsoft YaHei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1"/>
            <a:ext cx="2971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2971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B2A4E"/>
                </a:solidFill>
                <a:latin typeface="Calibri"/>
                <a:ea typeface="Microsoft YaHei"/>
              </a:rPr>
              <a:t>代码库摸底，主线不被刷屏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用例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2336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进陌生仓库的第一件事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480560"/>
            <a:ext cx="2971799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61772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61772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prompts/explore-codebase.md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074920"/>
            <a:ext cx="2971799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21208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8-10 行结构摘要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669280"/>
            <a:ext cx="2971799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4339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43399" y="2103120"/>
            <a:ext cx="3703320" cy="8229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343399" y="2103120"/>
            <a:ext cx="164592" cy="8229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09159" y="2212848"/>
            <a:ext cx="2971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alibri"/>
                <a:ea typeface="Microsoft YaHei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2450591"/>
            <a:ext cx="2971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审阅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3108960"/>
            <a:ext cx="2971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B2A4E"/>
                </a:solidFill>
                <a:latin typeface="Calibri"/>
                <a:ea typeface="Microsoft YaHei"/>
              </a:rPr>
              <a:t>独立第二意见，避免自评偏高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02336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用例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402336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你刚写完一段代码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9159" y="448056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09159" y="461772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461772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prompts/review-diff.md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09159" y="507492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9159" y="521208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产出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风险列表 + 严重等级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709159" y="566928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3815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138159" y="2103120"/>
            <a:ext cx="3703320" cy="8229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138159" y="2103120"/>
            <a:ext cx="164592" cy="8229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503919" y="2212848"/>
            <a:ext cx="2971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alibri"/>
                <a:ea typeface="Microsoft YaHei"/>
              </a:rPr>
              <a:t>RESEARCH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19" y="2450591"/>
            <a:ext cx="2971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研究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3108960"/>
            <a:ext cx="2971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B2A4E"/>
                </a:solidFill>
                <a:latin typeface="Calibri"/>
                <a:ea typeface="Microsoft YaHei"/>
              </a:rPr>
              <a:t>外部信息汇总，主线不被参考资料淹没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402336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用例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19" y="402336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选型对比 / 文档调研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03919" y="448056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03919" y="461772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入口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19" y="461772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prompts/research-libs.md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03919" y="507492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03919" y="521208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产出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19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结论 + 引用清单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503919" y="5669280"/>
            <a:ext cx="297180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范例 prompt 都在 lesson2/demo/01-subagents/prompts/ 下，复制即用。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01 · 一条铁律 + 三个反模式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B2A4E"/>
                </a:solidFill>
                <a:latin typeface="Calibri"/>
                <a:ea typeface="Microsoft YaHei"/>
              </a:rPr>
              <a:t>Prompt 必须自包含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C6E91"/>
                </a:solidFill>
                <a:latin typeface="Calibri"/>
                <a:ea typeface="Microsoft YaHei"/>
              </a:rPr>
              <a:t>Subagent 看不到主线上下文 —— 目标 / 背景 / 重点 / 输出格式 全部写进去。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64592" cy="146304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A3E"/>
                </a:solidFill>
                <a:latin typeface="Calibri"/>
                <a:ea typeface="Microsoft YaHei"/>
              </a:rPr>
              <a:t>❌  含糊不清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512064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22A36"/>
                </a:solidFill>
                <a:latin typeface="Consolas"/>
                <a:ea typeface="Consolas"/>
              </a:rPr>
              <a:t>「审阅刚才那个函数」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51206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6"/>
                </a:solidFill>
                <a:latin typeface="Calibri"/>
                <a:ea typeface="Microsoft YaHei"/>
              </a:rPr>
              <a:t>→ Subagent 不知道「刚才」是哪个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164592" cy="23774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✅  自包含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5120640" cy="1783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7F4EE"/>
                </a:solidFill>
                <a:latin typeface="Consolas"/>
                <a:ea typeface="Consolas"/>
              </a:rPr>
              <a:t>审阅 src/auth/login.ts 中的 verifyToken。
背景：JWT 校验入口，被 5 个 API 调用。
重点：时间常数比较 / 过期时间 / 错误信息泄露。
输出：风险列表 + 严重等级。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194560"/>
            <a:ext cx="54864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51206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alibri"/>
                <a:ea typeface="Microsoft YaHei"/>
              </a:rPr>
              <a:t>三个反模式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2834640"/>
            <a:ext cx="822960" cy="0"/>
          </a:xfrm>
          <a:prstGeom prst="line">
            <a:avLst/>
          </a:prstGeom>
          <a:ln w="2286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0" y="3063239"/>
            <a:ext cx="256032" cy="256032"/>
          </a:xfrm>
          <a:prstGeom prst="ellipse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1"/>
            <a:ext cx="25603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17520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派去做顺手就能干的小事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383279"/>
            <a:ext cx="46634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E91"/>
                </a:solidFill>
                <a:latin typeface="Calibri"/>
                <a:ea typeface="Microsoft YaHei"/>
              </a:rPr>
              <a:t>分身启动开销 &gt; 自己干，得不偿失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023359"/>
            <a:ext cx="256032" cy="256032"/>
          </a:xfrm>
          <a:prstGeom prst="ellipse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05072"/>
            <a:ext cx="25603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77639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把 subagent 当「省 token」工具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343400"/>
            <a:ext cx="46634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E91"/>
                </a:solidFill>
                <a:latin typeface="Calibri"/>
                <a:ea typeface="Microsoft YaHei"/>
              </a:rPr>
              <a:t>返回 200 行垃圾摘要不如自己读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983479"/>
            <a:ext cx="256032" cy="256032"/>
          </a:xfrm>
          <a:prstGeom prst="ellipse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965192"/>
            <a:ext cx="25603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937759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Prompt 里写「刚才那个函数」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03520"/>
            <a:ext cx="46634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E91"/>
                </a:solidFill>
                <a:latin typeface="Calibri"/>
                <a:ea typeface="Microsoft YaHei"/>
              </a:rPr>
              <a:t>分身没有「刚才」的概念，靠猜会跑偏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团队级：把常用角色固化进 .claude/agents/&lt;name&gt;.md，提交进 git，全队共享。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36576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D77A61"/>
                </a:solidFill>
                <a:latin typeface="Calibri"/>
                <a:ea typeface="Microsoft YaHei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383280"/>
            <a:ext cx="6400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EE7D9"/>
                </a:solidFill>
                <a:latin typeface="Calibri"/>
                <a:ea typeface="Microsoft YaHei"/>
              </a:rPr>
              <a:t>把每次都得做的事变自动执行。
.claude/settings.json 配一段，AI 不能跳过。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02 · 三个最常用的事件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Hook = 在 X 时机被强制执行的 shell 命令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703320" cy="548640"/>
          </a:xfrm>
          <a:prstGeom prst="rect">
            <a:avLst/>
          </a:prstGeom>
          <a:solidFill>
            <a:srgbClr val="4F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212848"/>
            <a:ext cx="315467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onsolas"/>
                <a:ea typeface="Consolas"/>
              </a:rPr>
              <a:t>SessionStart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918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D77A61"/>
                </a:solidFill>
                <a:latin typeface="Calibri"/>
                <a:ea typeface="Microsoft YaHei"/>
              </a:rPr>
              <a:t>会话启动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59" y="3730752"/>
            <a:ext cx="3154680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59" y="3840479"/>
            <a:ext cx="315467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为新会话注入项目状态，让 AI 一上来就知道现状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920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典型用途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120640"/>
            <a:ext cx="3154679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B2A4E"/>
                </a:solidFill>
                <a:latin typeface="Consolas"/>
                <a:ea typeface="Consolas"/>
              </a:rPr>
              <a:t>git status
+ 当前分支
+ 最近 3 次提交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39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43399" y="2103120"/>
            <a:ext cx="3703320" cy="548640"/>
          </a:xfrm>
          <a:prstGeom prst="rect">
            <a:avLst/>
          </a:prstGeom>
          <a:solidFill>
            <a:srgbClr val="5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17719" y="2212848"/>
            <a:ext cx="315467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PRE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278892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onsolas"/>
                <a:ea typeface="Consolas"/>
              </a:rPr>
              <a:t>UserPromptSubmit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2918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D77A61"/>
                </a:solidFill>
                <a:latin typeface="Calibri"/>
                <a:ea typeface="Microsoft YaHei"/>
              </a:rPr>
              <a:t>用户提交 prompt 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17719" y="3730752"/>
            <a:ext cx="3154680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17719" y="3840479"/>
            <a:ext cx="315467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在 AI 看到 prompt 之前预处理输入 / 注入项目状态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8920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典型用途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5120640"/>
            <a:ext cx="3154679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B2A4E"/>
                </a:solidFill>
                <a:latin typeface="Consolas"/>
                <a:ea typeface="Consolas"/>
              </a:rPr>
              <a:t>校验 prompt
注入 .env 摘要
动态扩 @ 引用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38159" y="2103120"/>
            <a:ext cx="3703320" cy="5486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0" y="2212848"/>
            <a:ext cx="315467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78892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onsolas"/>
                <a:ea typeface="Consolas"/>
              </a:rPr>
              <a:t>PostToolUse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918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D77A61"/>
                </a:solidFill>
                <a:latin typeface="Calibri"/>
                <a:ea typeface="Microsoft YaHei"/>
              </a:rPr>
              <a:t>工具调用结束后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0" y="3730752"/>
            <a:ext cx="3154679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0" y="3840479"/>
            <a:ext cx="315467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Edit 完跑 lint / Bash 完记日志 / 触发自动修复闭环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920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典型用途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20640"/>
            <a:ext cx="3154679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B2A4E"/>
                </a:solidFill>
                <a:latin typeface="Consolas"/>
                <a:ea typeface="Consolas"/>
              </a:rPr>
              <a:t>ruff --fix
命令日志
类型检查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完整三事件示例：lesson2/demo/02-hooks/settings.json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02 · 动手做(2 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验证 SessionStart 已生效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C6E91"/>
                </a:solidFill>
                <a:latin typeface="Calibri"/>
                <a:ea typeface="Microsoft YaHei"/>
              </a:rPr>
              <a:t>本仓库已经把三事件 hook 配好了，新开会话即可看到效果。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操作步骤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97480"/>
            <a:ext cx="4526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新开一个 Claude Code 会话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08960"/>
            <a:ext cx="45262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E91"/>
                </a:solidFill>
                <a:latin typeface="Calibri"/>
                <a:ea typeface="Microsoft YaHei"/>
              </a:rPr>
              <a:t>hook 只在会话启动那一刻加载，旧会话不回溯生效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31920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86200"/>
            <a:ext cx="4526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在仓库根目录启动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97680"/>
            <a:ext cx="45262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B2A4E"/>
                </a:solidFill>
                <a:latin typeface="Consolas"/>
                <a:ea typeface="Consolas"/>
              </a:rPr>
              <a:t>cd &lt;ai_lesson 仓库&gt;
claude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120640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74920"/>
            <a:ext cx="4526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A36"/>
                </a:solidFill>
                <a:latin typeface="Calibri"/>
                <a:ea typeface="Microsoft YaHei"/>
              </a:rPr>
              <a:t>看启动横幅下的 hook 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486400"/>
            <a:ext cx="45262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E91"/>
                </a:solidFill>
                <a:latin typeface="Calibri"/>
                <a:ea typeface="Microsoft YaHei"/>
              </a:rPr>
              <a:t>stdout 会被注入 Claude 的上下文 →
下一段就能看到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应当看到(被注入到对话)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5146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92240" y="2697480"/>
            <a:ext cx="5029200" cy="3291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7F4EE"/>
                </a:solidFill>
                <a:latin typeface="Consolas"/>
                <a:ea typeface="Consolas"/>
              </a:rPr>
              <a:t>SessionStart:resume hook success:
--- 当前 git 状态 ---
 M lesson2/README.md
 M CLAUDE.md
?? lesson2/homework/task1-hook/
--- 当前分支 ---
main
--- 最近 3 次提交 ---
9509b25 polish lesson2 materials
d1c9491 add lesson 2: 高级技巧
2a1ab56 add lesson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看不到这段？通常是没新开会话；或 JSON 写坏了，用 claude --debug 看报错。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02 · 动手做(最戏剧性的 5 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PostToolUse 自动修复闭环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59" y="23317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91440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2057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Claude 改 bad_format.py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788920"/>
            <a:ext cx="1828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77A61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611880" y="23317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80" y="2331720"/>
            <a:ext cx="91440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880360"/>
            <a:ext cx="2057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PostToolUse 触发
ruff --fix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88920"/>
            <a:ext cx="1828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77A61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0" y="23317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4F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91440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回流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80360"/>
            <a:ext cx="2057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ruff 诊断回到对话
Claude 看到错误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788920"/>
            <a:ext cx="1828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77A61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189720" y="23317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89720" y="2331720"/>
            <a:ext cx="91440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自修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880360"/>
            <a:ext cx="2057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Claude 主动再发
Edit / Read 对齐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A4E"/>
                </a:solidFill>
                <a:latin typeface="Calibri"/>
                <a:ea typeface="Microsoft YaHei"/>
              </a:rPr>
              <a:t>粘贴这条 prompt 触发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6400800" cy="128016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4251960"/>
            <a:ext cx="6126480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7F4EE"/>
                </a:solidFill>
                <a:latin typeface="Consolas"/>
                <a:ea typeface="Consolas"/>
              </a:rPr>
              <a:t>把 lesson2/demo/02-hooks/samples/bad_format.py 里
calculate_total 函数实现改成：输入 list[dict]，
每项有 price 和 quantity，返回总金额。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3749039"/>
            <a:ext cx="4572000" cy="1645920"/>
          </a:xfrm>
          <a:prstGeom prst="roundRect">
            <a:avLst>
              <a:gd name="adj" fmla="val 5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78040" y="3840480"/>
            <a:ext cx="4572000" cy="8686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  <a:ea typeface="Microsoft YaHe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次人工干预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120640"/>
            <a:ext cx="45720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F7F4EE"/>
                </a:solidFill>
                <a:latin typeface="Calibri"/>
                <a:ea typeface="Microsoft YaHei"/>
              </a:rPr>
              <a:t>AI 自己闭环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EE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669280"/>
            <a:ext cx="10972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2A4E"/>
                </a:solidFill>
                <a:latin typeface="Calibri"/>
                <a:ea typeface="Microsoft YaHei"/>
              </a:rPr>
              <a:t>🧹 练完想还原样本：</a:t>
            </a:r>
            <a:r>
              <a:rPr sz="1200" b="0" i="0">
                <a:solidFill>
                  <a:srgbClr val="222A36"/>
                </a:solidFill>
                <a:latin typeface="Consolas"/>
                <a:ea typeface="Consolas"/>
              </a:rPr>
              <a:t>  git restore lesson2/demo/02-hooks/samples/bad_format.py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8A8476"/>
                </a:solidFill>
                <a:latin typeface="Calibri"/>
                <a:ea typeface="Microsoft YaHei"/>
              </a:rPr>
              <a:t>      (不要动 .claude/settings.json，它是仓库的一部分)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02 · 关键认知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554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A4E"/>
                </a:solidFill>
                <a:latin typeface="Calibri"/>
                <a:ea typeface="Microsoft YaHei"/>
              </a:rPr>
              <a:t>Hook 输出回到对话里 ——
这不是副作用，这是 feature。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42316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74320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164592" cy="32918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6400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A4E"/>
                </a:solidFill>
                <a:latin typeface="Calibri"/>
                <a:ea typeface="Microsoft YaHei"/>
              </a:rPr>
              <a:t>你不是在写自动化脚本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6400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77A61"/>
                </a:solidFill>
                <a:latin typeface="Calibri"/>
                <a:ea typeface="Microsoft YaHei"/>
              </a:rPr>
              <a:t>你是在给 AI 装传感器。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977639"/>
            <a:ext cx="5989320" cy="0"/>
          </a:xfrm>
          <a:prstGeom prst="line">
            <a:avLst/>
          </a:prstGeom>
          <a:ln w="1016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4114800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lint 报错 → AI 看见 → 主动再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6E91"/>
                </a:solidFill>
                <a:latin typeface="Calibri"/>
                <a:ea typeface="Microsoft YaHei"/>
              </a:rPr>
              <a:t>AI 像有了「自检反射」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git status → AI 看见 → 主动选目标分支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47488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6E91"/>
                </a:solidFill>
                <a:latin typeface="Calibri"/>
                <a:ea typeface="Microsoft YaHei"/>
              </a:rPr>
              <a:t>AI 知道当前在哪条分支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命令日志 → AI 看见 → 主动改路径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87568"/>
            <a:ext cx="6126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6E91"/>
                </a:solidFill>
                <a:latin typeface="Calibri"/>
                <a:ea typeface="Microsoft YaHei"/>
              </a:rPr>
              <a:t>AI 不会重复跑已经失败的命令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743200"/>
            <a:ext cx="4069080" cy="329184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0956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20040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Subagent  vs  Hook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3749039"/>
            <a:ext cx="3611880" cy="0"/>
          </a:xfrm>
          <a:prstGeom prst="line">
            <a:avLst/>
          </a:prstGeom>
          <a:ln w="127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09560" y="3886200"/>
            <a:ext cx="3657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77A61"/>
                </a:solidFill>
                <a:latin typeface="Calibri"/>
                <a:ea typeface="Microsoft YaHei"/>
              </a:rPr>
              <a:t>Subagent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16052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EE7D9"/>
                </a:solidFill>
                <a:latin typeface="Calibri"/>
                <a:ea typeface="Microsoft YaHei"/>
              </a:rPr>
              <a:t>主动派遣 ——
你说「派一个去做 X」。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09560" y="4846320"/>
            <a:ext cx="3611880" cy="0"/>
          </a:xfrm>
          <a:prstGeom prst="line">
            <a:avLst/>
          </a:prstGeom>
          <a:ln w="6350">
            <a:solidFill>
              <a:srgbClr val="2C3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09560" y="4983480"/>
            <a:ext cx="3657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77A61"/>
                </a:solidFill>
                <a:latin typeface="Calibri"/>
                <a:ea typeface="Microsoft YaHei"/>
              </a:rPr>
              <a:t>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257800"/>
            <a:ext cx="3657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EE7D9"/>
                </a:solidFill>
                <a:latin typeface="Calibri"/>
                <a:ea typeface="Microsoft YaHei"/>
              </a:rPr>
              <a:t>被动触发 ——
Claude 不能跳过，事件到
就强制执行。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💡 可以同时用：subagent 干粗活，hook 自动收尾。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02 · 三个反模式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Hook 一旦写歪，体验崩得很快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70332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26771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86000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反模式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154679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B2A4E"/>
                </a:solidFill>
                <a:latin typeface="Calibri"/>
                <a:ea typeface="Microsoft YaHei"/>
              </a:rPr>
              <a:t>PostToolUse 跑全项目测试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77639"/>
            <a:ext cx="3154679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C6E91"/>
                </a:solidFill>
                <a:latin typeface="Calibri"/>
                <a:ea typeface="Microsoft YaHei"/>
              </a:rPr>
              <a:t>每次 Edit 都等几十秒，体验直接崩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59" y="5029200"/>
            <a:ext cx="3154680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59" y="5120640"/>
            <a:ext cx="3154679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F7A55"/>
                </a:solidFill>
                <a:latin typeface="Calibri"/>
                <a:ea typeface="Microsoft YaHei"/>
              </a:rPr>
              <a:t>✓ 只跑被改文件的 lint / type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43399" y="2103120"/>
            <a:ext cx="370332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7719" y="226771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39" y="2286000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反模式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3017520"/>
            <a:ext cx="3154679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B2A4E"/>
                </a:solidFill>
                <a:latin typeface="Calibri"/>
                <a:ea typeface="Microsoft YaHei"/>
              </a:rPr>
              <a:t>hook 输出几百行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977639"/>
            <a:ext cx="3154679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C6E91"/>
                </a:solidFill>
                <a:latin typeface="Calibri"/>
                <a:ea typeface="Microsoft YaHei"/>
              </a:rPr>
              <a:t>污染主线上下文，AI 反而被 noise 拖慢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17719" y="5029200"/>
            <a:ext cx="3154680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17719" y="5120640"/>
            <a:ext cx="3154679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F7A55"/>
                </a:solidFill>
                <a:latin typeface="Calibri"/>
                <a:ea typeface="Microsoft YaHei"/>
              </a:rPr>
              <a:t>✓ 只回流关键诊断；详细日志落盘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138159" y="2103120"/>
            <a:ext cx="370332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80" y="226771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399" y="2286000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反模式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3154679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B2A4E"/>
                </a:solidFill>
                <a:latin typeface="Calibri"/>
                <a:ea typeface="Microsoft YaHei"/>
              </a:rPr>
              <a:t>用 exit 1 阻塞工具调用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977639"/>
            <a:ext cx="3154679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C6E91"/>
                </a:solidFill>
                <a:latin typeface="Calibri"/>
                <a:ea typeface="Microsoft YaHei"/>
              </a:rPr>
              <a:t>除非真的需要 —— AI 会反复重试，浪费 token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5029200"/>
            <a:ext cx="3154679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12480" y="5120640"/>
            <a:ext cx="3154679" cy="868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F7A55"/>
                </a:solidFill>
                <a:latin typeface="Calibri"/>
                <a:ea typeface="Microsoft YaHei"/>
              </a:rPr>
              <a:t>✓ 默认 exit 0，仅在危险命令上拦截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口诀：hook 要轻、要静、要少阻塞。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36576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D77A61"/>
                </a:solidFill>
                <a:latin typeface="Calibri"/>
                <a:ea typeface="Microsoft YaHei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Cursor 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383280"/>
            <a:ext cx="6400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EE7D9"/>
                </a:solidFill>
                <a:latin typeface="Calibri"/>
                <a:ea typeface="Microsoft YaHei"/>
              </a:rPr>
              <a:t>Composer · Background Agents · 分层 Rules
跨文件改造 + 规则按场景生效。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03 · Cursor 三件武器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Composer · Background Agents · Rules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703320" cy="54864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64592" cy="5486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23317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Composer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59" y="222199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0359" y="2221991"/>
            <a:ext cx="10972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</a:rPr>
              <a:t>Ctrl+I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163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D77A61"/>
                </a:solidFill>
                <a:latin typeface="Calibri"/>
                <a:ea typeface="Microsoft YaHei"/>
              </a:rPr>
              <a:t>多文件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46120"/>
            <a:ext cx="3154679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A36"/>
                </a:solidFill>
                <a:latin typeface="Calibri"/>
                <a:ea typeface="Microsoft YaHei"/>
              </a:rPr>
              <a:t>跨文件改动用它。@文件夹 / @docs / @git 添加上下文。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97679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97679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重命名贯穿多文件 / 跨模块重构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59" y="4800599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59" y="4864607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64607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先列清单 → 跨文件 diff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59" y="5367527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59" y="5431536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431536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Ctrl+K 只改选中段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" y="5934455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4339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43399" y="2103120"/>
            <a:ext cx="3703320" cy="54864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43399" y="2103120"/>
            <a:ext cx="164592" cy="5486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09159" y="2194560"/>
            <a:ext cx="23317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Background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19" y="222199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675119" y="2221991"/>
            <a:ext cx="10972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</a:rPr>
              <a:t>云端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28163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D77A61"/>
                </a:solidFill>
                <a:latin typeface="Calibri"/>
                <a:ea typeface="Microsoft YaHei"/>
              </a:rPr>
              <a:t>本课不实操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3246120"/>
            <a:ext cx="3154679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A36"/>
                </a:solidFill>
                <a:latin typeface="Calibri"/>
                <a:ea typeface="Microsoft YaHei"/>
              </a:rPr>
              <a:t>把长任务(200 个组件批量重构)丢到 Cursor 云端跑。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4297679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场景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4297679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5 分钟 +、稳定可重复的批量任务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17719" y="4800599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17719" y="4864607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特征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59" y="4864607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异步、并行、不占本地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17719" y="5367527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17719" y="5431536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59" y="5431536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需登录后台，本课时长不允许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17719" y="5934455"/>
            <a:ext cx="31546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138159" y="210312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138159" y="2103120"/>
            <a:ext cx="3703320" cy="54864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138159" y="2103120"/>
            <a:ext cx="164592" cy="54864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03919" y="2194560"/>
            <a:ext cx="233172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.cursor/rules/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69880" y="222199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469880" y="2221991"/>
            <a:ext cx="10972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</a:rPr>
              <a:t>项目根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8163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D77A61"/>
                </a:solidFill>
                <a:latin typeface="Calibri"/>
                <a:ea typeface="Microsoft YaHei"/>
              </a:rPr>
              <a:t>分层注入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46120"/>
            <a:ext cx="3154679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A36"/>
                </a:solidFill>
                <a:latin typeface="Calibri"/>
                <a:ea typeface="Microsoft YaHei"/>
              </a:rPr>
              <a:t>alwaysApply / globs / 手动 三种生效方式。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297679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场景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19" y="4297679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全局规范、语言特性、偶发提示模板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12480" y="4800599"/>
            <a:ext cx="31546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12480" y="4864607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特征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19" y="4864607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frontmatter 决定何时注入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412480" y="5367527"/>
            <a:ext cx="31546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412480" y="5431536"/>
            <a:ext cx="640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陷阱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19" y="5431536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22A36"/>
                </a:solidFill>
                <a:latin typeface="Calibri"/>
                <a:ea typeface="Microsoft YaHei"/>
              </a:rPr>
              <a:t>不要全部 alwaysApply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412480" y="5934455"/>
            <a:ext cx="31546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今天主要练 Composer + Rules；Background Agents 课后可自行尝试。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03 · 动手做(3 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Composer 跨文件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D77A61"/>
                </a:solidFill>
                <a:latin typeface="Calibri"/>
                <a:ea typeface="Microsoft YaHei"/>
              </a:rPr>
              <a:t>⚠️ 这一节切到 Cursor，不是 Claude Code。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65836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468879"/>
            <a:ext cx="384048" cy="38404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79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在 Cursor 打开 ai_lesson 仓库根目录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218687"/>
            <a:ext cx="384048" cy="38404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18687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7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按 Ctrl+I(Mac: Cmd+I) 启动 Composer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968496"/>
            <a:ext cx="384048" cy="38404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68496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68496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复制 demo/03-cursor-advanced/composer-task.md 中
两个 --- 之间的任务正文，粘到 Composer，回车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718304"/>
            <a:ext cx="384048" cy="38404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18304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18304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Composer 先列「会动的文件清单」，再给跨文件 diff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468112"/>
            <a:ext cx="384048" cy="38404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68112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68112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C04A3E"/>
                </a:solidFill>
                <a:latin typeface="Calibri"/>
                <a:ea typeface="Microsoft YaHei"/>
              </a:rPr>
              <a:t>⚠️ 不要点 Apply / Accept All —— 体验流程，看完关掉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194560"/>
            <a:ext cx="4434840" cy="393192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43800" y="2377440"/>
            <a:ext cx="40233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核心差异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697480"/>
            <a:ext cx="4023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Composer ≠ Ctrl+K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43800" y="3246120"/>
            <a:ext cx="4023360" cy="0"/>
          </a:xfrm>
          <a:prstGeom prst="line">
            <a:avLst/>
          </a:prstGeom>
          <a:ln w="127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43800" y="34290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43800" y="3429000"/>
            <a:ext cx="13716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Consolas"/>
              </a:rPr>
              <a:t>Ctrl+K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886200"/>
            <a:ext cx="40233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7F4EE"/>
                </a:solidFill>
                <a:latin typeface="Calibri"/>
                <a:ea typeface="Microsoft YaHei"/>
              </a:rPr>
              <a:t>只改你选中的那段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846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43800" y="4846320"/>
            <a:ext cx="13716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Consolas"/>
              </a:rPr>
              <a:t>Composer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303520"/>
            <a:ext cx="40233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7F4EE"/>
                </a:solidFill>
                <a:latin typeface="Calibri"/>
                <a:ea typeface="Microsoft YaHei"/>
              </a:rPr>
              <a:t>跨文件 + 自己定位
+ 自己改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💡 用 Composer 时多用 @ 添加上下文：@components/ 比口头描述准 10 倍。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03 · .cursor/rules/ 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三种生效方式 · 各管各的场景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703320" cy="594360"/>
          </a:xfrm>
          <a:prstGeom prst="rect">
            <a:avLst/>
          </a:prstGeom>
          <a:solidFill>
            <a:srgbClr val="4F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  <a:ea typeface="Consolas"/>
              </a:rPr>
              <a:t>alwaysApply: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每次对话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59" y="3291839"/>
            <a:ext cx="315468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59" y="33832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适合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611879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全局编码规范 / UTC 约定 / 团队语言风格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976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526279"/>
            <a:ext cx="3154679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F867C"/>
                </a:solidFill>
                <a:latin typeface="Consolas"/>
                <a:ea typeface="Consolas"/>
              </a:rPr>
              <a:t>本仓库的
project-conventions.mdc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399" y="21031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43399" y="2103120"/>
            <a:ext cx="3703320" cy="594360"/>
          </a:xfrm>
          <a:prstGeom prst="rect">
            <a:avLst/>
          </a:prstGeom>
          <a:solidFill>
            <a:srgbClr val="5C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17719" y="2221991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  <a:ea typeface="Consolas"/>
              </a:rPr>
              <a:t>globs: "**/*.py"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288036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编辑匹配文件时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19" y="3291839"/>
            <a:ext cx="315468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19" y="33832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适合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3611879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语言 / 框架特有规则、目录约束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2976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4526279"/>
            <a:ext cx="3154679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C6E91"/>
                </a:solidFill>
                <a:latin typeface="Consolas"/>
                <a:ea typeface="Consolas"/>
              </a:rPr>
              <a:t>tests/ 下用 pytest
不要用 unittest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21031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38159" y="2103120"/>
            <a:ext cx="3703320" cy="5943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0" y="2221991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  <a:ea typeface="Consolas"/>
              </a:rPr>
              <a:t>手动 @rule-name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8036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显式 @ 调用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3291839"/>
            <a:ext cx="3154679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12480" y="33832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11879"/>
            <a:ext cx="31546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不常用提示模板 / 偶发场景模板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97679"/>
            <a:ext cx="3154679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26279"/>
            <a:ext cx="3154679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D77A61"/>
                </a:solidFill>
                <a:latin typeface="Consolas"/>
                <a:ea typeface="Consolas"/>
              </a:rPr>
              <a:t>@code-review-checklist
@migration-template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D77A61"/>
                </a:solidFill>
                <a:latin typeface="Calibri"/>
                <a:ea typeface="Microsoft YaHei"/>
              </a:rPr>
              <a:t>❝ 全部 alwaysApply 等于全部都不重要。 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真正高频的规则才放 alwaysApply，按场景的用 globs，偶发的留 manual。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03 · 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Composer 万能锤 / 规则字典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57784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226771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B2A4E"/>
                </a:solidFill>
                <a:latin typeface="Calibri"/>
                <a:ea typeface="Microsoft YaHei"/>
              </a:rPr>
              <a:t>把 Composer 当万能锤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86200"/>
            <a:ext cx="502920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C6E91"/>
                </a:solidFill>
                <a:latin typeface="Calibri"/>
                <a:ea typeface="Microsoft YaHei"/>
              </a:rPr>
              <a:t>跨文件改动用 Composer，单点问答用 Ctrl+L。
拿大锤敲钉子既慢又脏。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59" y="5303520"/>
            <a:ext cx="5029200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59" y="5440679"/>
            <a:ext cx="457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F7A55"/>
                </a:solidFill>
                <a:latin typeface="Calibri"/>
                <a:ea typeface="Microsoft Ya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13248"/>
            <a:ext cx="47548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3F7A55"/>
                </a:solidFill>
                <a:latin typeface="Calibri"/>
                <a:ea typeface="Microsoft YaHei"/>
              </a:rPr>
              <a:t>什么时候用什么 → 看任务，不是看习惯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1031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309359" y="2103120"/>
            <a:ext cx="557784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79" y="2267712"/>
            <a:ext cx="548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017520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B2A4E"/>
                </a:solidFill>
                <a:latin typeface="Calibri"/>
                <a:ea typeface="Microsoft YaHei"/>
              </a:rPr>
              <a:t>rules 写成几百行规章制度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886200"/>
            <a:ext cx="502920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C6E91"/>
                </a:solidFill>
                <a:latin typeface="Calibri"/>
                <a:ea typeface="Microsoft YaHei"/>
              </a:rPr>
              <a:t>AI 不会真的「记住」长篇文档；规则越长，关键越被稀释。
5–10 条铁律 + 示例，远胜厚厚一本。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79" y="5303520"/>
            <a:ext cx="5029201" cy="0"/>
          </a:xfrm>
          <a:prstGeom prst="line">
            <a:avLst/>
          </a:prstGeom>
          <a:ln w="889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79" y="5440679"/>
            <a:ext cx="457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F7A55"/>
                </a:solidFill>
                <a:latin typeface="Calibri"/>
                <a:ea typeface="Microsoft YaHe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5413248"/>
            <a:ext cx="475487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3F7A55"/>
                </a:solidFill>
                <a:latin typeface="Calibri"/>
                <a:ea typeface="Microsoft YaHei"/>
              </a:rPr>
              <a:t>rule 是给 AI 看的，不是给审计员看的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记住：工具没有最强，只有匹配。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36576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D77A61"/>
                </a:solidFill>
                <a:latin typeface="Calibri"/>
                <a:ea typeface="Microsoft YaHei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383280"/>
            <a:ext cx="6400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EE7D9"/>
                </a:solidFill>
                <a:latin typeface="Calibri"/>
                <a:ea typeface="Microsoft YaHei"/>
              </a:rPr>
              <a:t>装一个，用一个。
不是给你多十个工具，是给你多十种思维范式。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04 · 两个明星生态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ECC  ·  Superpowers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E91"/>
                </a:solidFill>
                <a:latin typeface="Calibri"/>
                <a:ea typeface="Microsoft YaHei"/>
              </a:rPr>
              <a:t>Plugins 是 Claude Code 独有能力 —— Cursor 没有直接对应物。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5577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463040" cy="3840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64592" cy="384048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2560320"/>
            <a:ext cx="128016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ECC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200400"/>
            <a:ext cx="914400" cy="0"/>
          </a:xfrm>
          <a:prstGeom prst="line">
            <a:avLst/>
          </a:prstGeom>
          <a:ln w="127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3291839"/>
            <a:ext cx="1280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Everything 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440679"/>
            <a:ext cx="1280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D77A61"/>
                </a:solidFill>
                <a:latin typeface="Calibri"/>
                <a:ea typeface="Microsoft YaHei"/>
              </a:rPr>
              <a:t>增强包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560320"/>
            <a:ext cx="365759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为 Claude Code 提供优化 agent 配置 + 一组专用 skill
+ 代码审查流水线等增强能力。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206240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工具增强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80" y="4681727"/>
            <a:ext cx="36118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40280" y="4754879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54879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agent 配置 + skills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40280" y="5230367"/>
            <a:ext cx="36118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40280" y="5303519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典型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303519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code-review / harness-audit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40280" y="5779007"/>
            <a:ext cx="3611879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63640" y="2194560"/>
            <a:ext cx="5577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63640" y="2194560"/>
            <a:ext cx="1463040" cy="3840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63640" y="2194560"/>
            <a:ext cx="164592" cy="384048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8231" y="2560320"/>
            <a:ext cx="128016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Superpowers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29400" y="3200400"/>
            <a:ext cx="914400" cy="0"/>
          </a:xfrm>
          <a:prstGeom prst="line">
            <a:avLst/>
          </a:prstGeom>
          <a:ln w="127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28231" y="3291839"/>
            <a:ext cx="128016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AI Agent Methodology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5440679"/>
            <a:ext cx="12801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D77A61"/>
                </a:solidFill>
                <a:latin typeface="Calibri"/>
                <a:ea typeface="Microsoft YaHei"/>
              </a:rPr>
              <a:t>方法论框架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560320"/>
            <a:ext cx="365759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提供 brainstorming / TDD / systematic-debugging
/ code-review 等 skill，每个都是一套强制流程。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206240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方法论沉淀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55279" y="4681727"/>
            <a:ext cx="36118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55279" y="4754879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形态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754879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skills 强制流程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55279" y="5230367"/>
            <a:ext cx="36118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55279" y="5303519"/>
            <a:ext cx="640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典型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303519"/>
            <a:ext cx="288035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brainstorming / TDD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55279" y="5779007"/>
            <a:ext cx="3611880" cy="0"/>
          </a:xfrm>
          <a:prstGeom prst="line">
            <a:avLst/>
          </a:prstGeom>
          <a:ln w="508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安装入口：在 Claude Code 输入 /plugin → 添加 marketplace → 装 superpowers。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04 · 动手做(4 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反例  vs  正例 · brainstorming skill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486400" cy="64008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❌  反例 — 不走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alibri"/>
                <a:ea typeface="Microsoft YaHei"/>
              </a:rPr>
              <a:t>/clear 后整段粘贴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466344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7F4EE"/>
                </a:solidFill>
                <a:latin typeface="Consolas"/>
                <a:ea typeface="Consolas"/>
              </a:rPr>
              <a:t>我想给 lesson1/demo/claude-demo/btc_kline.py
加一个新功能 —— 支持同时绘制
多个币种的 K 线对比图。帮我加一下。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alibri"/>
                <a:ea typeface="Microsoft YaHei"/>
              </a:rPr>
              <a:t>AI 的反应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50292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▸ 第 1-2 轮直接 Edit 改代码
▸ 没问「对比哪些币种」
▸ 没问「叠加还是子图」
▸ 在猜你想要什么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63640" y="2103120"/>
            <a:ext cx="5486400" cy="640080"/>
          </a:xfrm>
          <a:prstGeom prst="rect">
            <a:avLst/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✅  正例 — 走 brainstorming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alibri"/>
                <a:ea typeface="Microsoft YaHei"/>
              </a:rPr>
              <a:t>/clear 后整段粘贴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20040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7512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onsolas"/>
                <a:ea typeface="Consolas"/>
              </a:rPr>
              <a:t>/superpowers:brainstorming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657600"/>
            <a:ext cx="466344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7F4EE"/>
                </a:solidFill>
                <a:latin typeface="Consolas"/>
                <a:ea typeface="Consolas"/>
              </a:rPr>
              <a:t>我想给 …btc_kline.py 加新功能 ——
支持同时绘制多个币种的对比图。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alibri"/>
                <a:ea typeface="Microsoft YaHei"/>
              </a:rPr>
              <a:t>AI 的反应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50292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▸ 不动手，先问收敛性问题
▸ 「对比哪些币种？」
▸ 「叠加还是子图？」
▸ 「现有单币种功能要不要保留？」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走 2-3 轮就够了 —— 重点体会两条轨迹的差异，不必真把功能实现完。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04 · 关键认知 + 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Plugins 是思维范式，不是工具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11091672" cy="141732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D77A61"/>
                </a:solidFill>
                <a:latin typeface="Calibri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100584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Plugin 不是给你多十个工具，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97480"/>
            <a:ext cx="100584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77A61"/>
                </a:solidFill>
                <a:latin typeface="Calibri"/>
                <a:ea typeface="Microsoft YaHei"/>
              </a:rPr>
              <a:t>是给你多十种思维范式。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EE7D9"/>
                </a:solidFill>
                <a:latin typeface="Calibri"/>
                <a:ea typeface="Microsoft YaHei"/>
              </a:rPr>
              <a:t>每个 skill = 高水平工程师的标准动作，你不用自己摸索。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164592" cy="146304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4A3E"/>
                </a:solidFill>
                <a:latin typeface="Calibri"/>
                <a:ea typeface="Microsoft YaHei"/>
              </a:rPr>
              <a:t>代价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50292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刚开始觉得啰嗦 —— skill 强制问 3-4 轮才让你动手。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3749039"/>
            <a:ext cx="164592" cy="1463040"/>
          </a:xfrm>
          <a:prstGeom prst="rect">
            <a:avLst/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F7A55"/>
                </a:solidFill>
                <a:latin typeface="Calibri"/>
                <a:ea typeface="Microsoft YaHei"/>
              </a:rPr>
              <a:t>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50292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避免和 AI 一起 vibe coding 跑偏 30 分钟。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EEE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A4E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972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4A3E"/>
                </a:solidFill>
                <a:latin typeface="Calibri"/>
                <a:ea typeface="Microsoft YaHei"/>
              </a:rPr>
              <a:t>✕ 装一堆 plugin 但从不调用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 · 入口是 /plugin:skill-name，不熟就废了。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43600"/>
            <a:ext cx="10972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4A3E"/>
                </a:solidFill>
                <a:latin typeface="Calibri"/>
                <a:ea typeface="Microsoft YaHei"/>
              </a:rPr>
              <a:t>✕ 把 skill 当死规则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 · 强制流程是好事，但「这个流程适不适合当前任务」是你的责任。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36576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 i="0">
                <a:solidFill>
                  <a:srgbClr val="D77A61"/>
                </a:solidFill>
                <a:latin typeface="Calibri"/>
                <a:ea typeface="Microsoft YaHei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4008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383280"/>
            <a:ext cx="6400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EE7D9"/>
                </a:solidFill>
                <a:latin typeface="Calibri"/>
                <a:ea typeface="Microsoft YaHei"/>
              </a:rPr>
              <a:t>30 分钟搞定 · 不要求写新代码。
感受 hook 与 subagent 在真实任务中的价值。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7D9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05 · 任务 1(必做)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跑通一次 Bash 命令记录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E91"/>
                </a:solidFill>
                <a:latin typeface="Calibri"/>
                <a:ea typeface="Microsoft YaHei"/>
              </a:rPr>
              <a:t>仓库已备好 PostToolUse hook —— 每次 AI 跑 Bash，自动记一行 + 回显到对话。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6858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A4E"/>
                </a:solidFill>
                <a:latin typeface="Calibri"/>
                <a:ea typeface="Microsoft YaHei"/>
              </a:rPr>
              <a:t>操作步骤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743200"/>
            <a:ext cx="329184" cy="329184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97480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进入子目录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90088"/>
            <a:ext cx="59436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A4E"/>
                </a:solidFill>
                <a:latin typeface="Consolas"/>
                <a:ea typeface="Consolas"/>
              </a:rPr>
              <a:t>cd lesson2/homework/task1-hook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56432"/>
            <a:ext cx="329184" cy="329184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56432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10712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在该目录启动 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03320"/>
            <a:ext cx="59436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A4E"/>
                </a:solidFill>
                <a:latin typeface="Consolas"/>
                <a:ea typeface="Consolas"/>
              </a:rPr>
              <a:t>claude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329184" cy="329184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23944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整段粘贴让 Claude 跑 3 条命令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16552"/>
            <a:ext cx="59436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A4E"/>
                </a:solidFill>
                <a:latin typeface="Consolas"/>
                <a:ea typeface="Consolas"/>
              </a:rPr>
              <a:t>请独立分别跑：
git status --short / ls / echo hello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882896"/>
            <a:ext cx="329184" cy="329184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82896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37176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观察对话里的 [bash-log] 实时回显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29784"/>
            <a:ext cx="59436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A4E"/>
                </a:solidFill>
                <a:latin typeface="Consolas"/>
                <a:ea typeface="Consolas"/>
              </a:rPr>
              <a:t>Bash 调用之后立刻多一行：
[bash-log] &lt;UTC 时间&gt;  &lt;命令&gt;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596128"/>
            <a:ext cx="329184" cy="329184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50408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A36"/>
                </a:solidFill>
                <a:latin typeface="Calibri"/>
                <a:ea typeface="Microsoft YaHei"/>
              </a:rPr>
              <a:t>退出(Ctrl+D)后查看落盘日志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843016"/>
            <a:ext cx="59436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A4E"/>
                </a:solidFill>
                <a:latin typeface="Consolas"/>
                <a:ea typeface="Consolas"/>
              </a:rPr>
              <a:t>cat bash-history.log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2194560"/>
            <a:ext cx="4114800" cy="393192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1812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提交内容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两样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18120" y="3108960"/>
            <a:ext cx="3703320" cy="0"/>
          </a:xfrm>
          <a:prstGeom prst="line">
            <a:avLst/>
          </a:prstGeom>
          <a:ln w="1270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1812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77A61"/>
                </a:solidFill>
                <a:latin typeface="Calibri"/>
                <a:ea typeface="Microsoft YaHei"/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91839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对话片段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EE7D9"/>
                </a:solidFill>
                <a:latin typeface="Calibri"/>
                <a:ea typeface="Microsoft YaHei"/>
              </a:rPr>
              <a:t>包含三条 [bash-log] 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25196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77A61"/>
                </a:solidFill>
                <a:latin typeface="Calibri"/>
                <a:ea typeface="Microsoft YaHei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2 句话感受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66344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EE7D9"/>
                </a:solidFill>
                <a:latin typeface="Calibri"/>
                <a:ea typeface="Microsoft YaHei"/>
              </a:rPr>
              <a:t>你看到了什么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5349240"/>
            <a:ext cx="3749039" cy="685800"/>
          </a:xfrm>
          <a:prstGeom prst="roundRect">
            <a:avLst>
              <a:gd name="adj" fmla="val 4000"/>
            </a:avLst>
          </a:prstGeom>
          <a:solidFill>
            <a:srgbClr val="2C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55279" y="5413248"/>
            <a:ext cx="3611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alibri"/>
                <a:ea typeface="Microsoft YaHei"/>
              </a:rPr>
              <a:t>完整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5650992"/>
            <a:ext cx="36118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EEE7D9"/>
                </a:solidFill>
                <a:latin typeface="Calibri"/>
                <a:ea typeface="Microsoft YaHei"/>
              </a:rPr>
              <a:t>execution-record.md(含排错表)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✓ 5 分钟内能复现，0 行新代码。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05 · 任务 2(必做)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派 Subagent 审阅自己的代码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E91"/>
                </a:solidFill>
                <a:latin typeface="Calibri"/>
                <a:ea typeface="Microsoft YaHei"/>
              </a:rPr>
              <a:t>挑一段你最近写的真实代码(哪个项目都行，几十行就够)。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37033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703320" cy="6400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22959" y="2340864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340864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59152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0632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D77A61"/>
                </a:solidFill>
                <a:latin typeface="Calibri"/>
                <a:ea typeface="Microsoft YaHei"/>
              </a:rPr>
              <a:t>你派给 subagent 的 prompt 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66160"/>
            <a:ext cx="3154679" cy="1783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必须自包含 ——
目标 + 背景 + 重点 + 输出格式
全部写进去。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2194560"/>
            <a:ext cx="37033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43399" y="2194560"/>
            <a:ext cx="3703320" cy="6400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617719" y="2340864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2340864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39" y="2359152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0632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D77A61"/>
                </a:solidFill>
                <a:latin typeface="Calibri"/>
                <a:ea typeface="Microsoft YaHei"/>
              </a:rPr>
              <a:t>Subagent 返回的原文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566160"/>
            <a:ext cx="3154679" cy="1783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不删不改，整段贴出来。
方便对照判断。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2194560"/>
            <a:ext cx="37033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38159" y="2194560"/>
            <a:ext cx="3703320" cy="6400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412480" y="2340864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340864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399" y="2359152"/>
            <a:ext cx="27889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63239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D77A61"/>
                </a:solidFill>
                <a:latin typeface="Calibri"/>
                <a:ea typeface="Microsoft YaHei"/>
              </a:rPr>
              <a:t>3 句话写取舍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66160"/>
            <a:ext cx="3154679" cy="1783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哪条最值得做？
哪条你不会采纳？
为什么？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110916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D77A61"/>
                </a:solidFill>
                <a:latin typeface="Calibri"/>
                <a:ea typeface="Microsoft YaHei"/>
              </a:rPr>
              <a:t>❝ Subagent 不是法官，是同事。3 句话写不出取舍的，等于没派。 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深度参考：lesson2/homework/task2-subagent-review/(不要求模仿这个深度)。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2A4E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77A61"/>
                </a:solidFill>
                <a:latin typeface="Calibri"/>
                <a:ea typeface="Microsoft YaHei"/>
              </a:rPr>
              <a:t>05 · 加分项(可选 · 任选其一)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B2A4E"/>
                </a:solidFill>
                <a:latin typeface="Calibri"/>
                <a:ea typeface="Microsoft YaHei"/>
              </a:rPr>
              <a:t>扩展 task1-hook 的 log-bash.sh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E91"/>
                </a:solidFill>
                <a:latin typeface="Calibri"/>
                <a:ea typeface="Microsoft YaHei"/>
              </a:rPr>
              <a:t>在必做任务的脚本基础上加点料，提交修改后的文件。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74519"/>
            <a:ext cx="822960" cy="0"/>
          </a:xfrm>
          <a:prstGeom prst="line">
            <a:avLst/>
          </a:prstGeom>
          <a:ln w="317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94560"/>
            <a:ext cx="37033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703320" cy="594360"/>
          </a:xfrm>
          <a:prstGeom prst="rect">
            <a:avLst/>
          </a:prstGeom>
          <a:solidFill>
            <a:srgbClr val="4F8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23591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扩展 matcher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97180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0040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B2A4E"/>
                </a:solidFill>
                <a:latin typeface="Consolas"/>
                <a:ea typeface="Consolas"/>
              </a:rPr>
              <a:t>Edit | Write | MultiEdit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59" y="3794760"/>
            <a:ext cx="315468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59" y="3886200"/>
            <a:ext cx="3154679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让脚本也记录
AI 改了哪些文件
→ 完整命令 + 文件操作流水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5074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onsolas"/>
                <a:ea typeface="Consolas"/>
              </a:rPr>
              <a:t>PostToolUse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399" y="2194560"/>
            <a:ext cx="37033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43399" y="2194560"/>
            <a:ext cx="370332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617719" y="23591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危险命令拦截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297180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关键词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20040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B2A4E"/>
                </a:solidFill>
                <a:latin typeface="Consolas"/>
                <a:ea typeface="Consolas"/>
              </a:rPr>
              <a:t>rm -rf · git push --force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19" y="3794760"/>
            <a:ext cx="3154680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17719" y="3886200"/>
            <a:ext cx="3154679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识别到危险关键词时
exit 1 阻断执行
→ PreToolUse hook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19" y="5074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617719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onsolas"/>
                <a:ea typeface="Consolas"/>
              </a:rPr>
              <a:t>PreToolUse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2194560"/>
            <a:ext cx="37033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38159" y="2194560"/>
            <a:ext cx="3703320" cy="594360"/>
          </a:xfrm>
          <a:prstGeom prst="rect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0" y="2359152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敏感词脱敏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71800"/>
            <a:ext cx="315467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476"/>
                </a:solidFill>
                <a:latin typeface="Calibri"/>
                <a:ea typeface="Microsoft YaHei"/>
              </a:rPr>
              <a:t>关键词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00400"/>
            <a:ext cx="315467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B2A4E"/>
                </a:solidFill>
                <a:latin typeface="Consolas"/>
                <a:ea typeface="Consolas"/>
              </a:rPr>
              <a:t>aws_* · gcloud · token=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2480" y="3794760"/>
            <a:ext cx="3154679" cy="0"/>
          </a:xfrm>
          <a:prstGeom prst="line">
            <a:avLst/>
          </a:prstGeom>
          <a:ln w="6350">
            <a:solidFill>
              <a:srgbClr val="D9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12480" y="3886200"/>
            <a:ext cx="3154679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命令里出现敏感词时
记成 [REDACTED]
→ 安全审计友好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5074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12480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77A61"/>
                </a:solidFill>
                <a:latin typeface="Consolas"/>
                <a:ea typeface="Consolas"/>
              </a:rPr>
              <a:t>PostToolUse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📂 参考实现入口：lesson2/homework/task1-hook/execution-record.md  §8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8476"/>
                </a:solidFill>
                <a:latin typeface="Calibri"/>
                <a:ea typeface="Microsoft YaHei"/>
              </a:rPr>
              <a:t>做完了？把它当模板搬进自己的项目 —— 复制两个文件 + 一行 .gitignore 就够了。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02  ·  Claude Code × Cursor 高级技巧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77A61"/>
                </a:solidFill>
                <a:latin typeface="Calibri"/>
                <a:ea typeface="Microsoft YaHei"/>
              </a:rPr>
              <a:t>WRAP-UP  ·  学完这课，你能做什么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207008"/>
            <a:ext cx="3108960" cy="0"/>
          </a:xfrm>
          <a:prstGeom prst="line">
            <a:avLst/>
          </a:prstGeom>
          <a:ln w="19050">
            <a:solidFill>
              <a:srgbClr val="D7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0876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  <a:ea typeface="Microsoft YaHei"/>
              </a:rPr>
              <a:t>把工具变成会自检的队友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77A61"/>
                </a:solidFill>
                <a:latin typeface="Calibri"/>
                <a:ea typeface="Microsoft YaHei"/>
              </a:rPr>
              <a:t>Subagents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24328"/>
            <a:ext cx="7772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EE7D9"/>
                </a:solidFill>
                <a:latin typeface="Calibri"/>
                <a:ea typeface="Microsoft YaHei"/>
              </a:rPr>
              <a:t>随手派一个 explore subagent 摸底陌生代码，主线不被刷屏。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64991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64991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19272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77A61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772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EE7D9"/>
                </a:solidFill>
                <a:latin typeface="Calibri"/>
                <a:ea typeface="Microsoft YaHei"/>
              </a:rPr>
              <a:t>PostToolUse hook：写完代码自动 lint，AI 看到错误自我修复。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4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32504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77A61"/>
                </a:solidFill>
                <a:latin typeface="Calibri"/>
                <a:ea typeface="Microsoft YaHei"/>
              </a:rPr>
              <a:t>Composer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50791"/>
            <a:ext cx="7772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EE7D9"/>
                </a:solidFill>
                <a:latin typeface="Calibri"/>
                <a:ea typeface="Microsoft YaHei"/>
              </a:rPr>
              <a:t>用 Composer 一次跑跨多文件的重构，先看 diff 再 Apply。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91455"/>
            <a:ext cx="365760" cy="365760"/>
          </a:xfrm>
          <a:prstGeom prst="ellipse">
            <a:avLst/>
          </a:prstGeom>
          <a:solidFill>
            <a:srgbClr val="D7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91455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45736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77A61"/>
                </a:solidFill>
                <a:latin typeface="Calibri"/>
                <a:ea typeface="Microsoft YaHei"/>
              </a:rPr>
              <a:t>Plugins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64023"/>
            <a:ext cx="7772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EE7D9"/>
                </a:solidFill>
                <a:latin typeface="Calibri"/>
                <a:ea typeface="Microsoft YaHei"/>
              </a:rPr>
              <a:t>装上 Superpowers，「想加新功能」先走 brainstorming 收敛需求。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5532120"/>
            <a:ext cx="10515600" cy="0"/>
          </a:xfrm>
          <a:prstGeom prst="line">
            <a:avLst/>
          </a:prstGeom>
          <a:ln w="12700">
            <a:solidFill>
              <a:srgbClr val="2C3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77A61"/>
                </a:solidFill>
                <a:latin typeface="Calibri"/>
                <a:ea typeface="Microsoft YaHei"/>
              </a:rPr>
              <a:t>延伸阅读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E7D9"/>
                </a:solidFill>
                <a:latin typeface="Calibri"/>
                <a:ea typeface="Microsoft YaHei"/>
              </a:rPr>
              <a:t>▸  Claude Code 官方文档：subagents / hooks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E7D9"/>
                </a:solidFill>
                <a:latin typeface="Calibri"/>
                <a:ea typeface="Microsoft YaHei"/>
              </a:rPr>
              <a:t>▸  Cursor 官方：Composer / Background Agents /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EE7D9"/>
                </a:solidFill>
                <a:latin typeface="Calibri"/>
                <a:ea typeface="Microsoft YaHei"/>
              </a:rPr>
              <a:t>▸  Superpowers GitHub：claude superpowers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66928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1">
                <a:solidFill>
                  <a:srgbClr val="FFFFFF"/>
                </a:solidFill>
                <a:latin typeface="Calibri"/>
                <a:ea typeface="Microsoft YaHei"/>
              </a:rPr>
              <a:t>Have fun 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