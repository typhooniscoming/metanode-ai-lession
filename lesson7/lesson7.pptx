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2286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36592"/>
            <a:ext cx="12191695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91695" cy="18288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77240"/>
            <a:ext cx="1280160" cy="347472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28016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700010"/>
                </a:solidFill>
                <a:latin typeface="Calibri"/>
                <a:ea typeface="Microsoft YaHei"/>
              </a:rPr>
              <a:t>Lesson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777240"/>
            <a:ext cx="1188720" cy="347472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777240"/>
            <a:ext cx="118872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01018"/>
                </a:solidFill>
                <a:latin typeface="Calibri"/>
                <a:ea typeface="Microsoft YaHei"/>
              </a:rPr>
              <a:t>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  <a:ea typeface="Microsoft YaHei"/>
              </a:rPr>
              <a:t>第 7 课：Agent 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6984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CF6F5"/>
                </a:solidFill>
                <a:latin typeface="Calibri"/>
                <a:ea typeface="Microsoft YaHei"/>
              </a:rPr>
              <a:t>Claude Code Agent Teams + Hermes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AD8C0"/>
                </a:solidFill>
                <a:latin typeface="Calibri"/>
                <a:ea typeface="Microsoft YaHei"/>
              </a:rPr>
              <a:t>内嵌型 × 独立型 · 2026 年 agent 工作流的两条主流路径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AI 驱动的软件开发提效实战课  ·  Speaker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4747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D8C0"/>
                </a:solidFill>
                <a:latin typeface="Calibri"/>
                <a:ea typeface="Microsoft YaHe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474720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</a:rPr>
              <a:t>今天
四块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34747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963F"/>
                </a:solidFill>
                <a:latin typeface="Calibri"/>
                <a:ea typeface="Microsoft YaHei"/>
              </a:rPr>
              <a:t>25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3474720" cy="1828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CF6F5"/>
                </a:solidFill>
                <a:latin typeface="Calibri"/>
                <a:ea typeface="Microsoft YaHei"/>
              </a:rPr>
              <a:t>听讲为主，演示由讲师现场跑给你看；命令与配置都在讲义里能找到。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731520"/>
            <a:ext cx="86868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990011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77724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00010"/>
                </a:solidFill>
                <a:latin typeface="Calibri"/>
                <a:ea typeface="Microsoft YaHei"/>
              </a:rPr>
              <a:t>引子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23444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0555A"/>
                </a:solidFill>
                <a:latin typeface="Calibri"/>
                <a:ea typeface="Microsoft YaHei"/>
              </a:rPr>
              <a:t>从单 agent 走到 agent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691640"/>
            <a:ext cx="6035040" cy="18288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86868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990011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48839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00010"/>
                </a:solidFill>
                <a:latin typeface="Calibri"/>
                <a:ea typeface="Microsoft YaHei"/>
              </a:rPr>
              <a:t>Claude Code Agent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06039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0555A"/>
                </a:solidFill>
                <a:latin typeface="Calibri"/>
                <a:ea typeface="Microsoft YaHei"/>
              </a:rPr>
              <a:t>内嵌型多 agent 协作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3063239"/>
            <a:ext cx="6035040" cy="18288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74720"/>
            <a:ext cx="86868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990011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20439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00010"/>
                </a:solidFill>
                <a:latin typeface="Calibri"/>
                <a:ea typeface="Microsoft YaHei"/>
              </a:rPr>
              <a:t>Hermes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977639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0555A"/>
                </a:solidFill>
                <a:latin typeface="Calibri"/>
                <a:ea typeface="Microsoft YaHei"/>
              </a:rPr>
              <a:t>独立型长跑 + 8 平台入口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4434840"/>
            <a:ext cx="6035040" cy="18288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846320"/>
            <a:ext cx="86868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990011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89204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00010"/>
                </a:solidFill>
                <a:latin typeface="Calibri"/>
                <a:ea typeface="Microsoft YaHei"/>
              </a:rPr>
              <a:t>对比 · 选型 · 反模式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34924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0555A"/>
                </a:solidFill>
                <a:latin typeface="Calibri"/>
                <a:ea typeface="Microsoft YaHei"/>
              </a:rPr>
              <a:t>什么场景用哪个 + 三条坑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5806440"/>
            <a:ext cx="6035040" cy="18288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023360" cy="3200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4000" b="1" i="0">
                <a:solidFill>
                  <a:srgbClr val="C9963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377440"/>
            <a:ext cx="54864" cy="2286000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40680" y="242316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D8C0"/>
                </a:solidFill>
                <a:latin typeface="Calibri"/>
                <a:ea typeface="Microsoft YaHei"/>
              </a:rPr>
              <a:t>§ 一  ·  心智模型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788920"/>
            <a:ext cx="6583680" cy="1828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从单 agent 走到 agent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608076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AD8C0"/>
                </a:solidFill>
                <a:latin typeface="Calibri"/>
                <a:ea typeface="Microsoft YaHei"/>
              </a:rPr>
              <a:t>AI 驱动的软件开发提效实战课  ·  Lesson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080760"/>
            <a:ext cx="1097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一  ·  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700010"/>
                </a:solidFill>
                <a:latin typeface="Calibri"/>
                <a:ea typeface="Microsoft YaHei"/>
              </a:rPr>
              <a:t>单 agent  vs  Agent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50292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单 agent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Agent team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谁在干活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一个 Claude / GPT，你 prompt 一句它干一句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多个 agent 实例并行干活，每个有自己的 context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任务分发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你手工说"先做 A、再做 B"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一个 lead 拆任务到 task list，其它 agent 自己 claim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沟通方式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你 ↔ AI 单线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agent 之间互发消息、相互挑战、共享发现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适用场景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大部分日常编码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research / review / 多视角 debug / 跨层重构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瓶颈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AI 写得快，但每次只能在一条线推进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瓶颈从生成转移到验证 —— 多个 agent 同时出活，人来收口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0555A"/>
                </a:solidFill>
                <a:latin typeface="Calibri"/>
                <a:ea typeface="Microsoft YaHei"/>
              </a:rPr>
              <a:t>心态翻转：从"用工具"变成"管团队"。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" cy="5029200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515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§ 一  ·  关键判断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9728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0" b="1" i="0">
                <a:solidFill>
                  <a:srgbClr val="EAD8C0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515600" cy="1645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  <a:ea typeface="Microsoft YaHei"/>
              </a:rPr>
              <a:t>你以前是和一个 AI 结对，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515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  <a:ea typeface="Microsoft YaHei"/>
              </a:rPr>
              <a:t>现在你管一个 agent team。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023360"/>
            <a:ext cx="365760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AD8C0"/>
                </a:solidFill>
                <a:latin typeface="Calibri"/>
                <a:ea typeface="Microsoft YaHei"/>
              </a:rPr>
              <a:t>— Addy Osmani · Code Agent Orchestra ·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37760"/>
            <a:ext cx="10058400" cy="100584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74920"/>
            <a:ext cx="97840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963F"/>
                </a:solidFill>
                <a:latin typeface="Calibri"/>
                <a:ea typeface="Microsoft YaHei"/>
              </a:rPr>
              <a:t>瓶颈从生成转移到验证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486400"/>
            <a:ext cx="97840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CF6F5"/>
                </a:solidFill>
                <a:latin typeface="Calibri"/>
                <a:ea typeface="Microsoft YaHei"/>
              </a:rPr>
              <a:t>AI 那边产能爆炸；人怎么验、怎么收口、怎么综合判断成为新瓶颈。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CF6F5"/>
                </a:solidFill>
                <a:latin typeface="Calibri"/>
                <a:ea typeface="Microsoft YaHe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023360" cy="3200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4000" b="1" i="0">
                <a:solidFill>
                  <a:srgbClr val="C9963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377440"/>
            <a:ext cx="54864" cy="2286000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40680" y="242316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D8C0"/>
                </a:solidFill>
                <a:latin typeface="Calibri"/>
                <a:ea typeface="Microsoft YaHei"/>
              </a:rPr>
              <a:t>§ 二  ·  Anthropic 官方实验功能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788920"/>
            <a:ext cx="6583680" cy="1828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Claude Code Agent Teams（内嵌型）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608076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AD8C0"/>
                </a:solidFill>
                <a:latin typeface="Calibri"/>
                <a:ea typeface="Microsoft YaHei"/>
              </a:rPr>
              <a:t>AI 驱动的软件开发提效实战课  ·  Lesson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080760"/>
            <a:ext cx="1097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二.1 + 2.2  · 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700010"/>
                </a:solidFill>
                <a:latin typeface="Calibri"/>
                <a:ea typeface="Microsoft YaHei"/>
              </a:rPr>
              <a:t>一句话定义  +  vs 老 subagents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00010"/>
                </a:solidFill>
                <a:latin typeface="Calibri"/>
                <a:ea typeface="Microsoft YaHei"/>
              </a:rPr>
              <a:t>Agent Teams = Claude Code 的实验性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9848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1A1C"/>
                </a:solidFill>
                <a:latin typeface="Calibri"/>
                <a:ea typeface="Microsoft YaHei"/>
              </a:rPr>
              <a:t>Lead（领班）派出多个 Claude Code 实例当 teammates。Teammates 彼此可直接对话、共享 task list、各自独立 context window。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463040" cy="292608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46304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实验性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880360"/>
            <a:ext cx="2194560" cy="292608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880360"/>
            <a:ext cx="2194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  <a:ea typeface="Microsoft YaHei"/>
              </a:rPr>
              <a:t>需显式开启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880360"/>
            <a:ext cx="2194560" cy="292608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880360"/>
            <a:ext cx="2194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01018"/>
                </a:solidFill>
                <a:latin typeface="Calibri"/>
                <a:ea typeface="Microsoft YaHei"/>
              </a:rPr>
              <a:t>v2.1.32+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337560"/>
          <a:ext cx="110642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93776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Subagents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Agent Teams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Context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自己的 context；结果汇报回 caller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自己的 context；完全独立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Communication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只能回报 main agent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Teammates 之间直接发消息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Coordination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Main agent 统管全部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共享 task list 自协调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适合什么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干完一件事、把结果给我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需要互相讨论、挑战、汇总的复杂工作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Token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低（结果摘要返回主上下文）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高（每个 teammate 一个独立 Claude 实例）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70555A"/>
                </a:solidFill>
                <a:latin typeface="Calibri"/>
                <a:ea typeface="Microsoft YaHei"/>
              </a:rPr>
              <a:t>口诀：subagent 是派一个跑腿；Agent Team 是派一个会议室。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二.3  ·  开启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700010"/>
                </a:solidFill>
                <a:latin typeface="Calibri"/>
                <a:ea typeface="Microsoft YaHei"/>
              </a:rPr>
              <a:t>默认关闭 —— 一行环境变量打开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301752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onsolas"/>
                <a:ea typeface="Consolas"/>
              </a:rPr>
              <a:t>~/.claude/settings.json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698480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CF6F5"/>
                </a:solidFill>
                <a:latin typeface="Consolas"/>
                <a:ea typeface="Consolas"/>
              </a:rPr>
              <a:t>{
  "env": {
    "CLAUDE_CODE_EXPERIMENTAL_AGENT_TEAMS": "1"
  }
}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5394960" cy="118872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00010"/>
                </a:solidFill>
                <a:latin typeface="Calibri"/>
                <a:ea typeface="Microsoft YaHei"/>
              </a:rPr>
              <a:t>或者：shell 临时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50292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1A1C"/>
                </a:solidFill>
                <a:latin typeface="Consolas"/>
                <a:ea typeface="Consolas"/>
              </a:rPr>
              <a:t>$ export CLAUDE_CODE_EXPERIMENTAL_AGENT_TEAMS=1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6072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0555A"/>
                </a:solidFill>
                <a:latin typeface="Calibri"/>
                <a:ea typeface="Microsoft YaHei"/>
              </a:rPr>
              <a:t>（当前 shell 生效，重启失效）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983480"/>
            <a:ext cx="5394960" cy="118872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507492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前提条件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39496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</a:rPr>
              <a:t>Claude Code  ≥  v2.1.32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76072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Pro / Team / Max 任一 plan（Token 用量显著高）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二.4  ·  起一个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不写配置 —— 直接用自然语言告诉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320040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984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onsolas"/>
                <a:ea typeface="Consolas"/>
              </a:rPr>
              <a:t>Prompt 样例  ·  TODO 注释追踪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698480" cy="2468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FCF6F5"/>
                </a:solidFill>
                <a:latin typeface="Consolas"/>
                <a:ea typeface="Consolas"/>
              </a:rPr>
              <a:t>我在设计一个 CLI 工具，让开发者追踪代码里的 TODO 注释。
帮我起一个 agent team 从三个角度探索：一个负责 UX，
一个负责技术架构，一个唱反调。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00010"/>
                </a:solidFill>
                <a:latin typeface="Calibri"/>
                <a:ea typeface="Microsoft YaHei"/>
              </a:rPr>
              <a:t>Claude 自动完成的 4 步：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2651760" cy="77724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90011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650992"/>
            <a:ext cx="20116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1A1C"/>
                </a:solidFill>
                <a:latin typeface="Calibri"/>
                <a:ea typeface="Microsoft YaHei"/>
              </a:rPr>
              <a:t>建 team，落 ~/.claude/teams/&lt;name&gt;/config.json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5532120"/>
            <a:ext cx="2651760" cy="77724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562356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90011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650992"/>
            <a:ext cx="20116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1A1C"/>
                </a:solidFill>
                <a:latin typeface="Calibri"/>
                <a:ea typeface="Microsoft YaHei"/>
              </a:rPr>
              <a:t>Spawn 3 个独立 Claude Code 实例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5532120"/>
            <a:ext cx="2651760" cy="77724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562356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90011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650992"/>
            <a:ext cx="20116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1A1C"/>
                </a:solidFill>
                <a:latin typeface="Calibri"/>
                <a:ea typeface="Microsoft YaHei"/>
              </a:rPr>
              <a:t>建共享 task list，落 ~/.claude/tasks/&lt;name&gt;/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399" y="5532120"/>
            <a:ext cx="2651760" cy="77724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5623560"/>
            <a:ext cx="365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990011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5650992"/>
            <a:ext cx="20116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1A1C"/>
                </a:solidFill>
                <a:latin typeface="Calibri"/>
                <a:ea typeface="Microsoft YaHei"/>
              </a:rPr>
              <a:t>协调干完 → 汇总结论 → 清理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二.5  · 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Lead · Teammates · Task list · Mailbox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0555A"/>
                </a:solidFill>
                <a:latin typeface="Calibri"/>
                <a:ea typeface="Microsoft YaHei"/>
              </a:rPr>
              <a:t>Agent Teams 四件套——这是 Anthropic 专门设计的协作基础设施。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49240" cy="15544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Team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42032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起 team 的主会话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80360"/>
            <a:ext cx="4937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拆任务、spawn teammates、协调、汇总最终输出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349240" cy="1554480"/>
          </a:xfrm>
          <a:prstGeom prst="roundRect">
            <a:avLst>
              <a:gd name="adj" fmla="val 18000"/>
            </a:avLst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121408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Teammates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542032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独立 Claude Code 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880360"/>
            <a:ext cx="4937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每个一个 context window，互相直接通信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349240" cy="155448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904488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Task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325112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共享工作清单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663440"/>
            <a:ext cx="4937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pending / in_progress / completed + 依赖管理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349240" cy="155448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904488"/>
            <a:ext cx="49377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01018"/>
                </a:solidFill>
                <a:latin typeface="Calibri"/>
                <a:ea typeface="Microsoft YaHei"/>
              </a:rPr>
              <a:t>Mailbox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325112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00010"/>
                </a:solidFill>
                <a:latin typeface="Calibri"/>
                <a:ea typeface="Microsoft YaHei"/>
              </a:rPr>
              <a:t>异步消息系统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663440"/>
            <a:ext cx="493776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01018"/>
                </a:solidFill>
                <a:latin typeface="Calibri"/>
                <a:ea typeface="Microsoft YaHei"/>
              </a:rPr>
              <a:t>teammates 之间发的消息自动投递、串起会话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87568"/>
            <a:ext cx="10607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00010"/>
                </a:solidFill>
                <a:latin typeface="Calibri"/>
                <a:ea typeface="Microsoft YaHei"/>
              </a:rPr>
              <a:t>落盘位置（store paths）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21A1C"/>
                </a:solidFill>
                <a:latin typeface="Consolas"/>
                <a:ea typeface="Consolas"/>
              </a:rPr>
              <a:t>~/.claude/teams/{name}/config.json   ·   ~/.claude/tasks/{name}/   ·   config 是 runtime state，别手动改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二.6 + 2.7 + 2.8  ·  显示模式 · Plan 审批 · 三个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00010"/>
                </a:solidFill>
                <a:latin typeface="Calibri"/>
                <a:ea typeface="Microsoft YaHei"/>
              </a:rPr>
              <a:t>运行时三块：怎么看、怎么审、怎么卡质量门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57600" cy="452628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383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90011"/>
                </a:solidFill>
                <a:latin typeface="Calibri"/>
                <a:ea typeface="Microsoft YaHei"/>
              </a:rPr>
              <a:t>2.6  显示模式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383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00010"/>
                </a:solidFill>
                <a:latin typeface="Calibri"/>
                <a:ea typeface="Microsoft YaHei"/>
              </a:rPr>
              <a:t>in-process（默认）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3832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1A1C"/>
                </a:solidFill>
                <a:latin typeface="Calibri"/>
                <a:ea typeface="Microsoft YaHei"/>
              </a:rPr>
              <a:t>全部 teammate 在主终端，Shift+Down 切换。任何终端都能用——VS Code / Windows Terminal 也行。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3383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00010"/>
                </a:solidFill>
                <a:latin typeface="Calibri"/>
                <a:ea typeface="Microsoft YaHei"/>
              </a:rPr>
              <a:t>split-pane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338328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21A1C"/>
                </a:solidFill>
                <a:latin typeface="Calibri"/>
                <a:ea typeface="Microsoft YaHei"/>
              </a:rPr>
              <a:t>每 teammate 独立 pane。依赖 tmux 或 iTerm2，macOS / WSL 适用。VS Code / Ghostty 不支持。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338328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00010"/>
                </a:solidFill>
                <a:latin typeface="Consolas"/>
                <a:ea typeface="Consolas"/>
              </a:rPr>
              <a:t>claude --teammate-mode in-process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83080"/>
            <a:ext cx="3657600" cy="45262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74519"/>
            <a:ext cx="3383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alibri"/>
                <a:ea typeface="Microsoft YaHei"/>
              </a:rPr>
              <a:t>2.7  Plan 审批流程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383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对风险动作要求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33832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1. Teammate 进入 read-only plan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3832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2. 写 plan → 发给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33832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3. Lead 按你的标准自主审批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06240"/>
            <a:ext cx="33832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4. 批准 → 退 plan mode 实施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937760"/>
            <a:ext cx="33832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EAD8C0"/>
                </a:solidFill>
                <a:latin typeface="Calibri"/>
                <a:ea typeface="Microsoft YaHei"/>
              </a:rPr>
              <a:t>技巧：prompt 里给 lead 加判断标准——比如"只批通过包含测试的 plan"。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83080"/>
            <a:ext cx="3566160" cy="452628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alibri"/>
                <a:ea typeface="Microsoft YaHei"/>
              </a:rPr>
              <a:t>2.8  三个 hook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31720"/>
            <a:ext cx="32918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onsolas"/>
                <a:ea typeface="Consolas"/>
              </a:rPr>
              <a:t>TeammateIdle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51760"/>
            <a:ext cx="32918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teammate 即将进入 idle 时跑；exit 2 让它继续干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39"/>
            <a:ext cx="32918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onsolas"/>
                <a:ea typeface="Consolas"/>
              </a:rPr>
              <a:t>TaskCreated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840479"/>
            <a:ext cx="32918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task 被创建时跑；exit 2 拦截创建并反馈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709159"/>
            <a:ext cx="32918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onsolas"/>
                <a:ea typeface="Consolas"/>
              </a:rPr>
              <a:t>TaskCompleted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29199"/>
            <a:ext cx="32918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task 即将 mark completed 时跑；exit 2 拦截并反馈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852160"/>
            <a:ext cx="329184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EAD8C0"/>
                </a:solidFill>
                <a:latin typeface="Calibri"/>
                <a:ea typeface="Microsoft YaHei"/>
              </a:rPr>
              <a:t>= L6 "verify before complete" 自动绑到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二.9  ·  适合 vs 不适合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700010"/>
                </a:solidFill>
                <a:latin typeface="Calibri"/>
                <a:ea typeface="Microsoft YaHei"/>
              </a:rPr>
              <a:t>Agent Teams 的甜区在哪里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4572000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</a:rPr>
              <a:t>✓  适合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•  Parallel code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3 reviewer 分看 security / performance / test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•  Debugging with competing hypotheses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5 teammate 各验证一个假说，相互挑战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•  Cross-layer 重构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5488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frontend / backend / tests 三人各管一摊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•  新 feature 多模块并行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71500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拆得开就并行，拆不开就单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486400" cy="457200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  <a:ea typeface="Microsoft YaHei"/>
              </a:rPr>
              <a:t>✗  不适合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•  顺序任务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3464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B 必须等 A 出结果——多人只会互相等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•  多人改同一个文件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9476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官方明写：会互相覆盖；起 team 时分目录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•  简单任务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8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协调开销大于收益——单 agent 就够了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•  实验性限制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15000"/>
            <a:ext cx="475488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不能嵌套 · lead 不能转 · /resume 不恢复 teammates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4023360" cy="3200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4000" b="1" i="0">
                <a:solidFill>
                  <a:srgbClr val="C9963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377440"/>
            <a:ext cx="54864" cy="2286000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40680" y="242316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AD8C0"/>
                </a:solidFill>
                <a:latin typeface="Calibri"/>
                <a:ea typeface="Microsoft YaHei"/>
              </a:rPr>
              <a:t>§ 三  ·  Nous Research · MIT · 155k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788920"/>
            <a:ext cx="6583680" cy="1828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Hermes Agent（独立型）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6080760"/>
            <a:ext cx="65836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AD8C0"/>
                </a:solidFill>
                <a:latin typeface="Calibri"/>
                <a:ea typeface="Microsoft YaHei"/>
              </a:rPr>
              <a:t>AI 驱动的软件开发提效实战课  ·  Lesson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080760"/>
            <a:ext cx="1097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三.1  ·  Hermes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700010"/>
                </a:solidFill>
                <a:latin typeface="Calibri"/>
                <a:ea typeface="Microsoft YaHei"/>
              </a:rPr>
              <a:t>一句话定义  +  关键事实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2194560"/>
          </a:xfrm>
          <a:prstGeom prst="roundRect">
            <a:avLst>
              <a:gd name="adj" fmla="val 18000"/>
            </a:avLst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Microsoft YaHei"/>
              </a:rPr>
              <a:t>Hermes Agent  =  自进化 AI agent（独立平台）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607040" cy="1371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CF6F5"/>
                </a:solidFill>
                <a:latin typeface="Calibri"/>
                <a:ea typeface="Microsoft YaHei"/>
              </a:rPr>
              <a:t>不绑 Claude Code、不绑 Anthropic、不绑任何模型供应商。装一次能跑在 $5 VPS 上 7×24 服务你；通过 CLI / Telegram / Discord / Slack / WhatsApp / Signal / Email / Home Assistant 8 种入口对话。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2148840" cy="54864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21488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00010"/>
                </a:solidFill>
                <a:latin typeface="Calibri"/>
                <a:ea typeface="Microsoft YaHei"/>
              </a:rPr>
              <a:t>Nous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4160520"/>
            <a:ext cx="2148840" cy="54864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160520"/>
            <a:ext cx="21488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1018"/>
                </a:solidFill>
                <a:latin typeface="Calibri"/>
                <a:ea typeface="Microsoft YaHei"/>
              </a:rPr>
              <a:t>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0520"/>
            <a:ext cx="2148840" cy="54864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160520"/>
            <a:ext cx="21488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155k  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4160520"/>
            <a:ext cx="2148840" cy="54864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4160520"/>
            <a:ext cx="21488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8 种入口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4160520"/>
            <a:ext cx="2148840" cy="548640"/>
          </a:xfrm>
          <a:prstGeom prst="roundRect">
            <a:avLst>
              <a:gd name="adj" fmla="val 18000"/>
            </a:avLst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160520"/>
            <a:ext cx="21488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模型无关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5486400" cy="141732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98082"/>
                </a:solidFill>
                <a:latin typeface="Calibri"/>
                <a:ea typeface="Microsoft YaHei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50292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CF6F5"/>
                </a:solidFill>
                <a:latin typeface="Consolas"/>
                <a:ea typeface="Consolas"/>
              </a:rPr>
              <a:t>github.com/NousResearch/hermes-agent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5216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963F"/>
                </a:solidFill>
                <a:latin typeface="Consolas"/>
                <a:ea typeface="Consolas"/>
              </a:rPr>
              <a:t>★ 155,000   ·   MIT License   ·   Active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937760"/>
            <a:ext cx="5486400" cy="141732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00010"/>
                </a:solidFill>
                <a:latin typeface="Calibri"/>
                <a:ea typeface="Microsoft YaHei"/>
              </a:rPr>
              <a:t>对偶：Agent Teams 是会话内 / 内嵌；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00010"/>
                </a:solidFill>
                <a:latin typeface="Calibri"/>
                <a:ea typeface="Microsoft YaHei"/>
              </a:rPr>
              <a:t>Hermes 是独立、持续运行、跨平台。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60720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221A1C"/>
                </a:solidFill>
                <a:latin typeface="Calibri"/>
                <a:ea typeface="Microsoft YaHei"/>
              </a:rPr>
              <a:t>学完本课，你能判断什么场景该用哪个，甚至两个一起用。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三.2  ·  装它（一行）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Linux / macOS / WSL2 / Termux 一条命令搞定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64240" cy="228600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Linux / macOS / WSL2 / Termux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607040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CF6F5"/>
                </a:solidFill>
                <a:latin typeface="Consolas"/>
                <a:ea typeface="Consolas"/>
              </a:rPr>
              <a:t>$ curl -fsSL https://raw.githubusercontent.com/NousResearch/hermes-agent/main/scripts/install.sh | 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0607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AD8C0"/>
                </a:solidFill>
                <a:latin typeface="Consolas"/>
                <a:ea typeface="Consolas"/>
              </a:rPr>
              <a:t># 装完跑一次  hermes setup  —— 完整向导（选模型 / 配 key / 开工具）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5486400" cy="128016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8912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00010"/>
                </a:solidFill>
                <a:latin typeface="Calibri"/>
                <a:ea typeface="Microsoft YaHei"/>
              </a:rPr>
              <a:t>Windows PowerShell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389120"/>
            <a:ext cx="1188720" cy="292608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4389120"/>
            <a:ext cx="118872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  <a:ea typeface="Microsoft YaHei"/>
              </a:rPr>
              <a:t>early 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50292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21A1C"/>
                </a:solidFill>
                <a:latin typeface="Consolas"/>
                <a:ea typeface="Consolas"/>
              </a:rPr>
              <a:t>irm https://.../install.ps1 | iex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0555A"/>
                </a:solidFill>
                <a:latin typeface="Calibri"/>
                <a:ea typeface="Microsoft YaHei"/>
              </a:rPr>
              <a:t>（原生 Windows 仍推荐 WSL2）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97680"/>
            <a:ext cx="5486400" cy="128016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下一步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</a:rPr>
              <a:t>$ hermes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走完整向导：选模型 → 配 API key → 启用工具集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0555A"/>
                </a:solidFill>
                <a:latin typeface="Calibri"/>
                <a:ea typeface="Microsoft YaHei"/>
              </a:rPr>
              <a:t>装不上？跑  hermes doctor  自检环境。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三.3 + 3.4  ·  命令速查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CLI 命令  +  会话内 slash 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461772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CLI 层（shell 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CF6F5"/>
                </a:solidFill>
                <a:latin typeface="Consolas"/>
                <a:ea typeface="Consolas"/>
              </a:rPr>
              <a:t>hermes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启动交互式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CF6F5"/>
                </a:solidFill>
                <a:latin typeface="Consolas"/>
                <a:ea typeface="Consolas"/>
              </a:rPr>
              <a:t>hermes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7180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首次完整向导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CF6F5"/>
                </a:solidFill>
                <a:latin typeface="Consolas"/>
                <a:ea typeface="Consolas"/>
              </a:rPr>
              <a:t>hermes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61188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切换 LLM 提供商 / 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CF6F5"/>
                </a:solidFill>
                <a:latin typeface="Consolas"/>
                <a:ea typeface="Consolas"/>
              </a:rPr>
              <a:t>hermes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5196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启用 / 禁用工具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CF6F5"/>
                </a:solidFill>
                <a:latin typeface="Consolas"/>
                <a:ea typeface="Consolas"/>
              </a:rPr>
              <a:t>hermes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9204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启动消息网关（连 TG/Slack...）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CF6F5"/>
                </a:solidFill>
                <a:latin typeface="Consolas"/>
                <a:ea typeface="Consolas"/>
              </a:rPr>
              <a:t>hermes doctor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53212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诊断当前安装状态 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83080"/>
            <a:ext cx="5486400" cy="461772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963F"/>
                </a:solidFill>
                <a:latin typeface="Calibri"/>
                <a:ea typeface="Microsoft YaHei"/>
              </a:rPr>
              <a:t>会话内 slash 命令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Consolas"/>
              </a:rPr>
              <a:t>/new  /reset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331720"/>
            <a:ext cx="2606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新建会话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7180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Consolas"/>
              </a:rPr>
              <a:t>/model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971800"/>
            <a:ext cx="2606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切换模型（详见下页）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Consolas"/>
              </a:rPr>
              <a:t>/personality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611880"/>
            <a:ext cx="2606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切换人格（SOUL.md）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5196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Consolas"/>
              </a:rPr>
              <a:t>/skills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251960"/>
            <a:ext cx="2606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浏览 / 调用技能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9204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Consolas"/>
              </a:rPr>
              <a:t>/retry  /undo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892040"/>
            <a:ext cx="2606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重试 / 撤销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32120"/>
            <a:ext cx="27432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Consolas"/>
              </a:rPr>
              <a:t>/compress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5532120"/>
            <a:ext cx="2606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压缩 context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三.5  ·  模型无关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切 Claude  ↔  OpenAI  —— 三种方式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0555A"/>
                </a:solidFill>
                <a:latin typeface="Calibri"/>
                <a:ea typeface="Microsoft YaHei"/>
              </a:rPr>
              <a:t>Hermes 设计哲学：模型是可替换零件，平台不绑供应商。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657600" cy="438912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383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90011"/>
                </a:solidFill>
                <a:latin typeface="Calibri"/>
                <a:ea typeface="Microsoft YaHei"/>
              </a:rPr>
              <a:t>A · 交互向导（推荐）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38328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1A1C"/>
                </a:solidFill>
                <a:latin typeface="Calibri"/>
                <a:ea typeface="Microsoft YaHei"/>
              </a:rPr>
              <a:t>加新 provider 或切换都走这条。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20"/>
            <a:ext cx="3200400" cy="146304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CF6F5"/>
                </a:solidFill>
                <a:latin typeface="Consolas"/>
                <a:ea typeface="Consolas"/>
              </a:rPr>
              <a:t>$ hermes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301752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EAD8C0"/>
                </a:solidFill>
                <a:latin typeface="Consolas"/>
                <a:ea typeface="Consolas"/>
              </a:rPr>
              <a:t># 选 provider
# 输 API key
# 选默认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3383280" cy="1691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700010"/>
                </a:solidFill>
                <a:latin typeface="Consolas"/>
                <a:ea typeface="Consolas"/>
              </a:rPr>
              <a:t>Key 落  ~/.hermes/.env
OAuth token 落  ~/.hermes/auth/  自动刷新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65960"/>
            <a:ext cx="3657600" cy="438912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3832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alibri"/>
                <a:ea typeface="Microsoft YaHei"/>
              </a:rPr>
              <a:t>B · 会话内 /model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23160"/>
            <a:ext cx="338328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前提：provider 已配过。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017520"/>
            <a:ext cx="3200400" cy="242316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108960"/>
            <a:ext cx="3017520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C9963F"/>
                </a:solidFill>
                <a:latin typeface="Consolas"/>
                <a:ea typeface="Consolas"/>
              </a:rPr>
              <a:t>/model openai:gpt-4o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FCF6F5"/>
                </a:solidFill>
                <a:latin typeface="Consolas"/>
                <a:ea typeface="Consolas"/>
              </a:rPr>
              <a:t>/model anthropic:claude-opus-4-7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EAD8C0"/>
                </a:solidFill>
                <a:latin typeface="Consolas"/>
                <a:ea typeface="Consolas"/>
              </a:rPr>
              <a:t>/model openrouter:google/gemini-2.0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EAD8C0"/>
                </a:solidFill>
                <a:latin typeface="Consolas"/>
                <a:ea typeface="Consolas"/>
              </a:rPr>
              <a:t>/model custom:local:qwen-2.5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532120"/>
            <a:ext cx="33832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C9963F"/>
                </a:solidFill>
                <a:latin typeface="Calibri"/>
                <a:ea typeface="Microsoft YaHei"/>
              </a:rPr>
              <a:t>一句话切完——不改代码、不改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965960"/>
            <a:ext cx="3611880" cy="438912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057400"/>
            <a:ext cx="333756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alibri"/>
                <a:ea typeface="Microsoft YaHei"/>
              </a:rPr>
              <a:t>C · 改 config.yaml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33756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AD8C0"/>
                </a:solidFill>
                <a:latin typeface="Consolas"/>
                <a:ea typeface="Consolas"/>
              </a:rPr>
              <a:t>~/.hermes/config.yaml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108960"/>
            <a:ext cx="3337560" cy="22860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CF6F5"/>
                </a:solidFill>
                <a:latin typeface="Consolas"/>
                <a:ea typeface="Consolas"/>
              </a:rPr>
              <a:t>model:
  provider:
    "anthropic"
  default:
    "claude-opus-4-7"
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486400"/>
            <a:ext cx="333756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1">
                <a:solidFill>
                  <a:srgbClr val="EAD8C0"/>
                </a:solidFill>
                <a:latin typeface="Calibri"/>
                <a:ea typeface="Microsoft YaHei"/>
              </a:rPr>
              <a:t>200+ 模型：Nous Portal / OpenRouter / NIM / Anthropic / OpenAI / Kimi 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三.6  ·  持久记忆三件套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Hermes 和 Agent Teams 最大的差异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0555A"/>
                </a:solidFill>
                <a:latin typeface="Calibri"/>
                <a:ea typeface="Microsoft YaHei"/>
              </a:rPr>
              <a:t>Agent Teams 一旦 lead 退出全员失忆；Hermes 自带持久记忆。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66160" cy="320040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00010"/>
                </a:solidFill>
                <a:latin typeface="Consolas"/>
                <a:ea typeface="Consolas"/>
              </a:rPr>
              <a:t>MEMORY.md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00010"/>
                </a:solidFill>
                <a:latin typeface="Calibri"/>
                <a:ea typeface="Microsoft YaHei"/>
              </a:rPr>
              <a:t>一般知识 / 事实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200400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700010"/>
                </a:solidFill>
                <a:latin typeface="Calibri"/>
                <a:ea typeface="Microsoft YaHei"/>
              </a:rPr>
              <a:t>Agent 自己往里写——complex task 跑完它会自动 curate。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965960"/>
            <a:ext cx="3566160" cy="320040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Consolas"/>
              </a:rPr>
              <a:t>USER.md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用户画像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200400"/>
            <a:ext cx="3200400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Honcho 辩证式建模，渐进式了解你——几周后它知道你的偏好。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965960"/>
            <a:ext cx="3566160" cy="320040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963F"/>
                </a:solidFill>
                <a:latin typeface="Consolas"/>
                <a:ea typeface="Consolas"/>
              </a:rPr>
              <a:t>FTS5 + LLM 摘要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963F"/>
                </a:solidFill>
                <a:latin typeface="Calibri"/>
                <a:ea typeface="Microsoft YaHei"/>
              </a:rPr>
              <a:t>跨会话全文检索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200400"/>
            <a:ext cx="3200400" cy="1737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9963F"/>
                </a:solidFill>
                <a:latin typeface="Calibri"/>
                <a:ea typeface="Microsoft YaHei"/>
              </a:rPr>
              <a:t>三周前聊过的内容也能精准调出来；摘要 + 索引双层。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1018"/>
                </a:solidFill>
                <a:latin typeface="Calibri"/>
                <a:ea typeface="Microsoft YaHei"/>
              </a:rPr>
              <a:t>★  关键概念：Agent-curated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01018"/>
                </a:solidFill>
                <a:latin typeface="Calibri"/>
                <a:ea typeface="Microsoft YaHei"/>
              </a:rPr>
              <a:t>不是你手写 CLAUDE.md ——是 agent 自己 curate。complex task 跑完它会自动写一个 skill 存到 ~/.hermes/skills/，下次直接调用。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三.7  ·  多入口 / 多平台 / 多人格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8 种入口  ·  同一个 agent  ·  连续记忆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70555A"/>
                </a:solidFill>
                <a:latin typeface="Calibri"/>
                <a:ea typeface="Microsoft YaHei"/>
              </a:rPr>
              <a:t>所有入口背后是同一个 gateway 进程——跨平台会话延续。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主要开发体验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457200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8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Telegram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移动端随手用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3200400"/>
            <a:ext cx="457200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79" y="201168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24028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Discord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社区 / 工作室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200400"/>
            <a:ext cx="457200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5399" y="201168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79" y="224028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1018"/>
                </a:solidFill>
                <a:latin typeface="Calibri"/>
                <a:ea typeface="Microsoft YaHei"/>
              </a:rPr>
              <a:t>Slack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9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01018"/>
                </a:solidFill>
                <a:latin typeface="Calibri"/>
                <a:ea typeface="Microsoft YaHei"/>
              </a:rPr>
              <a:t>团队办公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79" y="3200400"/>
            <a:ext cx="457200" cy="36576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79476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WhatsApp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私人消息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983480"/>
            <a:ext cx="457200" cy="3657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37560" y="379476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10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02336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963F"/>
                </a:solidFill>
                <a:latin typeface="Calibri"/>
                <a:ea typeface="Microsoft YaHei"/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9963F"/>
                </a:solidFill>
                <a:latin typeface="Calibri"/>
                <a:ea typeface="Microsoft YaHei"/>
              </a:rPr>
              <a:t>隐私场景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983480"/>
            <a:ext cx="457200" cy="36576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79" y="379476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402336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00010"/>
                </a:solidFill>
                <a:latin typeface="Calibri"/>
                <a:ea typeface="Microsoft YaHei"/>
              </a:rPr>
              <a:t>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00010"/>
                </a:solidFill>
                <a:latin typeface="Calibri"/>
                <a:ea typeface="Microsoft YaHei"/>
              </a:rPr>
              <a:t>邮件触发任务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983480"/>
            <a:ext cx="457200" cy="36576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15399" y="3794760"/>
            <a:ext cx="2606040" cy="1600200"/>
          </a:xfrm>
          <a:prstGeom prst="roundRect">
            <a:avLst>
              <a:gd name="adj" fmla="val 18000"/>
            </a:avLst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79" y="4023360"/>
            <a:ext cx="2286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963F"/>
                </a:solidFill>
                <a:latin typeface="Calibri"/>
                <a:ea typeface="Microsoft YaHei"/>
              </a:rPr>
              <a:t>Home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C9963F"/>
                </a:solidFill>
                <a:latin typeface="Calibri"/>
                <a:ea typeface="Microsoft YaHei"/>
              </a:rPr>
              <a:t>智能家居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79" y="4983480"/>
            <a:ext cx="457200" cy="36576"/>
          </a:xfrm>
          <a:prstGeom prst="rect">
            <a:avLst/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700010"/>
                </a:solidFill>
                <a:latin typeface="Calibri"/>
                <a:ea typeface="Microsoft YaHei"/>
              </a:rPr>
              <a:t>早上 Telegram 提需求 → 中午 WhatsApp 追问 → 晚上 CLI 收口——记忆连续。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三.8 + 3.9  ·  部署形态 + 适合场景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00010"/>
                </a:solidFill>
                <a:latin typeface="Calibri"/>
                <a:ea typeface="Microsoft YaHei"/>
              </a:rPr>
              <a:t>怎么跑  +  跑给谁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457200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963F"/>
                </a:solidFill>
                <a:latin typeface="Calibri"/>
                <a:ea typeface="Microsoft YaHei"/>
              </a:rPr>
              <a:t>部署形态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$5 VPS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3172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个人长跑，最便宜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Daytona / 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serverless：空闲休眠 + 按需唤醒，几乎零成本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Docker /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61188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容器化部署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SSH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25196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远程跑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GPU 集群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89204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自托管开源模型 + Hermes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256032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Vercel Sandbox / Singularity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53212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AD8C0"/>
                </a:solidFill>
                <a:latin typeface="Calibri"/>
                <a:ea typeface="Microsoft YaHei"/>
              </a:rPr>
              <a:t>沙盒隔离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83080"/>
            <a:ext cx="2743200" cy="4572000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24688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✓  适合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24688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·  跨会话有记忆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39"/>
            <a:ext cx="24688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·  多平台触达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59"/>
            <a:ext cx="24688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·  自托管开源模型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79"/>
            <a:ext cx="24688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·  不绑 OpenAI / Anthropic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43399"/>
            <a:ext cx="246888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·  长跑任务（日报 / 夜审）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1783080"/>
            <a:ext cx="2606040" cy="457200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1874519"/>
            <a:ext cx="23317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9963F"/>
                </a:solidFill>
                <a:latin typeface="Calibri"/>
                <a:ea typeface="Microsoft YaHei"/>
              </a:rPr>
              <a:t>✗  不适合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331720"/>
            <a:ext cx="233172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·  一次性短任务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108960"/>
            <a:ext cx="233172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·  IDE 级编辑（用 Claude Code）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886200"/>
            <a:ext cx="2331720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·  Hermes 可通过 MCP 调 Claude Code 补齐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四.1 + 4.2  ·  对比 + 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00010"/>
                </a:solidFill>
                <a:latin typeface="Calibri"/>
                <a:ea typeface="Microsoft YaHei"/>
              </a:rPr>
              <a:t>Agent Teams  vs  Hermes —— 一张表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572000"/>
                <a:gridCol w="49377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Claude Code Agent Teams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Hermes Agent</a:t>
                      </a:r>
                    </a:p>
                  </a:txBody>
                  <a:tcPr marL="73152" marR="73152" marT="36576" marB="36576">
                    <a:solidFill>
                      <a:srgbClr val="99001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性质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Claude Code 内的实验 feature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独立开源平台（MIT）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生命周期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单次会话内（lead 退出就散）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持续运行（VPS / serverless）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记忆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各 teammate 各自 context，结束消失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SQLite + FTS5 持久 + 自动 curate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模型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Claude only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Model-agnostic（200+ 模型）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协作模式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多 agent 互发消息 + 共享 task list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一个 agent 多渠道服务多用户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入口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终端 / IDE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CLI + 8 个消息平台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安装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已有 Claude Code 只加一个环境变量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curl ... | bash  一行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Token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高（n 个 Claude 实例并发）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看你挂的模型</a:t>
                      </a:r>
                    </a:p>
                  </a:txBody>
                  <a:tcPr marL="73152" marR="73152" marT="36576" marB="36576">
                    <a:solidFill>
                      <a:srgbClr val="F5E9E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700010"/>
                          </a:solidFill>
                          <a:latin typeface="Calibri"/>
                          <a:ea typeface="Microsoft YaHei"/>
                        </a:rPr>
                        <a:t>适合人群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Claude Code 重度用户、并行做复杂工作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1A1C"/>
                          </a:solidFill>
                          <a:latin typeface="Calibri"/>
                          <a:ea typeface="Microsoft YaHei"/>
                        </a:rPr>
                        <a:t>想要 7×24 私人 agent / 跨平台 / 不绑供应商</a:t>
                      </a:r>
                    </a:p>
                  </a:txBody>
                  <a:tcPr marL="73152" marR="73152" marT="36576" marB="36576">
                    <a:solidFill>
                      <a:srgbClr val="FCF6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77840"/>
            <a:ext cx="3566160" cy="77724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50992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写代码、要多视角 review / debug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32004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→  Agent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5577840"/>
            <a:ext cx="3566160" cy="77724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5650992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要长跑、跨周复盘、多平台触达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5989320"/>
            <a:ext cx="32004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→  Hermes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5577840"/>
            <a:ext cx="3566160" cy="77724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5650992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01018"/>
                </a:solidFill>
                <a:latin typeface="Calibri"/>
                <a:ea typeface="Microsoft YaHei"/>
              </a:rPr>
              <a:t>两个都想要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5989320"/>
            <a:ext cx="32004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00010"/>
                </a:solidFill>
                <a:latin typeface="Calibri"/>
                <a:ea typeface="Microsoft YaHei"/>
              </a:rPr>
              <a:t>→  一起用（MCP 互通）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0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四.3  ·  关键认知 + 口诀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记住这三句 + 一段口诀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4688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2461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963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4612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Agent team ≠ 多个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3246120" cy="1051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本质是 agent 之间能对话 / 自协调——这是它和 subagent / 并发脚本最大的区别。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566160" cy="24688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65960"/>
            <a:ext cx="32461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963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377440"/>
            <a:ext cx="324612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单 agent 时代结束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154680"/>
            <a:ext cx="3246120" cy="1051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AI 应被理解为：可被实例化为 N 个、可互相协作的工人池。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566160" cy="24688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965960"/>
            <a:ext cx="32461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C9963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377440"/>
            <a:ext cx="324612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</a:rPr>
              <a:t>记忆是 agent 长跑的命门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154680"/>
            <a:ext cx="3246120" cy="1051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Agent Teams 没跨会话记忆，靠 CLAUDE.md + prompt；Hermes 自带 agent-curated memory。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1064240" cy="182880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00010"/>
                </a:solidFill>
                <a:latin typeface="Calibri"/>
                <a:ea typeface="Microsoft YaHei"/>
              </a:rPr>
              <a:t>口诀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018"/>
                </a:solidFill>
                <a:latin typeface="Calibri"/>
                <a:ea typeface="Microsoft YaHei"/>
              </a:rPr>
              <a:t>Subagent 报告，Agent Team 讨论。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76672"/>
            <a:ext cx="106070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018"/>
                </a:solidFill>
                <a:latin typeface="Calibri"/>
                <a:ea typeface="Microsoft YaHei"/>
              </a:rPr>
              <a:t>单次会话用 Teams，长跑落地用 Hermes。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15584"/>
            <a:ext cx="1060704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01018"/>
                </a:solidFill>
                <a:latin typeface="Calibri"/>
                <a:ea typeface="Microsoft YaHei"/>
              </a:rPr>
              <a:t>Agent team 不解决记忆——记忆要 harness 或 Hermes 那种文件级持久。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CF6F5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CF6F5"/>
                </a:solidFill>
                <a:latin typeface="Calibri"/>
                <a:ea typeface="Microsoft Ya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五  ·  反模式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700010"/>
                </a:solidFill>
                <a:latin typeface="Calibri"/>
                <a:ea typeface="Microsoft YaHei"/>
              </a:rPr>
              <a:t>三条最容易踩的坑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777240" cy="10972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777240" cy="10972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963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98755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00010"/>
                </a:solidFill>
                <a:latin typeface="Calibri"/>
                <a:ea typeface="Microsoft YaHei"/>
              </a:rPr>
              <a:t>反模式 1  ·  起 5 个 teammate 干同一件顺序事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987552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1A1C"/>
                </a:solidFill>
                <a:latin typeface="Calibri"/>
                <a:ea typeface="Microsoft YaHei"/>
              </a:rPr>
              <a:t>Agent Teams 的甜区是并行；A→B→C 顺序事多人只会互相等、互相覆盖文件。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98755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  <a:ea typeface="Microsoft YaHei"/>
              </a:rPr>
              <a:t>✓  修复：先问"这事能拆成几条互不依赖的线？"——能拆 3+ 条再起 team。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39"/>
            <a:ext cx="11064240" cy="141732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456432"/>
            <a:ext cx="777240" cy="10972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777240" cy="10972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963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83279"/>
            <a:ext cx="98755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00010"/>
                </a:solidFill>
                <a:latin typeface="Calibri"/>
                <a:ea typeface="Microsoft YaHei"/>
              </a:rPr>
              <a:t>反模式 2  ·  Hermes 装完当云端 ChatGPT 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94759"/>
            <a:ext cx="987552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1A1C"/>
                </a:solidFill>
                <a:latin typeface="Calibri"/>
                <a:ea typeface="Microsoft YaHei"/>
              </a:rPr>
              <a:t>Hermes 核心价值是持久记忆 + 多入口 + 模型无关；只 CLI 套壳 3 天就觉得不如 ChatGPT。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51959"/>
            <a:ext cx="98755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  <a:ea typeface="Microsoft YaHei"/>
              </a:rPr>
              <a:t>✓  修复：装完一定要 hermes gateway 接至少一个消息入口，让它真在你生活流里跑一周。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18000"/>
            </a:avLst>
          </a:prstGeom>
          <a:solidFill>
            <a:srgbClr val="EAD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5010912"/>
            <a:ext cx="777240" cy="10972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10912"/>
            <a:ext cx="777240" cy="10972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963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37759"/>
            <a:ext cx="987552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00010"/>
                </a:solidFill>
                <a:latin typeface="Calibri"/>
                <a:ea typeface="Microsoft YaHei"/>
              </a:rPr>
              <a:t>反模式 3  ·  Agent Team 多人改同一个文件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49240"/>
            <a:ext cx="987552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1A1C"/>
                </a:solidFill>
                <a:latin typeface="Calibri"/>
                <a:ea typeface="Microsoft YaHei"/>
              </a:rPr>
              <a:t>官方明写：两个 teammate 编辑同一文件会互相覆盖。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06440"/>
            <a:ext cx="987552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  <a:ea typeface="Microsoft YaHei"/>
              </a:rPr>
              <a:t>✓  修复：起 team 时 prompt 里就分目录——A 改 src/auth/，B 改 src/api/，C 改 tests/。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963F"/>
                </a:solidFill>
                <a:latin typeface="Calibri"/>
                <a:ea typeface="Microsoft YaHei"/>
              </a:rPr>
              <a:t>§ 六  ·  作业 + 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700010"/>
                </a:solidFill>
                <a:latin typeface="Calibri"/>
                <a:ea typeface="Microsoft YaHei"/>
              </a:rPr>
              <a:t>二选一  ·  30 分钟内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338328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914400" cy="36576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914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01018"/>
                </a:solidFill>
                <a:latin typeface="Calibri"/>
                <a:ea typeface="Microsoft YaHei"/>
              </a:rPr>
              <a:t>A 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Claude Code Agent Team 跑通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1.  开实验 flag（settings.json）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2.  起 3-teammate 的 PR review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39896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3.  分工：security / performance / test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4.  给真实小项目跑一次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07992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5.  提交 lead 的最终 synthesis 输出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486400" cy="338328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914400" cy="36576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91440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01018"/>
                </a:solidFill>
                <a:latin typeface="Calibri"/>
                <a:ea typeface="Microsoft YaHei"/>
              </a:rPr>
              <a:t>B 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Hermes Agent 装通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1.  装 Hermes（curl ... | bash）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55848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2.  配两个 provider（Anthropic + OpenAI）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39896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3.  会话里用  /model  切换演示模型无关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23944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4.  接通一个消息入口（Telegram 最快）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07992"/>
            <a:ext cx="5029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CF6F5"/>
                </a:solidFill>
                <a:latin typeface="Calibri"/>
                <a:ea typeface="Microsoft YaHei"/>
              </a:rPr>
              <a:t>5.  提交会话截图 +  hermes doctor  输出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8000"/>
            </a:avLst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22392"/>
            <a:ext cx="10607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00010"/>
                </a:solidFill>
                <a:latin typeface="Calibri"/>
                <a:ea typeface="Microsoft YaHei"/>
              </a:rPr>
              <a:t>下节课  ·  Lesson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01018"/>
                </a:solidFill>
                <a:latin typeface="Calibri"/>
                <a:ea typeface="Microsoft YaHei"/>
              </a:rPr>
              <a:t>综合实战——把 L1–L7 所有工具串起来，做一个完整的端到端项目。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6263640"/>
            <a:ext cx="2103120" cy="320040"/>
          </a:xfrm>
          <a:prstGeom prst="roundRect">
            <a:avLst>
              <a:gd name="adj" fmla="val 18000"/>
            </a:avLst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6263640"/>
            <a:ext cx="210312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963F"/>
                </a:solidFill>
                <a:latin typeface="Calibri"/>
                <a:ea typeface="Microsoft YaHei"/>
              </a:rPr>
              <a:t>本节到此  ·  Lesson 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0555A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10972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998082"/>
                </a:solidFill>
                <a:latin typeface="Calibri"/>
                <a:ea typeface="Microsoft YaHe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