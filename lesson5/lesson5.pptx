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1600200"/>
            <a:ext cx="146304" cy="36576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966960" y="1737360"/>
            <a:ext cx="146304" cy="33832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32720" y="1874519"/>
            <a:ext cx="146304" cy="3108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0698480" y="2011680"/>
            <a:ext cx="146304" cy="28346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1064240" y="2148840"/>
            <a:ext cx="146304" cy="2560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1430000" y="2286000"/>
            <a:ext cx="146304" cy="2286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822960"/>
            <a:ext cx="36576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0B04A"/>
                </a:solidFill>
                <a:latin typeface="Calibri"/>
                <a:ea typeface="Microsoft YaHei"/>
              </a:rPr>
              <a:t>LESSON  05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1207008"/>
            <a:ext cx="822960" cy="0"/>
          </a:xfrm>
          <a:prstGeom prst="line">
            <a:avLst/>
          </a:prstGeom>
          <a:ln w="19050">
            <a:solidFill>
              <a:srgbClr val="E0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1645920"/>
            <a:ext cx="9144000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</a:rPr>
              <a:t>规则体系与 Spec 驱动开发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82296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E2E8EE"/>
                </a:solidFill>
                <a:latin typeface="Calibri"/>
                <a:ea typeface="Microsoft YaHei"/>
              </a:rPr>
              <a:t>AI 与你之间的合同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40480"/>
            <a:ext cx="1225296" cy="41148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 w="95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1225296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6F7F9"/>
                </a:solidFill>
                <a:latin typeface="Calibri"/>
                <a:ea typeface="Microsoft YaHei"/>
              </a:rPr>
              <a:t>Proposal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12848" y="3840480"/>
            <a:ext cx="868680" cy="41148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 w="95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212848" y="3840480"/>
            <a:ext cx="86868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6F7F9"/>
                </a:solidFill>
                <a:latin typeface="Calibri"/>
                <a:ea typeface="Microsoft YaHei"/>
              </a:rPr>
              <a:t>Specs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3840480"/>
            <a:ext cx="987552" cy="41148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 w="95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246120" y="3840480"/>
            <a:ext cx="987552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6F7F9"/>
                </a:solidFill>
                <a:latin typeface="Calibri"/>
                <a:ea typeface="Microsoft YaHei"/>
              </a:rPr>
              <a:t>Design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8264" y="3840480"/>
            <a:ext cx="868680" cy="41148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 w="95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398264" y="3840480"/>
            <a:ext cx="86868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6F7F9"/>
                </a:solidFill>
                <a:latin typeface="Calibri"/>
                <a:ea typeface="Microsoft YaHei"/>
              </a:rPr>
              <a:t>Tasks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31536" y="3840480"/>
            <a:ext cx="1344168" cy="41148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 w="95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31536" y="3840480"/>
            <a:ext cx="1344168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6F7F9"/>
                </a:solidFill>
                <a:latin typeface="Calibri"/>
                <a:ea typeface="Microsoft YaHei"/>
              </a:rPr>
              <a:t>Implement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60" y="6126480"/>
            <a:ext cx="4663440" cy="0"/>
          </a:xfrm>
          <a:prstGeom prst="line">
            <a:avLst/>
          </a:prstGeom>
          <a:ln w="12700">
            <a:solidFill>
              <a:srgbClr val="2129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2E8EE"/>
                </a:solidFill>
                <a:latin typeface="Calibri"/>
                <a:ea typeface="Microsoft YaHei"/>
              </a:rPr>
              <a:t>25-30 min  .  AI 与你之间的合同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AGENDA  .  今日路线图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65A82"/>
                </a:solidFill>
                <a:latin typeface="Calibri"/>
                <a:ea typeface="Microsoft YaHei"/>
              </a:rPr>
              <a:t>四件事，递进展开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2103120"/>
            <a:ext cx="55321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3716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1C7293"/>
                </a:solidFill>
                <a:latin typeface="Bahnschrift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423160"/>
            <a:ext cx="36576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65A82"/>
                </a:solidFill>
                <a:latin typeface="Calibri"/>
                <a:ea typeface="Microsoft YaHei"/>
              </a:rPr>
              <a:t>vibe vs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3017520"/>
            <a:ext cx="3657600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没合同就只能赌运气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0280" y="3794760"/>
            <a:ext cx="3474719" cy="0"/>
          </a:xfrm>
          <a:prstGeom prst="line">
            <a:avLst/>
          </a:prstGeom>
          <a:ln w="1016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40280" y="3858768"/>
            <a:ext cx="3657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08E9E"/>
                </a:solidFill>
                <a:latin typeface="Calibri"/>
                <a:ea typeface="Microsoft YaHei"/>
              </a:rPr>
              <a:t>失败案例对比 . spec-driven 同需求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55321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0" y="2359152"/>
            <a:ext cx="13716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1C7293"/>
                </a:solidFill>
                <a:latin typeface="Bahnschrift"/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423160"/>
            <a:ext cx="36576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65A82"/>
                </a:solidFill>
                <a:latin typeface="Calibri"/>
                <a:ea typeface="Microsoft YaHei"/>
              </a:rPr>
              <a:t>rules . guidelines . spec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017520"/>
            <a:ext cx="3657600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三层叠加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09560" y="3794760"/>
            <a:ext cx="3474720" cy="0"/>
          </a:xfrm>
          <a:prstGeom prst="line">
            <a:avLst/>
          </a:prstGeom>
          <a:ln w="1016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909560" y="3858768"/>
            <a:ext cx="3657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08E9E"/>
                </a:solidFill>
                <a:latin typeface="Calibri"/>
                <a:ea typeface="Microsoft YaHei"/>
              </a:rPr>
              <a:t>三者对比表 . 协作图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06240"/>
            <a:ext cx="55321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4462272"/>
            <a:ext cx="13716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1C7293"/>
                </a:solidFill>
                <a:latin typeface="Bahnschrift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526279"/>
            <a:ext cx="36576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65A82"/>
                </a:solidFill>
                <a:latin typeface="Calibri"/>
                <a:ea typeface="Microsoft YaHei"/>
              </a:rPr>
              <a:t>OpenSpec 五段速览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5120640"/>
            <a:ext cx="3657600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5 个 markdown 文件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40280" y="5897879"/>
            <a:ext cx="3474719" cy="0"/>
          </a:xfrm>
          <a:prstGeom prst="line">
            <a:avLst/>
          </a:prstGeom>
          <a:ln w="1016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240280" y="5961888"/>
            <a:ext cx="3657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08E9E"/>
                </a:solidFill>
                <a:latin typeface="Calibri"/>
                <a:ea typeface="Microsoft YaHei"/>
              </a:rPr>
              <a:t>proposal . specs . design . tasks . implement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206240"/>
            <a:ext cx="55321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0" y="4462272"/>
            <a:ext cx="13716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1C7293"/>
                </a:solidFill>
                <a:latin typeface="Bahnschrift"/>
                <a:ea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4526279"/>
            <a:ext cx="36576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65A82"/>
                </a:solidFill>
                <a:latin typeface="Calibri"/>
                <a:ea typeface="Microsoft YaHei"/>
              </a:rPr>
              <a:t>动手做 + 作业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5120640"/>
            <a:ext cx="3657600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走完整 5 段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09560" y="5897879"/>
            <a:ext cx="3474720" cy="0"/>
          </a:xfrm>
          <a:prstGeom prst="line">
            <a:avLst/>
          </a:prstGeom>
          <a:ln w="1016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09560" y="5961888"/>
            <a:ext cx="3657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08E9E"/>
                </a:solidFill>
                <a:latin typeface="Calibri"/>
                <a:ea typeface="Microsoft YaHei"/>
              </a:rPr>
              <a:t>add-dual-ma-strategy . 自测数字 . 提交清单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4114800" cy="3657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1" i="0">
                <a:solidFill>
                  <a:srgbClr val="1C7293"/>
                </a:solidFill>
                <a:latin typeface="Bahnschrift"/>
                <a:ea typeface="Microsoft YaHei"/>
              </a:rPr>
              <a:t>01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0" y="2286000"/>
            <a:ext cx="0" cy="274320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94960" y="2468880"/>
            <a:ext cx="658368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  <a:ea typeface="Microsoft YaHei"/>
              </a:rPr>
              <a:t>vibe vs 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11880"/>
            <a:ext cx="658368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1">
                <a:solidFill>
                  <a:srgbClr val="E2E8EE"/>
                </a:solidFill>
                <a:latin typeface="Calibri"/>
                <a:ea typeface="Microsoft YaHei"/>
              </a:rPr>
              <a:t>没合同就只能赌运气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2E8E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Calibri"/>
                <a:ea typeface="Microsoft YaHei"/>
              </a:rPr>
              <a:t>vibe vs spec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01 . vibe coding 失败案例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65A82"/>
                </a:solidFill>
                <a:latin typeface="Calibri"/>
                <a:ea typeface="Microsoft YaHei"/>
              </a:rPr>
              <a:t>一段对话，一个 lookahead bias 翻车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1920240"/>
            <a:ext cx="5486400" cy="4023360"/>
          </a:xfrm>
          <a:prstGeom prst="roundRect">
            <a:avLst>
              <a:gd name="adj" fmla="val 5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08E9E"/>
                </a:solidFill>
                <a:latin typeface="Consolas"/>
                <a:ea typeface="Consolas"/>
              </a:rPr>
              <a:t>对话记录（vibe 模式）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2395728"/>
            <a:ext cx="5074920" cy="0"/>
          </a:xfrm>
          <a:prstGeom prst="line">
            <a:avLst/>
          </a:prstGeom>
          <a:ln w="7620">
            <a:solidFill>
              <a:srgbClr val="55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487168"/>
            <a:ext cx="5029200" cy="3291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6F7F9"/>
                </a:solidFill>
                <a:latin typeface="Consolas"/>
                <a:ea typeface="Consolas"/>
              </a:rPr>
              <a:t>我: 帮我写个 MA 策略，金叉买入
Claude: 好的，代码如下——
  sig = (ma_short &gt; ma_long).astype(int)
我: 回测一下
Claude: sharpe=3.8, cum=0.42
我: 真棒！直接上生产吧
[三个月后] 实盘：cum=-0.15  ???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5577840" cy="4023360"/>
          </a:xfrm>
          <a:prstGeom prst="roundRect">
            <a:avLst>
              <a:gd name="adj" fmla="val 5000"/>
            </a:avLst>
          </a:prstGeom>
          <a:solidFill>
            <a:srgbClr val="E2E8EE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530352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Calibri"/>
                <a:ea typeface="Microsoft YaHei"/>
              </a:rPr>
              <a:t>为什么翻车？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46520" y="2395728"/>
            <a:ext cx="5212080" cy="0"/>
          </a:xfrm>
          <a:prstGeom prst="line">
            <a:avLst/>
          </a:prstGeom>
          <a:ln w="762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46520" y="2542032"/>
            <a:ext cx="5212080" cy="103327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B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29400" y="2596896"/>
            <a:ext cx="484632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Calibri"/>
                <a:ea typeface="Microsoft YaHei"/>
              </a:rPr>
              <a:t>Lookahead Bias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907791"/>
            <a:ext cx="4846320" cy="62179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sig 用了当天 close 计算的均线，
回测读取了未来数据，虚高收益。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639311"/>
            <a:ext cx="5212080" cy="103327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B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629400" y="3694175"/>
            <a:ext cx="484632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Calibri"/>
                <a:ea typeface="Microsoft YaHei"/>
              </a:rPr>
              <a:t>无接口约定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005072"/>
            <a:ext cx="4846320" cy="62179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没有定义返回值是 {0,1} 还是 {-1,0,1}，
仓位计算逻辑全靠 AI 猜。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736592"/>
            <a:ext cx="5212080" cy="103327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B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629400" y="4791455"/>
            <a:ext cx="484632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Calibri"/>
                <a:ea typeface="Microsoft YaHei"/>
              </a:rPr>
              <a:t>无边界条件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102352"/>
            <a:ext cx="4846320" cy="62179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均线窗口期内的 NaN 怎么处理？
没有 spec，AI 每次处理方式不同。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989320"/>
            <a:ext cx="11430000" cy="36576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6016752"/>
            <a:ext cx="10972800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0B04A"/>
                </a:solidFill>
                <a:latin typeface="Calibri"/>
                <a:ea typeface="Microsoft YaHei"/>
              </a:rPr>
              <a:t>没有 spec = 没有合同 = 回测结果依赖 AI 的心情，上生产必翻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Calibri"/>
                <a:ea typeface="Microsoft YaHei"/>
              </a:rPr>
              <a:t>vibe vs spec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01 . spec-driven 同需求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65A82"/>
                </a:solidFill>
                <a:latin typeface="Calibri"/>
                <a:ea typeface="Microsoft YaHei"/>
              </a:rPr>
              <a:t>先 spec 再 implement，结果截然不同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192024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5303520" cy="566928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5303520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Vibe 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484632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Calibri"/>
                <a:ea typeface="Microsoft YaHei"/>
              </a:rPr>
              <a:t>✕  直接说需求，AI 直接写代码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17520"/>
            <a:ext cx="484632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Calibri"/>
                <a:ea typeface="Microsoft YaHei"/>
              </a:rPr>
              <a:t>✕  接口由 AI 自由发挥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01568"/>
            <a:ext cx="484632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Calibri"/>
                <a:ea typeface="Microsoft YaHei"/>
              </a:rPr>
              <a:t>✕  回测数字虚高（lookahead）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785615"/>
            <a:ext cx="484632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Calibri"/>
                <a:ea typeface="Microsoft YaHei"/>
              </a:rPr>
              <a:t>✕  换一次 AI 行为不一致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9663"/>
            <a:ext cx="484632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Calibri"/>
                <a:ea typeface="Microsoft YaHei"/>
              </a:rPr>
              <a:t>✕  上生产才发现问题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53712"/>
            <a:ext cx="484632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Calibri"/>
                <a:ea typeface="Microsoft YaHei"/>
              </a:rPr>
              <a:t>✕  调试成本：极高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749039"/>
            <a:ext cx="548640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808E9E"/>
                </a:solidFill>
                <a:latin typeface="Bahnschrift"/>
                <a:ea typeface="Microsoft YaHei"/>
              </a:rPr>
              <a:t>vs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92024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583680" y="1920240"/>
            <a:ext cx="5303520" cy="5669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83680" y="1920240"/>
            <a:ext cx="5303520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Spec-Driven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633472"/>
            <a:ext cx="484632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C7293"/>
                </a:solidFill>
                <a:latin typeface="Calibri"/>
                <a:ea typeface="Microsoft YaHei"/>
              </a:rPr>
              <a:t>✓  先写 proposal + specs.md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017520"/>
            <a:ext cx="484632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C7293"/>
                </a:solidFill>
                <a:latin typeface="Calibri"/>
                <a:ea typeface="Microsoft YaHei"/>
              </a:rPr>
              <a:t>✓  接口约定在先，AI 实现在后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401568"/>
            <a:ext cx="484632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C7293"/>
                </a:solidFill>
                <a:latin typeface="Calibri"/>
                <a:ea typeface="Microsoft YaHei"/>
              </a:rPr>
              <a:t>✓  防 lookahead 写进 specs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785615"/>
            <a:ext cx="484632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C7293"/>
                </a:solidFill>
                <a:latin typeface="Calibri"/>
                <a:ea typeface="Microsoft YaHei"/>
              </a:rPr>
              <a:t>✓  specs 可复核，行为可重现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169663"/>
            <a:ext cx="484632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C7293"/>
                </a:solidFill>
                <a:latin typeface="Calibri"/>
                <a:ea typeface="Microsoft YaHei"/>
              </a:rPr>
              <a:t>✓  CI 验证，上线前已知结果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553712"/>
            <a:ext cx="484632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C7293"/>
                </a:solidFill>
                <a:latin typeface="Calibri"/>
                <a:ea typeface="Microsoft YaHei"/>
              </a:rPr>
              <a:t>✓  调试成本：极低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89320"/>
            <a:ext cx="11430000" cy="36576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" y="6016752"/>
            <a:ext cx="10972800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0B04A"/>
                </a:solidFill>
                <a:latin typeface="Calibri"/>
                <a:ea typeface="Microsoft YaHei"/>
              </a:rPr>
              <a:t>Spec 不是额外负担——它是让 AI 产出可信结果的唯一方式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4114800" cy="3657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1" i="0">
                <a:solidFill>
                  <a:srgbClr val="1C7293"/>
                </a:solidFill>
                <a:latin typeface="Bahnschrift"/>
                <a:ea typeface="Microsoft YaHei"/>
              </a:rPr>
              <a:t>02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0" y="2286000"/>
            <a:ext cx="0" cy="274320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94960" y="2468880"/>
            <a:ext cx="658368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  <a:ea typeface="Microsoft YaHei"/>
              </a:rPr>
              <a:t>rules . guidelines . 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11880"/>
            <a:ext cx="658368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1">
                <a:solidFill>
                  <a:srgbClr val="E2E8EE"/>
                </a:solidFill>
                <a:latin typeface="Calibri"/>
                <a:ea typeface="Microsoft YaHei"/>
              </a:rPr>
              <a:t>三层叠加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2E8E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Calibri"/>
                <a:ea typeface="Microsoft YaHei"/>
              </a:rPr>
              <a:t>三层体系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02 . 三者对比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65A82"/>
                </a:solidFill>
                <a:latin typeface="Calibri"/>
                <a:ea typeface="Microsoft YaHei"/>
              </a:rPr>
              <a:t>适用范围 . 强制度 . 维护成本 . 例子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60320" y="1874519"/>
            <a:ext cx="2560320" cy="4572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560320" y="1874519"/>
            <a:ext cx="256032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</a:rPr>
              <a:t>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874519"/>
            <a:ext cx="3108960" cy="457200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212080" y="1874519"/>
            <a:ext cx="310896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</a:rPr>
              <a:t>Guidelines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874519"/>
            <a:ext cx="3474720" cy="457200"/>
          </a:xfrm>
          <a:prstGeom prst="roundRect">
            <a:avLst>
              <a:gd name="adj" fmla="val 4000"/>
            </a:avLst>
          </a:prstGeom>
          <a:solidFill>
            <a:srgbClr val="E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80" y="1874519"/>
            <a:ext cx="347472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22A36"/>
                </a:solidFill>
                <a:latin typeface="Calibri"/>
                <a:ea typeface="Microsoft YaHei"/>
              </a:rPr>
              <a:t>Spec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423160"/>
            <a:ext cx="11430000" cy="7955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29768" y="2560320"/>
            <a:ext cx="2057400" cy="6583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Calibri"/>
                <a:ea typeface="Microsoft YaHei"/>
              </a:rPr>
              <a:t>适用范围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39" y="2514600"/>
            <a:ext cx="2468880" cy="70408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整个仓库 / 全局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514600"/>
            <a:ext cx="3017520" cy="70408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文件类型 / 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514600"/>
            <a:ext cx="3383280" cy="70408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0B04A"/>
                </a:solidFill>
                <a:latin typeface="Calibri"/>
                <a:ea typeface="Microsoft YaHei"/>
              </a:rPr>
              <a:t>单个 feature / change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4048" y="3218688"/>
            <a:ext cx="11548871" cy="0"/>
          </a:xfrm>
          <a:prstGeom prst="line">
            <a:avLst/>
          </a:prstGeom>
          <a:ln w="762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84048" y="3264408"/>
            <a:ext cx="11430000" cy="795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9768" y="3401568"/>
            <a:ext cx="2057400" cy="6583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Calibri"/>
                <a:ea typeface="Microsoft YaHei"/>
              </a:rPr>
              <a:t>强制度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39" y="3355848"/>
            <a:ext cx="2468880" cy="70408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AI 必须遵守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355848"/>
            <a:ext cx="3017520" cy="70408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AI 默认遵守，可显式覆盖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355848"/>
            <a:ext cx="3383280" cy="70408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0B04A"/>
                </a:solidFill>
                <a:latin typeface="Calibri"/>
                <a:ea typeface="Microsoft YaHei"/>
              </a:rPr>
              <a:t>AI 按约定实现，可审查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4048" y="4059936"/>
            <a:ext cx="11548871" cy="0"/>
          </a:xfrm>
          <a:prstGeom prst="line">
            <a:avLst/>
          </a:prstGeom>
          <a:ln w="762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84048" y="4105656"/>
            <a:ext cx="11430000" cy="7955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768" y="4242816"/>
            <a:ext cx="2057400" cy="6583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Calibri"/>
                <a:ea typeface="Microsoft YaHei"/>
              </a:rPr>
              <a:t>维护成本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39" y="4197096"/>
            <a:ext cx="2468880" cy="70408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低——改动少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4197096"/>
            <a:ext cx="3017520" cy="70408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中——随风格演进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197096"/>
            <a:ext cx="3383280" cy="70408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0B04A"/>
                </a:solidFill>
                <a:latin typeface="Calibri"/>
                <a:ea typeface="Microsoft YaHei"/>
              </a:rPr>
              <a:t>高——每个 feature 都要写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84048" y="4901184"/>
            <a:ext cx="11548871" cy="0"/>
          </a:xfrm>
          <a:prstGeom prst="line">
            <a:avLst/>
          </a:prstGeom>
          <a:ln w="762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84048" y="4946904"/>
            <a:ext cx="11430000" cy="795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29768" y="5084064"/>
            <a:ext cx="2057400" cy="6583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Calibri"/>
                <a:ea typeface="Microsoft YaHei"/>
              </a:rPr>
              <a:t>例子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39" y="5038344"/>
            <a:ext cx="2468880" cy="70408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UTC / 注释用中文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7800" y="5038344"/>
            <a:ext cx="3017520" cy="70408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命名风格 / 日志格式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5038344"/>
            <a:ext cx="3383280" cy="70408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0B04A"/>
                </a:solidFill>
                <a:latin typeface="Calibri"/>
                <a:ea typeface="Microsoft YaHei"/>
              </a:rPr>
              <a:t>dual_ma 函数签名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84048" y="5742432"/>
            <a:ext cx="11548871" cy="0"/>
          </a:xfrm>
          <a:prstGeom prst="line">
            <a:avLst/>
          </a:prstGeom>
          <a:ln w="762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Calibri"/>
                <a:ea typeface="Microsoft YaHei"/>
              </a:rPr>
              <a:t>三层体系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02 . 三者协作图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65A82"/>
                </a:solidFill>
                <a:latin typeface="Calibri"/>
                <a:ea typeface="Microsoft YaHei"/>
              </a:rPr>
              <a:t>rules 全局 . guidelines 风格 . spec 单 feature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920240"/>
            <a:ext cx="11338560" cy="402336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993392"/>
            <a:ext cx="822960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0B04A"/>
                </a:solidFill>
                <a:latin typeface="Calibri"/>
                <a:ea typeface="Microsoft YaHei"/>
              </a:rPr>
              <a:t>RULES  (CLAUDE.md / .cursor/rules/)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04288"/>
            <a:ext cx="1051560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2E8EE"/>
                </a:solidFill>
                <a:latin typeface="Calibri"/>
                <a:ea typeface="Microsoft YaHei"/>
              </a:rPr>
              <a:t>全局约束：UTC / 中文注释 / 命名规范 / 安全底线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2743200"/>
            <a:ext cx="10058400" cy="3017520"/>
          </a:xfrm>
          <a:prstGeom prst="roundRect">
            <a:avLst>
              <a:gd name="adj" fmla="val 7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417320" y="2816352"/>
            <a:ext cx="822960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GUIDELINES  (.cursor/rules/*.mdc)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127248"/>
            <a:ext cx="960120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2E8EE"/>
                </a:solidFill>
                <a:latin typeface="Calibri"/>
                <a:ea typeface="Microsoft YaHei"/>
              </a:rPr>
              <a:t>风格约定：日志格式 / 返回值类型 / 错误处理 / 测试命名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3611880"/>
            <a:ext cx="8778240" cy="201168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 w="9525">
            <a:solidFill>
              <a:srgbClr val="E0B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057400" y="3685032"/>
            <a:ext cx="822960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0B04A"/>
                </a:solidFill>
                <a:latin typeface="Calibri"/>
                <a:ea typeface="Microsoft YaHei"/>
              </a:rPr>
              <a:t>SPEC  (openspec/changes/&lt;feature&gt;/)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023360"/>
            <a:ext cx="82296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单 feature 合同：proposal + specs + design + tasks + implement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434840"/>
            <a:ext cx="82296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2E8EE"/>
                </a:solidFill>
                <a:latin typeface="Calibri"/>
                <a:ea typeface="Microsoft YaHei"/>
              </a:rPr>
              <a:t>例：add-dual-ma-strategy — 函数签名、金叉死叉规则、防 lookahead 约定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89320"/>
            <a:ext cx="11430000" cy="365760"/>
          </a:xfrm>
          <a:prstGeom prst="roundRect">
            <a:avLst>
              <a:gd name="adj" fmla="val 4000"/>
            </a:avLst>
          </a:prstGeom>
          <a:solidFill>
            <a:srgbClr val="E2E8EE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" y="6016752"/>
            <a:ext cx="10972800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065A82"/>
                </a:solidFill>
                <a:latin typeface="Calibri"/>
                <a:ea typeface="Microsoft YaHei"/>
              </a:rPr>
              <a:t>三层不冲突：rules 是底线，guidelines 是默认风格，spec 是单次约定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4114800" cy="3657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1" i="0">
                <a:solidFill>
                  <a:srgbClr val="1C7293"/>
                </a:solidFill>
                <a:latin typeface="Bahnschrift"/>
                <a:ea typeface="Microsoft YaHei"/>
              </a:rPr>
              <a:t>03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0" y="2286000"/>
            <a:ext cx="0" cy="274320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94960" y="2468880"/>
            <a:ext cx="658368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</a:rPr>
              <a:t>OpenSpec 五段速览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11880"/>
            <a:ext cx="658368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1">
                <a:solidFill>
                  <a:srgbClr val="E2E8EE"/>
                </a:solidFill>
                <a:latin typeface="Calibri"/>
                <a:ea typeface="Microsoft YaHei"/>
              </a:rPr>
              <a:t>5 个 markdown 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2E8E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4983480"/>
            <a:ext cx="6583680" cy="1280160"/>
          </a:xfrm>
          <a:prstGeom prst="roundRect">
            <a:avLst/>
          </a:prstGeom>
          <a:solidFill>
            <a:srgbClr val="21295C"/>
          </a:solidFill>
          <a:ln w="1524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  <a:r>
              <a:rPr sz="1300" b="1">
                <a:solidFill>
                  <a:srgbClr val="E6F0F5"/>
                </a:solidFill>
              </a:rPr>
              <a:t>Setup（可选）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npm install -g openspec</a:t>
            </a:r>
            <a:r>
              <a:rPr sz="1300">
                <a:solidFill>
                  <a:srgbClr val="E6F0F5"/>
                </a:solidFill>
              </a:rPr>
              <a:t>    -    </a:t>
            </a:r>
            <a:r>
              <a:rPr sz="1300">
                <a:solidFill>
                  <a:srgbClr val="FFFFFF"/>
                </a:solidFill>
                <a:latin typeface="Consolas"/>
              </a:rPr>
              <a:t>cd lesson5/project &amp;&amp; openspec init</a:t>
            </a:r>
          </a:p>
          <a:p>
            <a:r>
              <a:rPr sz="1100" i="1">
                <a:solidFill>
                  <a:srgbClr val="E6F0F5"/>
                </a:solidFill>
              </a:rPr>
              <a:t>CLI 是可选便利层——纯手写 5 段 markdown 也行；本课样本两种方式产物一致。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Calibri"/>
                <a:ea typeface="Microsoft YaHei"/>
              </a:rPr>
              <a:t>OpenSpec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03 . OpenSpec 五段总览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65A82"/>
                </a:solidFill>
                <a:latin typeface="Calibri"/>
                <a:ea typeface="Microsoft YaHei"/>
              </a:rPr>
              <a:t>proposal - specs - design - tasks - implement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94360" y="2057400"/>
            <a:ext cx="2103120" cy="347472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2103120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Proposal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2715768"/>
            <a:ext cx="1828800" cy="0"/>
          </a:xfrm>
          <a:prstGeom prst="line">
            <a:avLst/>
          </a:prstGeom>
          <a:ln w="7620">
            <a:solidFill>
              <a:srgbClr val="55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788920"/>
            <a:ext cx="192023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E2E8EE"/>
                </a:solidFill>
                <a:latin typeface="Consolas"/>
                <a:ea typeface="Consolas"/>
              </a:rPr>
              <a:t>proposal.md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73552"/>
            <a:ext cx="1920239" cy="20116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</a:rPr>
              <a:t>提出需求
动机 + 痛点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2344" y="3474720"/>
            <a:ext cx="146304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C7293"/>
                </a:solidFill>
                <a:latin typeface="Calibri"/>
                <a:ea typeface="Microsoft YaHei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2057400"/>
            <a:ext cx="2103120" cy="347472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880360" y="2057400"/>
            <a:ext cx="2103120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Specs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17520" y="2715768"/>
            <a:ext cx="1828799" cy="0"/>
          </a:xfrm>
          <a:prstGeom prst="line">
            <a:avLst/>
          </a:prstGeom>
          <a:ln w="7620">
            <a:solidFill>
              <a:srgbClr val="55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971800" y="2788920"/>
            <a:ext cx="192023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E2E8EE"/>
                </a:solidFill>
                <a:latin typeface="Consolas"/>
                <a:ea typeface="Consolas"/>
              </a:rPr>
              <a:t>specs.md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273552"/>
            <a:ext cx="1920239" cy="20116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</a:rPr>
              <a:t>接口约定
函数签名 + 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8343" y="3474720"/>
            <a:ext cx="146304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C7293"/>
                </a:solidFill>
                <a:latin typeface="Calibri"/>
                <a:ea typeface="Microsoft YaHei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60" y="2057400"/>
            <a:ext cx="2103120" cy="347472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166360" y="2057400"/>
            <a:ext cx="2103120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Design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03520" y="2715768"/>
            <a:ext cx="1828800" cy="0"/>
          </a:xfrm>
          <a:prstGeom prst="line">
            <a:avLst/>
          </a:prstGeom>
          <a:ln w="7620">
            <a:solidFill>
              <a:srgbClr val="55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257800" y="2788920"/>
            <a:ext cx="192023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E2E8EE"/>
                </a:solidFill>
                <a:latin typeface="Consolas"/>
                <a:ea typeface="Consolas"/>
              </a:rPr>
              <a:t>design.md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273552"/>
            <a:ext cx="1920239" cy="20116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</a:rPr>
              <a:t>技术决策
方案对比 + 选择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4344" y="3474720"/>
            <a:ext cx="146304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C7293"/>
                </a:solidFill>
                <a:latin typeface="Calibri"/>
                <a:ea typeface="Microsoft YaHei"/>
              </a:rP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2057400"/>
            <a:ext cx="2103120" cy="347472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52360" y="2057400"/>
            <a:ext cx="2103120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Tasks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89520" y="2715768"/>
            <a:ext cx="1828799" cy="0"/>
          </a:xfrm>
          <a:prstGeom prst="line">
            <a:avLst/>
          </a:prstGeom>
          <a:ln w="7620">
            <a:solidFill>
              <a:srgbClr val="55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543800" y="2788920"/>
            <a:ext cx="192023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E2E8EE"/>
                </a:solidFill>
                <a:latin typeface="Consolas"/>
                <a:ea typeface="Consolas"/>
              </a:rPr>
              <a:t>tasks.md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3273552"/>
            <a:ext cx="1920239" cy="20116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</a:rPr>
              <a:t>开发清单
原子任务列表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0344" y="3474720"/>
            <a:ext cx="146304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C7293"/>
                </a:solidFill>
                <a:latin typeface="Calibri"/>
                <a:ea typeface="Microsoft YaHei"/>
              </a:rPr>
              <a:t>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38360" y="2057400"/>
            <a:ext cx="2103120" cy="347472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738360" y="2057400"/>
            <a:ext cx="2103120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Implement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875520" y="2715768"/>
            <a:ext cx="1828799" cy="0"/>
          </a:xfrm>
          <a:prstGeom prst="line">
            <a:avLst/>
          </a:prstGeom>
          <a:ln w="7620">
            <a:solidFill>
              <a:srgbClr val="55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829800" y="2788920"/>
            <a:ext cx="192023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E0B04A"/>
                </a:solidFill>
                <a:latin typeface="Consolas"/>
                <a:ea typeface="Consolas"/>
              </a:rPr>
              <a:t>(代码文件)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3273552"/>
            <a:ext cx="1920239" cy="20116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</a:rPr>
              <a:t>代码实现
AI 按 spec 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989320"/>
            <a:ext cx="11430000" cy="36576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40080" y="6016752"/>
            <a:ext cx="10972800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E0B04A"/>
                </a:solidFill>
                <a:latin typeface="Calibri"/>
                <a:ea typeface="Microsoft YaHei"/>
              </a:rPr>
              <a:t>openspec/changes/&lt;feature-name&gt;/  -  5 个文件，完整记录一个 feature 的生命周期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Calibri"/>
                <a:ea typeface="Microsoft YaHei"/>
              </a:rPr>
              <a:t>OpenSpec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03 . 各段角色一句话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65A82"/>
                </a:solidFill>
                <a:latin typeface="Calibri"/>
                <a:ea typeface="Microsoft YaHei"/>
              </a:rPr>
              <a:t>一句话定义 + 一个反例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2011680"/>
            <a:ext cx="210312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210312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210312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Proposal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606040"/>
            <a:ext cx="1883663" cy="11887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 i="0">
                <a:solidFill>
                  <a:srgbClr val="065A82"/>
                </a:solidFill>
                <a:latin typeface="Calibri"/>
                <a:ea typeface="Microsoft YaHei"/>
              </a:rPr>
              <a:t>提出「为什么做」和「做什么」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3886200"/>
            <a:ext cx="1883663" cy="0"/>
          </a:xfrm>
          <a:prstGeom prst="line">
            <a:avLst/>
          </a:prstGeom>
          <a:ln w="762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8" y="3977639"/>
            <a:ext cx="188366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04A3E"/>
                </a:solidFill>
                <a:latin typeface="Calibri"/>
                <a:ea typeface="Microsoft YaHei"/>
              </a:rPr>
              <a:t>反例：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251960"/>
            <a:ext cx="1883663" cy="1737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556E82"/>
                </a:solidFill>
                <a:latin typeface="Calibri"/>
                <a:ea typeface="Microsoft YaHei"/>
              </a:rPr>
              <a:t>直接写实现，没有说清楚为什么需要这个 feature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06624" y="2011680"/>
            <a:ext cx="210312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2706624" y="2011680"/>
            <a:ext cx="210312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706624" y="2011680"/>
            <a:ext cx="210312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Specs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2606040"/>
            <a:ext cx="1883663" cy="11887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 i="0">
                <a:solidFill>
                  <a:srgbClr val="065A82"/>
                </a:solidFill>
                <a:latin typeface="Calibri"/>
                <a:ea typeface="Microsoft YaHei"/>
              </a:rPr>
              <a:t>定义「做到什么程度算完成」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16352" y="3886200"/>
            <a:ext cx="1883664" cy="0"/>
          </a:xfrm>
          <a:prstGeom prst="line">
            <a:avLst/>
          </a:prstGeom>
          <a:ln w="762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816352" y="3977639"/>
            <a:ext cx="188366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04A3E"/>
                </a:solidFill>
                <a:latin typeface="Calibri"/>
                <a:ea typeface="Microsoft YaHei"/>
              </a:rPr>
              <a:t>反例：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6352" y="4251960"/>
            <a:ext cx="1883663" cy="1737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556E82"/>
                </a:solidFill>
                <a:latin typeface="Calibri"/>
                <a:ea typeface="Microsoft YaHei"/>
              </a:rPr>
              <a:t>specs 写成自然语言故事，无法验证是否实现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56048" y="2011680"/>
            <a:ext cx="210312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956048" y="2011680"/>
            <a:ext cx="210312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956048" y="2011680"/>
            <a:ext cx="210312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5776" y="2606040"/>
            <a:ext cx="1883663" cy="11887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 i="0">
                <a:solidFill>
                  <a:srgbClr val="065A82"/>
                </a:solidFill>
                <a:latin typeface="Calibri"/>
                <a:ea typeface="Microsoft YaHei"/>
              </a:rPr>
              <a:t>记录「为什么这样设计」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65776" y="3886200"/>
            <a:ext cx="1883664" cy="0"/>
          </a:xfrm>
          <a:prstGeom prst="line">
            <a:avLst/>
          </a:prstGeom>
          <a:ln w="762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65776" y="3977639"/>
            <a:ext cx="188366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04A3E"/>
                </a:solidFill>
                <a:latin typeface="Calibri"/>
                <a:ea typeface="Microsoft YaHei"/>
              </a:rPr>
              <a:t>反例：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65776" y="4251960"/>
            <a:ext cx="1883663" cy="1737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556E82"/>
                </a:solidFill>
                <a:latin typeface="Calibri"/>
                <a:ea typeface="Microsoft YaHei"/>
              </a:rPr>
              <a:t>只记录最终方案，丢失备选方案和决策理由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05472" y="2011680"/>
            <a:ext cx="210312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205472" y="2011680"/>
            <a:ext cx="210312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205472" y="2011680"/>
            <a:ext cx="210312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Tasks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2606040"/>
            <a:ext cx="1883663" cy="11887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 i="0">
                <a:solidFill>
                  <a:srgbClr val="065A82"/>
                </a:solidFill>
                <a:latin typeface="Calibri"/>
                <a:ea typeface="Microsoft YaHei"/>
              </a:rPr>
              <a:t>拆成「可独立完成的原子步骤」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315200" y="3886200"/>
            <a:ext cx="1883664" cy="0"/>
          </a:xfrm>
          <a:prstGeom prst="line">
            <a:avLst/>
          </a:prstGeom>
          <a:ln w="762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315200" y="3977639"/>
            <a:ext cx="188366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04A3E"/>
                </a:solidFill>
                <a:latin typeface="Calibri"/>
                <a:ea typeface="Microsoft YaHei"/>
              </a:rPr>
              <a:t>反例：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251960"/>
            <a:ext cx="1883663" cy="1737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556E82"/>
                </a:solidFill>
                <a:latin typeface="Calibri"/>
                <a:ea typeface="Microsoft YaHei"/>
              </a:rPr>
              <a:t>task 写成「实现双均线策略」，一句话包含 5 个操作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54896" y="2011680"/>
            <a:ext cx="210312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9454896" y="2011680"/>
            <a:ext cx="210312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454896" y="2011680"/>
            <a:ext cx="210312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Implement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64624" y="2606040"/>
            <a:ext cx="1883663" cy="11887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 i="0">
                <a:solidFill>
                  <a:srgbClr val="065A82"/>
                </a:solidFill>
                <a:latin typeface="Calibri"/>
                <a:ea typeface="Microsoft YaHei"/>
              </a:rPr>
              <a:t>代码与 specs 对齐，可验证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564624" y="3886200"/>
            <a:ext cx="1883664" cy="0"/>
          </a:xfrm>
          <a:prstGeom prst="line">
            <a:avLst/>
          </a:prstGeom>
          <a:ln w="762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564624" y="3977639"/>
            <a:ext cx="188366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04A3E"/>
                </a:solidFill>
                <a:latin typeface="Calibri"/>
                <a:ea typeface="Microsoft YaHei"/>
              </a:rPr>
              <a:t>反例：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64624" y="4251960"/>
            <a:ext cx="1883663" cy="1737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556E82"/>
                </a:solidFill>
                <a:latin typeface="Calibri"/>
                <a:ea typeface="Microsoft YaHei"/>
              </a:rPr>
              <a:t>实现完后 specs.md 没有更新，两者不一致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4114800" cy="3657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1" i="0">
                <a:solidFill>
                  <a:srgbClr val="1C7293"/>
                </a:solidFill>
                <a:latin typeface="Bahnschrift"/>
                <a:ea typeface="Microsoft YaHei"/>
              </a:rPr>
              <a:t>04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0" y="2286000"/>
            <a:ext cx="0" cy="274320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94960" y="2468880"/>
            <a:ext cx="658368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</a:rPr>
              <a:t>动手做：add-dual-ma-strategy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11880"/>
            <a:ext cx="658368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1">
                <a:solidFill>
                  <a:srgbClr val="E2E8EE"/>
                </a:solidFill>
                <a:latin typeface="Calibri"/>
                <a:ea typeface="Microsoft YaHei"/>
              </a:rPr>
              <a:t>走完整 5 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2E8E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Calibri"/>
                <a:ea typeface="Microsoft YaHei"/>
              </a:rPr>
              <a:t>OpenSpec 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04 . proposal.md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65A82"/>
                </a:solidFill>
                <a:latin typeface="Calibri"/>
                <a:ea typeface="Microsoft YaHei"/>
              </a:rPr>
              <a:t>5 行核心——为什么做 + 做什么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920240"/>
            <a:ext cx="11430000" cy="3657600"/>
          </a:xfrm>
          <a:prstGeom prst="roundRect">
            <a:avLst>
              <a:gd name="adj" fmla="val 5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08E9E"/>
                </a:solidFill>
                <a:latin typeface="Consolas"/>
                <a:ea typeface="Consolas"/>
              </a:rPr>
              <a:t>openspec/changes/add-dual-ma-strategy/proposal.md（节选）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2395728"/>
            <a:ext cx="10972800" cy="0"/>
          </a:xfrm>
          <a:prstGeom prst="line">
            <a:avLst/>
          </a:prstGeom>
          <a:ln w="7620">
            <a:solidFill>
              <a:srgbClr val="55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514600"/>
            <a:ext cx="10972800" cy="2926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F6F7F9"/>
                </a:solidFill>
                <a:latin typeface="Consolas"/>
                <a:ea typeface="Consolas"/>
              </a:rPr>
              <a:t>## 问题
lesson5/project/strategies/ 只有 buy_and_hold（基线）和 ma_crossover_7
（单均线突破），缺少反转信号——无法教学多空切换。
## 提案
实现双均线交叉策略 dual_ma：短均线（默认 7 日）上穿长均线
（默认 14 日）-&gt; 信号 +1（做多）；短均线下穿 -&gt; 信号 0（空仓）；
其他情况维持上一日信号。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15000"/>
            <a:ext cx="3611880" cy="594360"/>
          </a:xfrm>
          <a:prstGeom prst="roundRect">
            <a:avLst>
              <a:gd name="adj" fmla="val 4000"/>
            </a:avLst>
          </a:prstGeom>
          <a:solidFill>
            <a:srgbClr val="E2E8EE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5779008"/>
            <a:ext cx="339242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动机清晰  </a:t>
            </a: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说明现有策略局限，不是「想做就做」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5715000"/>
            <a:ext cx="3611880" cy="594360"/>
          </a:xfrm>
          <a:prstGeom prst="roundRect">
            <a:avLst>
              <a:gd name="adj" fmla="val 4000"/>
            </a:avLst>
          </a:prstGeom>
          <a:solidFill>
            <a:srgbClr val="E2E8EE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07408" y="5779008"/>
            <a:ext cx="339242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范围明确  </a:t>
            </a: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7日/14日/+1/0，不含-1（简化教学）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5715000"/>
            <a:ext cx="3611880" cy="594360"/>
          </a:xfrm>
          <a:prstGeom prst="roundRect">
            <a:avLst>
              <a:gd name="adj" fmla="val 4000"/>
            </a:avLst>
          </a:prstGeom>
          <a:solidFill>
            <a:srgbClr val="E2E8EE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56448" y="5779008"/>
            <a:ext cx="3392424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无实现细节  </a:t>
            </a: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proposal 只描述「做什么」，不提「怎么做」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Calibri"/>
                <a:ea typeface="Microsoft YaHei"/>
              </a:rPr>
              <a:t>OpenSpec 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04 . specs.md 接口段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65A82"/>
                </a:solidFill>
                <a:latin typeface="Calibri"/>
                <a:ea typeface="Microsoft YaHei"/>
              </a:rPr>
              <a:t>函数签名 + 金叉/死叉/其他  信号规则表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1920240"/>
            <a:ext cx="5486400" cy="1417320"/>
          </a:xfrm>
          <a:prstGeom prst="roundRect">
            <a:avLst>
              <a:gd name="adj" fmla="val 5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2011680"/>
            <a:ext cx="5029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08E9E"/>
                </a:solidFill>
                <a:latin typeface="Consolas"/>
                <a:ea typeface="Consolas"/>
              </a:rPr>
              <a:t>函数签名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2359152"/>
            <a:ext cx="5102352" cy="0"/>
          </a:xfrm>
          <a:prstGeom prst="line">
            <a:avLst/>
          </a:prstGeom>
          <a:ln w="6350">
            <a:solidFill>
              <a:srgbClr val="55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2423160"/>
            <a:ext cx="5166360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6F7F9"/>
                </a:solidFill>
                <a:latin typeface="Consolas"/>
                <a:ea typeface="Consolas"/>
              </a:rPr>
              <a:t>dual_ma(df: pd.DataFrame,
        short_window: int = 7,
        long_window:  int = 14) -&gt; pd.Series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2900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 w="95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3520440"/>
            <a:ext cx="5029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Consolas"/>
                <a:ea typeface="Consolas"/>
              </a:rPr>
              <a:t>防 lookahead 约定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858768"/>
            <a:ext cx="516636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E2E8EE"/>
                </a:solidFill>
                <a:latin typeface="Consolas"/>
                <a:ea typeface="Consolas"/>
              </a:rPr>
              <a:t>df["close"].shift(1).rolling(N).mean()
确保信号决定时不读今日 close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81728"/>
            <a:ext cx="5486400" cy="731520"/>
          </a:xfrm>
          <a:prstGeom prst="roundRect">
            <a:avLst>
              <a:gd name="adj" fmla="val 4000"/>
            </a:avLst>
          </a:prstGeom>
          <a:solidFill>
            <a:srgbClr val="E2E8EE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4773168"/>
            <a:ext cx="516636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兼容性：可被 backtest.run_backtest(dual_ma) 直接调用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920240"/>
            <a:ext cx="59436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Calibri"/>
                <a:ea typeface="Microsoft YaHei"/>
              </a:rPr>
              <a:t>行为规则表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304288"/>
            <a:ext cx="2331720" cy="411480"/>
          </a:xfrm>
          <a:prstGeom prst="roundRect">
            <a:avLst>
              <a:gd name="adj" fmla="val 3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7920" y="2304288"/>
            <a:ext cx="233172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状态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2304288"/>
            <a:ext cx="2103120" cy="411480"/>
          </a:xfrm>
          <a:prstGeom prst="roundRect">
            <a:avLst>
              <a:gd name="adj" fmla="val 3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41080" y="2304288"/>
            <a:ext cx="210312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条件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835640" y="2304288"/>
            <a:ext cx="1417320" cy="411480"/>
          </a:xfrm>
          <a:prstGeom prst="roundRect">
            <a:avLst>
              <a:gd name="adj" fmla="val 3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835640" y="2304288"/>
            <a:ext cx="141732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当日信号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788920"/>
            <a:ext cx="5989320" cy="89611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63640" y="2862072"/>
            <a:ext cx="2240280" cy="80467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Calibri"/>
                <a:ea typeface="Microsoft YaHei"/>
              </a:rPr>
              <a:t>金叉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843784"/>
            <a:ext cx="2011680" cy="80467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A36"/>
                </a:solidFill>
                <a:latin typeface="Consolas"/>
                <a:ea typeface="Consolas"/>
              </a:rPr>
              <a:t>ma_s &gt; ma_l
且昨日 ma_s &lt;= ma_l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2880360"/>
            <a:ext cx="1371600" cy="75895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F7A55"/>
                </a:solidFill>
                <a:latin typeface="Calibri"/>
                <a:ea typeface="Microsoft YaHei"/>
              </a:rPr>
              <a:t>+1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17920" y="3685031"/>
            <a:ext cx="5989320" cy="0"/>
          </a:xfrm>
          <a:prstGeom prst="line">
            <a:avLst/>
          </a:prstGeom>
          <a:ln w="635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217920" y="3685031"/>
            <a:ext cx="5989320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63640" y="3758183"/>
            <a:ext cx="2240280" cy="80467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Calibri"/>
                <a:ea typeface="Microsoft YaHei"/>
              </a:rPr>
              <a:t>死叉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3739895"/>
            <a:ext cx="2011680" cy="80467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A36"/>
                </a:solidFill>
                <a:latin typeface="Consolas"/>
                <a:ea typeface="Consolas"/>
              </a:rPr>
              <a:t>ma_s &lt; ma_l
且昨日 ma_s &gt;= ma_l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3776471"/>
            <a:ext cx="1371600" cy="75895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04A3E"/>
                </a:solidFill>
                <a:latin typeface="Calibri"/>
                <a:ea typeface="Microsoft YaHei"/>
              </a:rPr>
              <a:t>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217920" y="4581144"/>
            <a:ext cx="5989320" cy="0"/>
          </a:xfrm>
          <a:prstGeom prst="line">
            <a:avLst/>
          </a:prstGeom>
          <a:ln w="635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217920" y="4581144"/>
            <a:ext cx="5989320" cy="89611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263640" y="4654296"/>
            <a:ext cx="2240280" cy="80467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Calibri"/>
                <a:ea typeface="Microsoft YaHei"/>
              </a:rPr>
              <a:t>其他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636007"/>
            <a:ext cx="2011680" cy="80467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A36"/>
                </a:solidFill>
                <a:latin typeface="Consolas"/>
                <a:ea typeface="Consolas"/>
              </a:rPr>
              <a:t>无交叉（持仓维持）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4672583"/>
            <a:ext cx="1371600" cy="75895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556E82"/>
                </a:solidFill>
                <a:latin typeface="Calibri"/>
                <a:ea typeface="Microsoft YaHei"/>
              </a:rPr>
              <a:t>同昨日信号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217920" y="5477256"/>
            <a:ext cx="5989320" cy="0"/>
          </a:xfrm>
          <a:prstGeom prst="line">
            <a:avLst/>
          </a:prstGeom>
          <a:ln w="635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Calibri"/>
                <a:ea typeface="Microsoft YaHei"/>
              </a:rPr>
              <a:t>OpenSpec 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04 . design.md 备选方案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65A82"/>
                </a:solidFill>
                <a:latin typeface="Calibri"/>
                <a:ea typeface="Microsoft YaHei"/>
              </a:rPr>
              <a:t>做决策前先列方案，记录为什么选 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4048" y="1874519"/>
            <a:ext cx="914400" cy="4572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84048" y="1874519"/>
            <a:ext cx="91440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方案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1874519"/>
            <a:ext cx="3337560" cy="4572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71600" y="1874519"/>
            <a:ext cx="333756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描述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1874519"/>
            <a:ext cx="2606040" cy="4572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00600" y="1874519"/>
            <a:ext cx="260604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实现复杂度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874519"/>
            <a:ext cx="2697480" cy="4572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98079" y="1874519"/>
            <a:ext cx="269748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教学清晰度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0" y="1874519"/>
            <a:ext cx="1600200" cy="457200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0" y="1874519"/>
            <a:ext cx="160020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选择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2423160"/>
            <a:ext cx="11384280" cy="1033271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29768" y="2514600"/>
            <a:ext cx="868680" cy="9418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222A36"/>
                </a:solidFill>
                <a:latin typeface="Calibri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2514600"/>
            <a:ext cx="3291840" cy="9418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close vs MA
（简单突破）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514600"/>
            <a:ext cx="2560320" cy="9418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514600"/>
            <a:ext cx="2651760" cy="9418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高，但和 ma_crossover_7 雷同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2514600"/>
            <a:ext cx="1554480" cy="9418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C04A3E"/>
                </a:solidFill>
                <a:latin typeface="Calibri"/>
                <a:ea typeface="Microsoft YaHei"/>
              </a:rPr>
              <a:t>X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4048" y="3456432"/>
            <a:ext cx="11503152" cy="0"/>
          </a:xfrm>
          <a:prstGeom prst="line">
            <a:avLst/>
          </a:prstGeom>
          <a:ln w="762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84048" y="3502152"/>
            <a:ext cx="11384280" cy="1033271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29768" y="3593592"/>
            <a:ext cx="868680" cy="9418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593592"/>
            <a:ext cx="3291840" cy="9418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Microsoft YaHei"/>
              </a:rPr>
              <a:t>短 MA vs 长 MA
（金叉死叉）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593592"/>
            <a:ext cx="2560320" cy="9418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E2E8EE"/>
                </a:solidFill>
                <a:latin typeface="Calibri"/>
                <a:ea typeface="Microsoft YaHei"/>
              </a:rPr>
              <a:t>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3593592"/>
            <a:ext cx="2651760" cy="9418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2E8EE"/>
                </a:solidFill>
                <a:latin typeface="Calibri"/>
                <a:ea typeface="Microsoft YaHei"/>
              </a:rPr>
              <a:t>高，经典量化教科书例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3593592"/>
            <a:ext cx="1554480" cy="9418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0B04A"/>
                </a:solidFill>
                <a:latin typeface="Calibri"/>
                <a:ea typeface="Microsoft YaHei"/>
              </a:rPr>
              <a:t>O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84048" y="4535424"/>
            <a:ext cx="11503152" cy="0"/>
          </a:xfrm>
          <a:prstGeom prst="line">
            <a:avLst/>
          </a:prstGeom>
          <a:ln w="762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84048" y="4581144"/>
            <a:ext cx="11384280" cy="1033271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29768" y="4672583"/>
            <a:ext cx="868680" cy="9418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222A36"/>
                </a:solidFill>
                <a:latin typeface="Calibri"/>
                <a:ea typeface="Microsoft YaHei"/>
              </a:rP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672583"/>
            <a:ext cx="3291840" cy="9418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MACD
（DIF/DEA）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672583"/>
            <a:ext cx="2560320" cy="9418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4672583"/>
            <a:ext cx="2651760" cy="9418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高，但引入 EMA 超出 25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4672583"/>
            <a:ext cx="1554480" cy="9418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C04A3E"/>
                </a:solidFill>
                <a:latin typeface="Calibri"/>
                <a:ea typeface="Microsoft YaHei"/>
              </a:rPr>
              <a:t>X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84048" y="5614416"/>
            <a:ext cx="11503152" cy="0"/>
          </a:xfrm>
          <a:prstGeom prst="line">
            <a:avLst/>
          </a:prstGeom>
          <a:ln w="762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57200" y="5989320"/>
            <a:ext cx="11430000" cy="36576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0080" y="6016752"/>
            <a:ext cx="10972800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E0B04A"/>
                </a:solidFill>
                <a:latin typeface="Calibri"/>
                <a:ea typeface="Microsoft YaHei"/>
              </a:rPr>
              <a:t>选 B：中等复杂度 + 经典教学例子，比 A 多反转信号，比 C 少额外概念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Calibri"/>
                <a:ea typeface="Microsoft YaHei"/>
              </a:rPr>
              <a:t>OpenSpec 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04 . design.md 关键决策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65A82"/>
                </a:solidFill>
                <a:latin typeface="Calibri"/>
                <a:ea typeface="Microsoft YaHei"/>
              </a:rPr>
              <a:t>两层防御 lookahead — 代码骨架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920240"/>
            <a:ext cx="11430000" cy="3657600"/>
          </a:xfrm>
          <a:prstGeom prst="roundRect">
            <a:avLst>
              <a:gd name="adj" fmla="val 5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08E9E"/>
                </a:solidFill>
                <a:latin typeface="Consolas"/>
                <a:ea typeface="Consolas"/>
              </a:rPr>
              <a:t>design.md — 状态保持骨架（5 行 Python 防 lookahead 双层）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2395728"/>
            <a:ext cx="10972800" cy="0"/>
          </a:xfrm>
          <a:prstGeom prst="line">
            <a:avLst/>
          </a:prstGeom>
          <a:ln w="7620">
            <a:solidFill>
              <a:srgbClr val="55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514600"/>
            <a:ext cx="10972800" cy="2926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F6F7F9"/>
                </a:solidFill>
                <a:latin typeface="Consolas"/>
                <a:ea typeface="Consolas"/>
              </a:rPr>
              <a:t>cross_up = (ma_s &gt; ma_l) &amp; (ma_s_prev &lt;= ma_l_prev)
cross_dn = (ma_s &lt; ma_l) &amp; (ma_s_prev &gt;= ma_l_prev)
sig = pd.Series(np.nan, index=df.index)
sig[cross_up] = 1
sig[cross_dn] = 0
sig = sig.ffill().fillna(0)  # 持仓维持 + 起始空仓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69280"/>
            <a:ext cx="5486400" cy="68580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 w="95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5800" y="5733288"/>
            <a:ext cx="5212080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7293"/>
                </a:solidFill>
                <a:latin typeface="Calibri"/>
                <a:ea typeface="Microsoft YaHei"/>
              </a:rPr>
              <a:t>第一层  </a:t>
            </a:r>
            <a:r>
              <a:rPr sz="1100" b="0" i="0">
                <a:solidFill>
                  <a:srgbClr val="E2E8EE"/>
                </a:solidFill>
                <a:latin typeface="Calibri"/>
                <a:ea typeface="Microsoft YaHei"/>
              </a:rPr>
              <a:t>策略层：df["close"].shift(1).rolling(N).mean() — 均线只用昨日及更早数据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5669280"/>
            <a:ext cx="5486400" cy="68580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 w="95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46520" y="5733288"/>
            <a:ext cx="5212080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7293"/>
                </a:solidFill>
                <a:latin typeface="Calibri"/>
                <a:ea typeface="Microsoft YaHei"/>
              </a:rPr>
              <a:t>第二层  </a:t>
            </a:r>
            <a:r>
              <a:rPr sz="1100" b="0" i="0">
                <a:solidFill>
                  <a:srgbClr val="E2E8EE"/>
                </a:solidFill>
                <a:latin typeface="Calibri"/>
                <a:ea typeface="Microsoft YaHei"/>
              </a:rPr>
              <a:t>backtest 层：pos = sig.shift(1) — 今天信号用于明天仓位，不读今天收盘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Calibri"/>
                <a:ea typeface="Microsoft YaHei"/>
              </a:rPr>
              <a:t>OpenSpec 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04 . tasks.md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65A82"/>
                </a:solidFill>
                <a:latin typeface="Calibri"/>
                <a:ea typeface="Microsoft YaHei"/>
              </a:rPr>
              <a:t>6 项原子任务——动作动词开头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920240"/>
            <a:ext cx="11430000" cy="4114800"/>
          </a:xfrm>
          <a:prstGeom prst="roundRect">
            <a:avLst>
              <a:gd name="adj" fmla="val 5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08E9E"/>
                </a:solidFill>
                <a:latin typeface="Consolas"/>
                <a:ea typeface="Consolas"/>
              </a:rPr>
              <a:t>openspec/changes/add-dual-ma-strategy/tasks.md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2395728"/>
            <a:ext cx="10972800" cy="0"/>
          </a:xfrm>
          <a:prstGeom prst="line">
            <a:avLst/>
          </a:prstGeom>
          <a:ln w="7620">
            <a:solidFill>
              <a:srgbClr val="55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514600"/>
            <a:ext cx="109728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3F7A55"/>
                </a:solidFill>
                <a:latin typeface="Consolas"/>
                <a:ea typeface="Consolas"/>
              </a:rPr>
              <a:t>[x] 1. </a:t>
            </a:r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</a:rPr>
              <a:t>在 </a:t>
            </a:r>
            <a:r>
              <a:rPr sz="1300" b="1" i="0">
                <a:solidFill>
                  <a:srgbClr val="E0B04A"/>
                </a:solidFill>
                <a:latin typeface="Consolas"/>
                <a:ea typeface="Consolas"/>
              </a:rPr>
              <a:t>lesson5/project/strategies/__init__.py</a:t>
            </a:r>
            <a:r>
              <a:rPr sz="1300" b="0" i="0">
                <a:solidFill>
                  <a:srgbClr val="E2E8EE"/>
                </a:solidFill>
                <a:latin typeface="Calibri"/>
                <a:ea typeface="Microsoft YaHei"/>
              </a:rPr>
              <a:t> 导出 dual_ma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44952"/>
            <a:ext cx="109728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3F7A55"/>
                </a:solidFill>
                <a:latin typeface="Consolas"/>
                <a:ea typeface="Consolas"/>
              </a:rPr>
              <a:t>[x] 2. </a:t>
            </a:r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</a:rPr>
              <a:t>写 </a:t>
            </a:r>
            <a:r>
              <a:rPr sz="1300" b="1" i="0">
                <a:solidFill>
                  <a:srgbClr val="E0B04A"/>
                </a:solidFill>
                <a:latin typeface="Consolas"/>
                <a:ea typeface="Consolas"/>
              </a:rPr>
              <a:t>lesson5/project/strategies/dual_ma.py</a:t>
            </a:r>
            <a:r>
              <a:rPr sz="1300" b="0" i="0">
                <a:solidFill>
                  <a:srgbClr val="E2E8EE"/>
                </a:solidFill>
                <a:latin typeface="Calibri"/>
                <a:ea typeface="Microsoft YaHei"/>
              </a:rPr>
              <a:t>：函数签名、design 骨架、中文注释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75304"/>
            <a:ext cx="109728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3F7A55"/>
                </a:solidFill>
                <a:latin typeface="Consolas"/>
                <a:ea typeface="Consolas"/>
              </a:rPr>
              <a:t>[x] 3. </a:t>
            </a:r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</a:rPr>
              <a:t>跑自测：</a:t>
            </a:r>
            <a:r>
              <a:rPr sz="1300" b="1" i="0">
                <a:solidFill>
                  <a:srgbClr val="E0B04A"/>
                </a:solidFill>
                <a:latin typeface="Consolas"/>
                <a:ea typeface="Consolas"/>
              </a:rPr>
              <a:t>python strategies/dual_ma.py</a:t>
            </a:r>
            <a:r>
              <a:rPr sz="1300" b="0" i="0">
                <a:solidFill>
                  <a:srgbClr val="E2E8EE"/>
                </a:solidFill>
                <a:latin typeface="Calibri"/>
                <a:ea typeface="Microsoft YaHei"/>
              </a:rPr>
              <a:t> 无 traceback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05656"/>
            <a:ext cx="109728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3F7A55"/>
                </a:solidFill>
                <a:latin typeface="Consolas"/>
                <a:ea typeface="Consolas"/>
              </a:rPr>
              <a:t>[x] 4. </a:t>
            </a:r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</a:rPr>
              <a:t>把 specs.md 接口段合并到 </a:t>
            </a:r>
            <a:r>
              <a:rPr sz="1300" b="1" i="0">
                <a:solidFill>
                  <a:srgbClr val="E0B04A"/>
                </a:solidFill>
                <a:latin typeface="Consolas"/>
                <a:ea typeface="Consolas"/>
              </a:rPr>
              <a:t>lesson5/project/openspec/specs/strategies.md</a:t>
            </a:r>
            <a:r>
              <a:rPr sz="1300" b="0" i="0">
                <a:solidFill>
                  <a:srgbClr val="E2E8EE"/>
                </a:solidFill>
                <a:latin typeface="Calibri"/>
                <a:ea typeface="Microsoft Ya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36008"/>
            <a:ext cx="109728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3F7A55"/>
                </a:solidFill>
                <a:latin typeface="Consolas"/>
                <a:ea typeface="Consolas"/>
              </a:rPr>
              <a:t>[x] 5. </a:t>
            </a:r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</a:rPr>
              <a:t>写 </a:t>
            </a:r>
            <a:r>
              <a:rPr sz="1300" b="1" i="0">
                <a:solidFill>
                  <a:srgbClr val="E0B04A"/>
                </a:solidFill>
                <a:latin typeface="Consolas"/>
                <a:ea typeface="Consolas"/>
              </a:rPr>
              <a:t>IMPLEMENTATION.md</a:t>
            </a:r>
            <a:r>
              <a:rPr sz="1300" b="0" i="0">
                <a:solidFill>
                  <a:srgbClr val="E2E8EE"/>
                </a:solidFill>
                <a:latin typeface="Calibri"/>
                <a:ea typeface="Microsoft YaHei"/>
              </a:rPr>
              <a:t>，记录实施日期、数字、与 design 偏差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66360"/>
            <a:ext cx="109728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3F7A55"/>
                </a:solidFill>
                <a:latin typeface="Consolas"/>
                <a:ea typeface="Consolas"/>
              </a:rPr>
              <a:t>[x] 6. </a:t>
            </a:r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</a:rPr>
              <a:t>提交 </a:t>
            </a:r>
            <a:r>
              <a:rPr sz="1300" b="1" i="0">
                <a:solidFill>
                  <a:srgbClr val="E0B04A"/>
                </a:solidFill>
                <a:latin typeface="Consolas"/>
                <a:ea typeface="Consolas"/>
              </a:rPr>
              <a:t>commit</a:t>
            </a:r>
            <a:r>
              <a:rPr sz="1300" b="0" i="0">
                <a:solidFill>
                  <a:srgbClr val="E2E8EE"/>
                </a:solidFill>
                <a:latin typeface="Calibri"/>
                <a:ea typeface="Microsoft YaHei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89320"/>
            <a:ext cx="11430000" cy="36576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" y="6016752"/>
            <a:ext cx="10972800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0B04A"/>
                </a:solidFill>
                <a:latin typeface="Calibri"/>
                <a:ea typeface="Microsoft YaHei"/>
              </a:rPr>
              <a:t>每条 task = 一个动作动词 + 一个目标 + 可验证结果  AI 完成后可勾选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Calibri"/>
                <a:ea typeface="Microsoft YaHei"/>
              </a:rPr>
              <a:t>OpenSpec 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04 . dual_ma.py 关键代码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65A82"/>
                </a:solidFill>
                <a:latin typeface="Calibri"/>
                <a:ea typeface="Microsoft YaHei"/>
              </a:rPr>
              <a:t>10 行核心逻辑——严格按 specs.md 约定实现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920240"/>
            <a:ext cx="11430000" cy="4389120"/>
          </a:xfrm>
          <a:prstGeom prst="roundRect">
            <a:avLst>
              <a:gd name="adj" fmla="val 5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08E9E"/>
                </a:solidFill>
                <a:latin typeface="Consolas"/>
                <a:ea typeface="Consolas"/>
              </a:rPr>
              <a:t>lesson5/project/strategies/dual_ma.py  (核心片段 10 行)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2395728"/>
            <a:ext cx="10972800" cy="0"/>
          </a:xfrm>
          <a:prstGeom prst="line">
            <a:avLst/>
          </a:prstGeom>
          <a:ln w="7620">
            <a:solidFill>
              <a:srgbClr val="55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514600"/>
            <a:ext cx="10972800" cy="3657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6F7F9"/>
                </a:solidFill>
                <a:latin typeface="Consolas"/>
                <a:ea typeface="Consolas"/>
              </a:rPr>
              <a:t>ma_short = df["close"].shift(1).rolling(short_window).mean()
ma_long  = df["close"].shift(1).rolling(long_window).mean()
ma_short_prev = ma_short.shift(1)
ma_long_prev  = ma_long.shift(1)
cross_up = (ma_short &gt; ma_long) &amp; (ma_short_prev &lt;= ma_long_prev)
cross_dn = (ma_short &lt; ma_long) &amp; (ma_short_prev &gt;= ma_long_prev)
sig = pd.Series(np.nan, index=df.index)
sig[cross_up] = 1.0
sig[cross_dn] = 0.0
sig = sig.ffill().fillna(0).astype(int)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6035040"/>
            <a:ext cx="11430000" cy="347472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6062472"/>
            <a:ext cx="10972800" cy="31089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7293"/>
                </a:solidFill>
                <a:latin typeface="Calibri"/>
                <a:ea typeface="Microsoft YaHei"/>
              </a:rPr>
              <a:t>shift(1) 两次：策略层（均线计算）+ backtest 层（仓位延迟）= 两层防 lookahead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Calibri"/>
                <a:ea typeface="Microsoft YaHei"/>
              </a:rPr>
              <a:t>OpenSpec 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04 . 自测输出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65A82"/>
                </a:solidFill>
                <a:latin typeface="Calibri"/>
                <a:ea typeface="Microsoft YaHei"/>
              </a:rPr>
              <a:t>90 日 BTCUSDT 1d — 真实数字（2026-05-05）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874519"/>
            <a:ext cx="11430000" cy="77724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 w="95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938528"/>
            <a:ext cx="1097280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Consolas"/>
                <a:ea typeface="Consolas"/>
              </a:rPr>
              <a:t>执行命令（lesson5/project/ 目录下）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10972800" cy="34747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6F7F9"/>
                </a:solidFill>
                <a:latin typeface="Consolas"/>
                <a:ea typeface="Consolas"/>
              </a:rPr>
              <a:t>python -c "from strategies import dual_ma; from backtest import run_backtest; print(run_backtest(dual_ma, limit=90)['summary'])"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43200"/>
            <a:ext cx="11430000" cy="960120"/>
          </a:xfrm>
          <a:prstGeom prst="roundRect">
            <a:avLst>
              <a:gd name="adj" fmla="val 5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2816352"/>
            <a:ext cx="109728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08E9E"/>
                </a:solidFill>
                <a:latin typeface="Consolas"/>
                <a:ea typeface="Consolas"/>
              </a:rPr>
              <a:t>输出：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27248"/>
            <a:ext cx="109728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808E9E"/>
                </a:solidFill>
                <a:latin typeface="Consolas"/>
                <a:ea typeface="Consolas"/>
              </a:rPr>
              <a:t>sharpe=</a:t>
            </a:r>
            <a:r>
              <a:rPr sz="1400" b="1" i="0">
                <a:solidFill>
                  <a:srgbClr val="E0B04A"/>
                </a:solidFill>
                <a:latin typeface="Consolas"/>
                <a:ea typeface="Consolas"/>
              </a:rPr>
              <a:t>1.1563</a:t>
            </a:r>
            <a:r>
              <a:rPr sz="1400" b="0" i="0">
                <a:solidFill>
                  <a:srgbClr val="808E9E"/>
                </a:solidFill>
                <a:latin typeface="Consolas"/>
                <a:ea typeface="Consolas"/>
              </a:rPr>
              <a:t>  max_dd=</a:t>
            </a:r>
            <a:r>
              <a:rPr sz="1400" b="1" i="0">
                <a:solidFill>
                  <a:srgbClr val="C04A3E"/>
                </a:solidFill>
                <a:latin typeface="Consolas"/>
                <a:ea typeface="Consolas"/>
              </a:rPr>
              <a:t>-0.0938</a:t>
            </a:r>
            <a:r>
              <a:rPr sz="1400" b="0" i="0">
                <a:solidFill>
                  <a:srgbClr val="808E9E"/>
                </a:solidFill>
                <a:latin typeface="Consolas"/>
                <a:ea typeface="Consolas"/>
              </a:rPr>
              <a:t>  win_rate=</a:t>
            </a:r>
            <a:r>
              <a:rPr sz="1400" b="1" i="0">
                <a:solidFill>
                  <a:srgbClr val="3F7A55"/>
                </a:solidFill>
                <a:latin typeface="Consolas"/>
                <a:ea typeface="Consolas"/>
              </a:rPr>
              <a:t>0.5870</a:t>
            </a:r>
            <a:r>
              <a:rPr sz="1400" b="0" i="0">
                <a:solidFill>
                  <a:srgbClr val="808E9E"/>
                </a:solidFill>
                <a:latin typeface="Consolas"/>
                <a:ea typeface="Consolas"/>
              </a:rPr>
              <a:t>  cum=</a:t>
            </a:r>
            <a:r>
              <a:rPr sz="1400" b="1" i="0">
                <a:solidFill>
                  <a:srgbClr val="1C7293"/>
                </a:solidFill>
                <a:latin typeface="Consolas"/>
                <a:ea typeface="Consolas"/>
              </a:rPr>
              <a:t>0.0911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4760"/>
            <a:ext cx="11430000" cy="1874519"/>
          </a:xfrm>
          <a:prstGeom prst="roundRect">
            <a:avLst>
              <a:gd name="adj" fmla="val 5000"/>
            </a:avLst>
          </a:prstGeom>
          <a:solidFill>
            <a:srgbClr val="E2E8EE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3886200"/>
            <a:ext cx="109728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65A82"/>
                </a:solidFill>
                <a:latin typeface="Calibri"/>
                <a:ea typeface="Microsoft YaHei"/>
              </a:rPr>
              <a:t>中文总结（run_backtest 生成）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24528"/>
            <a:ext cx="10972800" cy="1325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BTCUSDT 在最近 90 根 K 线上的回测结果：累计上涨 9.11%，年化夏普 1.16，最大回撤 -9.38%，信号触发日胜率 58.70%。夏普 &gt; 1 说明风险调整后收益尚可，配合曲线图可看到回撤分布，建议结合更长历史数据复跑确认稳健性。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89320"/>
            <a:ext cx="11430000" cy="36576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" y="6016752"/>
            <a:ext cx="10972800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E0B04A"/>
                </a:solidFill>
                <a:latin typeface="Calibri"/>
                <a:ea typeface="Microsoft YaHei"/>
              </a:rPr>
              <a:t>spec 写了防 lookahead -&gt; 数字可信；spec 写了兼容 run_backtest -&gt; 0 行胶水代码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Calibri"/>
                <a:ea typeface="Microsoft YaHei"/>
              </a:rPr>
              <a:t>OpenSpec 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04 . specs.md 合并更新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65A82"/>
                </a:solidFill>
                <a:latin typeface="Calibri"/>
                <a:ea typeface="Microsoft YaHei"/>
              </a:rPr>
              <a:t>从「暂无」到「已实现 dual_ma」— Before / After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192024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5394960" cy="5486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5394960" cy="5486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Before  (specs/strategies.md)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560320"/>
            <a:ext cx="5074920" cy="1417320"/>
          </a:xfrm>
          <a:prstGeom prst="roundRect">
            <a:avLst>
              <a:gd name="adj" fmla="val 4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2670048"/>
            <a:ext cx="4846320" cy="11887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2E8EE"/>
                </a:solidFill>
                <a:latin typeface="Consolas"/>
                <a:ea typeface="Consolas"/>
              </a:rPr>
              <a:t>## 策略接口
暂无已正式 spec 的策略。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5029200" cy="1417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556E82"/>
                </a:solidFill>
                <a:latin typeface="Calibri"/>
                <a:ea typeface="Microsoft YaHei"/>
              </a:rPr>
              <a:t>策略目录里已有 buy_and_hold 和 ma_crossover_7，
但没有正式接口约定——任何人都可以随意修改
返回值格式，没有依据。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920240"/>
            <a:ext cx="55778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17920" y="1920240"/>
            <a:ext cx="5577840" cy="5486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17920" y="1920240"/>
            <a:ext cx="5577840" cy="5486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After  (specs/strategies.md)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560320"/>
            <a:ext cx="5303520" cy="2971800"/>
          </a:xfrm>
          <a:prstGeom prst="roundRect">
            <a:avLst>
              <a:gd name="adj" fmla="val 4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92240" y="2670048"/>
            <a:ext cx="5074920" cy="2743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6F7F9"/>
                </a:solidFill>
                <a:latin typeface="Consolas"/>
                <a:ea typeface="Consolas"/>
              </a:rPr>
              <a:t>## 已实现策略
### dual_ma
dual_ma(df, short=7, long=14)
  -&gt; pd.Series  # 值: {0, 1}
金叉 +1 / 死叉 0 / 维持昨日
防 lookahead: shift(1).rolling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89320"/>
            <a:ext cx="11430000" cy="36576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0080" y="6016752"/>
            <a:ext cx="10972800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E2E8EE"/>
                </a:solidFill>
                <a:latin typeface="Calibri"/>
                <a:ea typeface="Microsoft YaHei"/>
              </a:rPr>
              <a:t>specs.md 是活文档——每次 implement 结束都要回来补充，让它成为可查的合同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1828800"/>
            <a:ext cx="146304" cy="32004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966960" y="1965960"/>
            <a:ext cx="146304" cy="29260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32720" y="2103120"/>
            <a:ext cx="146304" cy="2651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0698480" y="2240280"/>
            <a:ext cx="146304" cy="23774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1064240" y="2377440"/>
            <a:ext cx="146304" cy="21031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1430000" y="2514600"/>
            <a:ext cx="146304" cy="18288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005840"/>
            <a:ext cx="36576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0B04A"/>
                </a:solidFill>
                <a:latin typeface="Calibri"/>
                <a:ea typeface="Microsoft YaHei"/>
              </a:rPr>
              <a:t>关键认知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1389888"/>
            <a:ext cx="1463040" cy="0"/>
          </a:xfrm>
          <a:prstGeom prst="line">
            <a:avLst/>
          </a:prstGeom>
          <a:ln w="19050">
            <a:solidFill>
              <a:srgbClr val="E0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1828800"/>
            <a:ext cx="86868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E0B04A"/>
                </a:solidFill>
                <a:latin typeface="Consolas"/>
                <a:ea typeface="Consolas"/>
              </a:rPr>
              <a:t>spec</a:t>
            </a:r>
            <a:r>
              <a:rPr sz="3600" b="1" i="0">
                <a:solidFill>
                  <a:srgbClr val="FFFFFF"/>
                </a:solidFill>
                <a:latin typeface="Calibri"/>
                <a:ea typeface="Microsoft YaHei"/>
              </a:rPr>
              <a:t>  = 合同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868680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2E8EE"/>
                </a:solidFill>
                <a:latin typeface="Calibri"/>
                <a:ea typeface="Microsoft YaHei"/>
              </a:rPr>
              <a:t>AI 与你之间的书面约定，可以验证、可以审计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86868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E0B04A"/>
                </a:solidFill>
                <a:latin typeface="Consolas"/>
                <a:ea typeface="Consolas"/>
              </a:rPr>
              <a:t>rules</a:t>
            </a:r>
            <a:r>
              <a:rPr sz="3600" b="1" i="0">
                <a:solidFill>
                  <a:srgbClr val="FFFFFF"/>
                </a:solidFill>
                <a:latin typeface="Calibri"/>
                <a:ea typeface="Microsoft YaHei"/>
              </a:rPr>
              <a:t>  = 底线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868680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2E8EE"/>
                </a:solidFill>
                <a:latin typeface="Calibri"/>
                <a:ea typeface="Microsoft YaHei"/>
              </a:rPr>
              <a:t>不管做什么 feature，这些约定永远成立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63440"/>
            <a:ext cx="86868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E0B04A"/>
                </a:solidFill>
                <a:latin typeface="Consolas"/>
                <a:ea typeface="Consolas"/>
              </a:rPr>
              <a:t>guidelines</a:t>
            </a:r>
            <a:r>
              <a:rPr sz="3600" b="1" i="0">
                <a:solidFill>
                  <a:srgbClr val="FFFFFF"/>
                </a:solidFill>
                <a:latin typeface="Calibri"/>
                <a:ea typeface="Microsoft YaHei"/>
              </a:rPr>
              <a:t>  = 味道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868680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2E8EE"/>
                </a:solidFill>
                <a:latin typeface="Calibri"/>
                <a:ea typeface="Microsoft YaHei"/>
              </a:rPr>
              <a:t>默认风格，AI 遵循，你可以用 prompt 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2E8E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Calibri"/>
                <a:ea typeface="Microsoft YaHei"/>
              </a:rPr>
              <a:t>反模式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04 . 三个常见反模式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65A82"/>
                </a:solidFill>
                <a:latin typeface="Calibri"/>
                <a:ea typeface="Microsoft YaHei"/>
              </a:rPr>
              <a:t>这三件事会让 OpenSpec 失效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01168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0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3566160" cy="59436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3566160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Bahnschrift"/>
                <a:ea typeface="Microsoft YaHei"/>
              </a:rPr>
              <a:t>AP1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3200400" cy="594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04A3E"/>
                </a:solidFill>
                <a:latin typeface="Calibri"/>
                <a:ea typeface="Microsoft YaHei"/>
              </a:rPr>
              <a:t>200 行 spec 流水账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3383280"/>
            <a:ext cx="3200400" cy="0"/>
          </a:xfrm>
          <a:prstGeom prst="line">
            <a:avLst/>
          </a:prstGeom>
          <a:ln w="1016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3474720"/>
            <a:ext cx="3200400" cy="2743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把每行代码的意图都写进 specs.md，
变成实现文档。
改：specs 只写接口约定（函数签名、
输入输出、边界条件），实现细节
留给 design.md 和代码注释。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201168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0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297679" y="2011680"/>
            <a:ext cx="3566160" cy="59436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297679" y="2011680"/>
            <a:ext cx="3566160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Bahnschrift"/>
                <a:ea typeface="Microsoft YaHei"/>
              </a:rPr>
              <a:t>AP2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743200"/>
            <a:ext cx="3200400" cy="594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04A3E"/>
                </a:solidFill>
                <a:latin typeface="Calibri"/>
                <a:ea typeface="Microsoft YaHei"/>
              </a:rPr>
              <a:t>写了 specs/ 但不维护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80559" y="3383280"/>
            <a:ext cx="3200401" cy="0"/>
          </a:xfrm>
          <a:prstGeom prst="line">
            <a:avLst/>
          </a:prstGeom>
          <a:ln w="1016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480559" y="3474720"/>
            <a:ext cx="3200400" cy="2743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实现完成后 specs.md 不更新，
导致文档与代码不一致。
改：每次 implement 任务完成后，
回来更新 specs/strategies.md，
把「暂无」改为已验证接口。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201168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0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046719" y="2011680"/>
            <a:ext cx="3566160" cy="59436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046719" y="2011680"/>
            <a:ext cx="3566160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Bahnschrift"/>
                <a:ea typeface="Microsoft YaHei"/>
              </a:rPr>
              <a:t>AP3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2743200"/>
            <a:ext cx="3200400" cy="594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04A3E"/>
                </a:solidFill>
                <a:latin typeface="Calibri"/>
                <a:ea typeface="Microsoft YaHei"/>
              </a:rPr>
              <a:t>把 spec 当事后审计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599" y="3383280"/>
            <a:ext cx="3200401" cy="0"/>
          </a:xfrm>
          <a:prstGeom prst="line">
            <a:avLst/>
          </a:prstGeom>
          <a:ln w="1016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599" y="3474720"/>
            <a:ext cx="3200400" cy="2743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feature 做完再补 specs.md，
失去「约定在先」的价值。
改：spec 先写，implement 后做；
顺序是：proposal -&gt; specs -&gt;
design -&gt; tasks -&gt; implement。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4114800" cy="3657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1" i="0">
                <a:solidFill>
                  <a:srgbClr val="1C7293"/>
                </a:solidFill>
                <a:latin typeface="Bahnschrift"/>
                <a:ea typeface="Microsoft YaHei"/>
              </a:rPr>
              <a:t>05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0" y="2286000"/>
            <a:ext cx="0" cy="274320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94960" y="2468880"/>
            <a:ext cx="658368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</a:rPr>
              <a:t>作业 + 收束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11880"/>
            <a:ext cx="658368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1">
                <a:solidFill>
                  <a:srgbClr val="E2E8EE"/>
                </a:solidFill>
                <a:latin typeface="Calibri"/>
                <a:ea typeface="Microsoft YaHei"/>
              </a:rPr>
              <a:t>30 分钟，写 5 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2E8E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Calibri"/>
                <a:ea typeface="Microsoft YaHei"/>
              </a:rPr>
              <a:t>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05 . 作业概览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65A82"/>
                </a:solidFill>
                <a:latin typeface="Calibri"/>
                <a:ea typeface="Microsoft YaHei"/>
              </a:rPr>
              <a:t>5 候选方向 + 4 条评分维度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2103120"/>
            <a:ext cx="2176272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2176272" cy="5943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2176272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Bahnschrift"/>
                <a:ea typeface="Microsoft YaHe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16352"/>
            <a:ext cx="1901952" cy="47548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Calibri"/>
                <a:ea typeface="Microsoft YaHei"/>
              </a:rPr>
              <a:t>RSI 策略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" y="3346704"/>
            <a:ext cx="1901952" cy="0"/>
          </a:xfrm>
          <a:prstGeom prst="line">
            <a:avLst/>
          </a:prstGeom>
          <a:ln w="762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3438144"/>
            <a:ext cx="1901952" cy="1737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提案：RSI &lt; 30 买入
RSI &gt; 70 卖出
走完 5 段，含防
lookahead 约定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103120"/>
            <a:ext cx="2176272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743200" y="2103120"/>
            <a:ext cx="2176272" cy="5943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743200" y="2103120"/>
            <a:ext cx="2176272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Bahnschrift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816352"/>
            <a:ext cx="1901952" cy="47548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Calibri"/>
                <a:ea typeface="Microsoft YaHei"/>
              </a:rPr>
              <a:t>止损规则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80360" y="3346704"/>
            <a:ext cx="1901952" cy="0"/>
          </a:xfrm>
          <a:prstGeom prst="line">
            <a:avLst/>
          </a:prstGeom>
          <a:ln w="762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80360" y="3438144"/>
            <a:ext cx="1901952" cy="1737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提案：日内亏损超 2%
强制平仓
设计状态保持骨架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2103120"/>
            <a:ext cx="2176272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029200" y="2103120"/>
            <a:ext cx="2176272" cy="5943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29200" y="2103120"/>
            <a:ext cx="2176272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Bahnschrift"/>
                <a:ea typeface="Microsoft YaHei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816352"/>
            <a:ext cx="1901952" cy="47548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Calibri"/>
                <a:ea typeface="Microsoft YaHei"/>
              </a:rPr>
              <a:t>多品种对比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66360" y="3346704"/>
            <a:ext cx="1901952" cy="0"/>
          </a:xfrm>
          <a:prstGeom prst="line">
            <a:avLst/>
          </a:prstGeom>
          <a:ln w="762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66360" y="3438144"/>
            <a:ext cx="1901952" cy="1737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提案：同一策略跑
BTC + ETH
设计多资产接口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2103120"/>
            <a:ext cx="2176272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315200" y="2103120"/>
            <a:ext cx="2176272" cy="5943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315200" y="2103120"/>
            <a:ext cx="2176272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Bahnschrift"/>
                <a:ea typeface="Microsoft YaHei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2816352"/>
            <a:ext cx="1901952" cy="47548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Calibri"/>
                <a:ea typeface="Microsoft YaHei"/>
              </a:rPr>
              <a:t>自选策略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346704"/>
            <a:ext cx="1901951" cy="0"/>
          </a:xfrm>
          <a:prstGeom prst="line">
            <a:avLst/>
          </a:prstGeom>
          <a:ln w="762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452360" y="3438144"/>
            <a:ext cx="1901952" cy="1737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提案你熟悉的量化
信号
写出可验证的
specs.md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0" y="2103120"/>
            <a:ext cx="2176272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9601200" y="2103120"/>
            <a:ext cx="2176272" cy="5943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601200" y="2103120"/>
            <a:ext cx="2176272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Bahnschrift"/>
                <a:ea typeface="Microsoft YaHei"/>
              </a:rPr>
              <a:t>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2816352"/>
            <a:ext cx="1901952" cy="47548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Calibri"/>
                <a:ea typeface="Microsoft YaHei"/>
              </a:rPr>
              <a:t>非量化场景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738360" y="3346704"/>
            <a:ext cx="1901951" cy="0"/>
          </a:xfrm>
          <a:prstGeom prst="line">
            <a:avLst/>
          </a:prstGeom>
          <a:ln w="762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738360" y="3438144"/>
            <a:ext cx="1901952" cy="1737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提案代码审查 /
日志分析等 feature
OpenSpec 5 段全走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504688"/>
            <a:ext cx="11430000" cy="45720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" y="5559552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0B04A"/>
                </a:solidFill>
                <a:latin typeface="Calibri"/>
                <a:ea typeface="Microsoft YaHei"/>
              </a:rPr>
              <a:t>评分：</a:t>
            </a:r>
            <a:r>
              <a:rPr sz="1200" b="0" i="0">
                <a:solidFill>
                  <a:srgbClr val="E2E8EE"/>
                </a:solidFill>
                <a:latin typeface="Calibri"/>
                <a:ea typeface="Microsoft YaHei"/>
              </a:rPr>
              <a:t>1 specs 可验证  </a:t>
            </a:r>
            <a:r>
              <a:rPr sz="1200" b="0" i="0">
                <a:solidFill>
                  <a:srgbClr val="E2E8EE"/>
                </a:solidFill>
                <a:latin typeface="Calibri"/>
                <a:ea typeface="Microsoft YaHei"/>
              </a:rPr>
              <a:t>2 防 lookahead 明确  </a:t>
            </a:r>
            <a:r>
              <a:rPr sz="1200" b="0" i="0">
                <a:solidFill>
                  <a:srgbClr val="E2E8EE"/>
                </a:solidFill>
                <a:latin typeface="Calibri"/>
                <a:ea typeface="Microsoft YaHei"/>
              </a:rPr>
              <a:t>3 tasks 原子化  </a:t>
            </a:r>
            <a:r>
              <a:rPr sz="1200" b="0" i="0">
                <a:solidFill>
                  <a:srgbClr val="E2E8EE"/>
                </a:solidFill>
                <a:latin typeface="Calibri"/>
                <a:ea typeface="Microsoft YaHei"/>
              </a:rPr>
              <a:t>4 specs.md 与代码对齐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Calibri"/>
                <a:ea typeface="Microsoft YaHei"/>
              </a:rPr>
              <a:t>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05 . 作业提交清单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65A82"/>
                </a:solidFill>
                <a:latin typeface="Calibri"/>
                <a:ea typeface="Microsoft YaHei"/>
              </a:rPr>
              <a:t>4-5 个 markdown + 3 句话回顾 + 加分项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2011680"/>
            <a:ext cx="5303520" cy="3840480"/>
          </a:xfrm>
          <a:prstGeom prst="roundRect">
            <a:avLst>
              <a:gd name="adj" fmla="val 6000"/>
            </a:avLst>
          </a:prstGeom>
          <a:solidFill>
            <a:srgbClr val="E2E8EE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9377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Calibri"/>
                <a:ea typeface="Microsoft YaHei"/>
              </a:rPr>
              <a:t>必交（4-5 个 markdown）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2514600"/>
            <a:ext cx="4937760" cy="0"/>
          </a:xfrm>
          <a:prstGeom prst="line">
            <a:avLst/>
          </a:prstGeom>
          <a:ln w="1016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2651760"/>
            <a:ext cx="50292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7293"/>
                </a:solidFill>
                <a:latin typeface="Consolas"/>
                <a:ea typeface="Consolas"/>
              </a:rPr>
              <a:t>proposal.md  </a:t>
            </a: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feature 动机 + 描述（5-10 行）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50292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7293"/>
                </a:solidFill>
                <a:latin typeface="Consolas"/>
                <a:ea typeface="Consolas"/>
              </a:rPr>
              <a:t>specs.md  </a:t>
            </a: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函数签名 + 行为规则表（可验证）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85615"/>
            <a:ext cx="50292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7293"/>
                </a:solidFill>
                <a:latin typeface="Consolas"/>
                <a:ea typeface="Consolas"/>
              </a:rPr>
              <a:t>design.md  </a:t>
            </a: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至少 2 个备选方案 + 选择理由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52544"/>
            <a:ext cx="50292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7293"/>
                </a:solidFill>
                <a:latin typeface="Consolas"/>
                <a:ea typeface="Consolas"/>
              </a:rPr>
              <a:t>tasks.md  </a:t>
            </a: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6 条原子任务（动作动词开头）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19472"/>
            <a:ext cx="50292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7293"/>
                </a:solidFill>
                <a:latin typeface="Consolas"/>
                <a:ea typeface="Consolas"/>
              </a:rPr>
              <a:t>（可选）代码  </a:t>
            </a: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实现你选的策略或 feature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011680"/>
            <a:ext cx="585216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7920" y="2103120"/>
            <a:ext cx="53949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Calibri"/>
                <a:ea typeface="Microsoft YaHei"/>
              </a:rPr>
              <a:t>3 句话回顾 + 加分项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7920" y="2514600"/>
            <a:ext cx="5486400" cy="0"/>
          </a:xfrm>
          <a:prstGeom prst="line">
            <a:avLst/>
          </a:prstGeom>
          <a:ln w="1016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26480" y="2651760"/>
            <a:ext cx="502920" cy="41148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26480" y="2651760"/>
            <a:ext cx="50292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  <a:ea typeface="Microsoft YaHei"/>
              </a:rPr>
              <a:t>句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2688336"/>
            <a:ext cx="51206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这个 feature 的动机是什么？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246120"/>
            <a:ext cx="502920" cy="41148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126480" y="3246120"/>
            <a:ext cx="50292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  <a:ea typeface="Microsoft YaHei"/>
              </a:rPr>
              <a:t>句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3282696"/>
            <a:ext cx="51206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specs 里最难写的是哪条规则？为什么？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840480"/>
            <a:ext cx="502920" cy="41148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126480" y="3840480"/>
            <a:ext cx="50292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  <a:ea typeface="Microsoft YaHei"/>
              </a:rPr>
              <a:t>句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3877056"/>
            <a:ext cx="51206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如果重来，你会在哪段多花时间？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17920" y="4480560"/>
            <a:ext cx="5486400" cy="0"/>
          </a:xfrm>
          <a:prstGeom prst="line">
            <a:avLst/>
          </a:prstGeom>
          <a:ln w="762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17920" y="4572000"/>
            <a:ext cx="530352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0B04A"/>
                </a:solidFill>
                <a:latin typeface="Calibri"/>
                <a:ea typeface="Microsoft YaHei"/>
              </a:rPr>
              <a:t>加分项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4873752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 w="9525">
            <a:solidFill>
              <a:srgbClr val="E0B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309360" y="4956048"/>
            <a:ext cx="5120640" cy="594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2E8EE"/>
                </a:solidFill>
                <a:latin typeface="Calibri"/>
                <a:ea typeface="Microsoft YaHei"/>
              </a:rPr>
              <a:t>提交 IMPLEMENTATION.md：记录实施日期、
真实回测数字、与 design 的偏差说明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52160"/>
            <a:ext cx="11430000" cy="4572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0080" y="5897880"/>
            <a:ext cx="1097280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0B04A"/>
                </a:solidFill>
                <a:latin typeface="Calibri"/>
                <a:ea typeface="Microsoft YaHei"/>
              </a:rPr>
              <a:t>提交方式：openspec/changes/&lt;your-feature&gt;/ 目录下 + 3 句话说明，发到课程群即可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Calibri"/>
                <a:ea typeface="Microsoft YaHei"/>
              </a:rPr>
              <a:t>收束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学完这课你能做什么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65A82"/>
                </a:solidFill>
                <a:latin typeface="Calibri"/>
                <a:ea typeface="Microsoft YaHei"/>
              </a:rPr>
              <a:t>4 条 Takeaway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103120"/>
            <a:ext cx="54864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85800" y="256032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60320"/>
            <a:ext cx="41148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Bahnschrift"/>
                <a:ea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194560"/>
            <a:ext cx="4572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Calibri"/>
                <a:ea typeface="Microsoft YaHei"/>
              </a:rPr>
              <a:t>用 OpenSpec 5 段管理 feature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97479"/>
            <a:ext cx="457200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不再靠记忆和口头约定，每个 feature 都有
proposal + specs + design + tasks + 代码全套文档。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103120"/>
            <a:ext cx="54864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400800" y="256032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560320"/>
            <a:ext cx="41148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Bahnschrift"/>
                <a:ea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194560"/>
            <a:ext cx="4572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Calibri"/>
                <a:ea typeface="Microsoft YaHei"/>
              </a:rPr>
              <a:t>区分 rules / guidelines / spec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697479"/>
            <a:ext cx="457200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知道什么应该写进 CLAUDE.md（全局底线），
什么放 guidelines（风格），什么放 specs（单次约定）。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54864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85800" y="443484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434840"/>
            <a:ext cx="41148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Bahnschrift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069079"/>
            <a:ext cx="4572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Calibri"/>
                <a:ea typeface="Microsoft YaHei"/>
              </a:rPr>
              <a:t>写出可验证的 specs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572000"/>
            <a:ext cx="457200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specs.md 里的约定可以用测试或 backtest 验证，
不再是「AI 大概应该这样做」的模糊说法。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977639"/>
            <a:ext cx="54864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400800" y="443484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434840"/>
            <a:ext cx="41148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Bahnschrift"/>
                <a:ea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069079"/>
            <a:ext cx="4572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Calibri"/>
                <a:ea typeface="Microsoft YaHei"/>
              </a:rPr>
              <a:t>防 lookahead 双层约定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572000"/>
            <a:ext cx="457200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策略层 shift(1).rolling + backtest 层 pos.shift(1)，
两层防御让回测数字可信，可直接用于复盘。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943600"/>
            <a:ext cx="11430000" cy="384048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5971032"/>
            <a:ext cx="10972800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1C7293"/>
                </a:solidFill>
                <a:latin typeface="Calibri"/>
                <a:ea typeface="Microsoft YaHei"/>
              </a:rPr>
              <a:t>下节课（Lesson 6）：spec 说「做什么」，harness 说「如何持续验证」——CI + 回归 + 测试驱动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Calibri"/>
                <a:ea typeface="Microsoft YaHei"/>
              </a:rPr>
              <a:t>收束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预告 . Lesson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65A82"/>
                </a:solidFill>
                <a:latin typeface="Calibri"/>
                <a:ea typeface="Microsoft YaHei"/>
              </a:rPr>
              <a:t>spec = What  ;  harness = How to keep going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011680"/>
            <a:ext cx="11430000" cy="18288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0B04A"/>
                </a:solidFill>
                <a:latin typeface="Calibri"/>
                <a:ea typeface="Microsoft YaHei"/>
              </a:rPr>
              <a:t>Lesson 6 核心主题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10972800" cy="12344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</a:rPr>
              <a:t>OpenSpec 解决了「做什么、做到什么程度」；但每次新 commit 进来，
怎么保证之前的 spec 还成立？答案是 harness（测试驱动回归）：
用测试把 specs 里的约定固化成可执行检查，CI 自动回归。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39"/>
            <a:ext cx="5303520" cy="2194560"/>
          </a:xfrm>
          <a:prstGeom prst="roundRect">
            <a:avLst>
              <a:gd name="adj" fmla="val 6000"/>
            </a:avLst>
          </a:prstGeom>
          <a:solidFill>
            <a:srgbClr val="E2E8EE"/>
          </a:solidFill>
          <a:ln w="9525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Calibri"/>
                <a:ea typeface="Microsoft YaHei"/>
              </a:rPr>
              <a:t>Spec（Lesson 5，你已学会）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4462272"/>
            <a:ext cx="4937760" cy="0"/>
          </a:xfrm>
          <a:prstGeom prst="line">
            <a:avLst/>
          </a:prstGeom>
          <a:ln w="7620">
            <a:solidFill>
              <a:srgbClr val="CB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4553712"/>
            <a:ext cx="49377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.  spec 定义：接口约定 + 边界条件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56048"/>
            <a:ext cx="49377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.  spec 存在：markdown（人可读）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58384"/>
            <a:ext cx="49377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.  spec 验证：人工 review + backtest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49377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.  spec 时效：每次 feature 写一次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846320"/>
            <a:ext cx="54864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1C7293"/>
                </a:solidFill>
                <a:latin typeface="Bahnschrift"/>
                <a:ea typeface="Microsoft YaHei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977639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 w="9525">
            <a:solidFill>
              <a:srgbClr val="E0B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766560" y="406908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0B04A"/>
                </a:solidFill>
                <a:latin typeface="Calibri"/>
                <a:ea typeface="Microsoft YaHei"/>
              </a:rPr>
              <a:t>Harness（Lesson 6，下节课）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66560" y="4462272"/>
            <a:ext cx="5029200" cy="0"/>
          </a:xfrm>
          <a:prstGeom prst="line">
            <a:avLst/>
          </a:prstGeom>
          <a:ln w="7620">
            <a:solidFill>
              <a:srgbClr val="55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66560" y="4553712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2E8EE"/>
                </a:solidFill>
                <a:latin typeface="Calibri"/>
                <a:ea typeface="Microsoft YaHei"/>
              </a:rPr>
              <a:t>.  harness 定义：可执行的 spec 映射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956048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2E8EE"/>
                </a:solidFill>
                <a:latin typeface="Calibri"/>
                <a:ea typeface="Microsoft YaHei"/>
              </a:rPr>
              <a:t>.  harness 存在：pytest / CI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358384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2E8EE"/>
                </a:solidFill>
                <a:latin typeface="Calibri"/>
                <a:ea typeface="Microsoft YaHei"/>
              </a:rPr>
              <a:t>.  harness 验证：自动化，每次 commit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576072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2E8EE"/>
                </a:solidFill>
                <a:latin typeface="Calibri"/>
                <a:ea typeface="Microsoft YaHei"/>
              </a:rPr>
              <a:t>.  harness 时效：持续守护，一直运行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E9E"/>
                </a:solidFill>
                <a:latin typeface="Calibri"/>
                <a:ea typeface="Microsoft YaHei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1828800"/>
            <a:ext cx="146304" cy="32004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966960" y="1965960"/>
            <a:ext cx="146304" cy="29260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32720" y="2103120"/>
            <a:ext cx="146304" cy="2651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0698480" y="2240280"/>
            <a:ext cx="146304" cy="23774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1064240" y="2377440"/>
            <a:ext cx="146304" cy="21031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1430000" y="2514600"/>
            <a:ext cx="146304" cy="18288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36576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0B04A"/>
                </a:solidFill>
                <a:latin typeface="Calibri"/>
                <a:ea typeface="Microsoft YaHei"/>
              </a:rPr>
              <a:t>Have fun  .  延伸阅读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1920240"/>
            <a:ext cx="3749040" cy="0"/>
          </a:xfrm>
          <a:prstGeom prst="line">
            <a:avLst/>
          </a:prstGeom>
          <a:ln w="19050">
            <a:solidFill>
              <a:srgbClr val="E0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286000"/>
            <a:ext cx="86868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E2E8EE"/>
                </a:solidFill>
                <a:latin typeface="Calibri"/>
                <a:ea typeface="Microsoft YaHei"/>
              </a:rPr>
              <a:t>Spec 先行——让 AI 造轮子之前先签合同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17520"/>
            <a:ext cx="8595360" cy="676656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 w="95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5840" y="3054096"/>
            <a:ext cx="38404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OpenSpec 规范（本课使用）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91839"/>
            <a:ext cx="813816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  <a:ea typeface="Consolas"/>
              </a:rPr>
              <a:t>github.com/anthropics/openspec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74720"/>
            <a:ext cx="813816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E2E8EE"/>
                </a:solidFill>
                <a:latin typeface="Calibri"/>
                <a:ea typeface="Microsoft YaHei"/>
              </a:rPr>
              <a:t>OpenSpec 官方仓库，含 5 段模板和示例 feature，本课 openspec/ 目录即照此搭建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776472"/>
            <a:ext cx="8595360" cy="676656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 w="95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05840" y="3813048"/>
            <a:ext cx="38404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课堂 change：add-dual-ma-strategy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50791"/>
            <a:ext cx="813816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  <a:ea typeface="Consolas"/>
              </a:rPr>
              <a:t>lesson5/project/openspec/changes/add-dual-ma-strategy/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33672"/>
            <a:ext cx="813816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E2E8EE"/>
                </a:solidFill>
                <a:latin typeface="Calibri"/>
                <a:ea typeface="Microsoft YaHei"/>
              </a:rPr>
              <a:t>本节课走完的完整 5 段文件：proposal / specs / design / tasks / dual_ma.py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35424"/>
            <a:ext cx="8595360" cy="676656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 w="95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05840" y="4572000"/>
            <a:ext cx="38404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SDD 博客：Spec-Driven 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09744"/>
            <a:ext cx="813816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  <a:ea typeface="Consolas"/>
              </a:rPr>
              <a:t>martinfowler.com/articles/spec-driven-dev.html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92624"/>
            <a:ext cx="813816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E2E8EE"/>
                </a:solidFill>
                <a:latin typeface="Calibri"/>
                <a:ea typeface="Microsoft YaHei"/>
              </a:rPr>
              <a:t>Martin Fowler 论 Spec 先行的工程价值，与 TDD 的异同，经典必读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294376"/>
            <a:ext cx="8595360" cy="676656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 w="95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05840" y="5330952"/>
            <a:ext cx="38404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  <a:ea typeface="Microsoft YaHei"/>
              </a:rPr>
              <a:t>Cursor Rules 文档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568696"/>
            <a:ext cx="813816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  <a:ea typeface="Consolas"/>
              </a:rPr>
              <a:t>docs.cursor.com/context/rules-for-ai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751576"/>
            <a:ext cx="813816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E2E8EE"/>
                </a:solidFill>
                <a:latin typeface="Calibri"/>
                <a:ea typeface="Microsoft YaHei"/>
              </a:rPr>
              <a:t>rules / guidelines 在 Cursor 里的配置方式，对应本课三层体系中的前两层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2E8EE"/>
                </a:solidFill>
                <a:latin typeface="Calibri"/>
                <a:ea typeface="Microsoft YaHei"/>
              </a:rPr>
              <a:t>Lesson 05  .  规则体系与 Spec 驱动开发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